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59" r:id="rId7"/>
    <p:sldId id="261" r:id="rId8"/>
    <p:sldId id="262" r:id="rId9"/>
    <p:sldId id="275" r:id="rId10"/>
    <p:sldId id="263" r:id="rId11"/>
    <p:sldId id="274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59"/>
    <p:restoredTop sz="94801"/>
  </p:normalViewPr>
  <p:slideViewPr>
    <p:cSldViewPr snapToGrid="0" showGuides="1">
      <p:cViewPr varScale="1">
        <p:scale>
          <a:sx n="108" d="100"/>
          <a:sy n="108" d="100"/>
        </p:scale>
        <p:origin x="200" y="6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A5451-2AE4-00B5-0006-49AC6321B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843079-1288-0533-6969-7E6EFBE56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2D151F-7402-F755-1F86-DF2AAF23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87537B-2E51-563D-88F8-B0FCC1A1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605EDA-5A47-6B41-2228-90949641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63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A5001C-CD95-8C64-0C1C-92B13D1D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509923-E1E0-9B3A-9388-9DF55A34D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8C468A-C687-4C7E-E649-FD84B01A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45002F-7FB0-2666-001C-98F18A8C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B8FA88-6358-1CEB-E9EF-3AE8CE99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62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5BFC3-EF00-F2CF-247C-932B69F2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88911D-D983-E161-C55A-ED8CCCF8E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BADAE9-DF75-CFA2-6602-70CC3091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331ECB-96DF-BF3F-D4F9-4600AAA7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17A413-4082-99FD-8CBA-44E5AE6A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68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2253E0-B792-E587-8D2D-BE6253D9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26009A-C809-FEA2-5C25-12D4904E3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149899-5DAA-9CF1-890B-58D214C30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6CADAB-D58E-7FBB-46B5-B6D0859C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8BEE4F-CB73-49EF-24B2-85AFCAB3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70FAA1-8B48-4661-321E-07BFFFD1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78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39B26E-8993-FB3D-FCD1-5C086554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5B5B69-D722-8D9C-82F6-4DCFB7DF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349D0C-C301-6E85-D241-010111F49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BB17DCD-2B92-A0BC-0D8F-F4F5B7F9A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96244A-8A35-3729-F282-11F308F11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BEF32B-08D5-5178-2DBE-4277DF74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37FE58-8D7F-983E-CE70-0BF0A02B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5695509-246A-1F94-2ED1-542C4FB8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26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D11C8C-6B06-2A44-2615-8843210F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9619AD-A8BB-7E8E-B8F5-65C9C009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5B60DA-86D3-4734-1E3B-FD914893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B068A9-5317-E462-B079-40180DBC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2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1B3062-FE16-80CE-8FD1-4F1E2694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3152D9-9519-06A2-8B03-06E3D03C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65F7A4-DD5C-75DB-600C-1B8F01E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71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B96-824F-3902-B4A7-58501502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D8FC7F-0B02-170D-19EC-0023AA3A5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D391AF-2675-E540-4346-6CD1224F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4BDBE4-0B3E-DE59-48D1-1F70FF45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F66938-AB17-3DBF-F36C-3557C61F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ADE49F-2992-A19E-CFCB-7806E372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0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581AA-97FA-4942-DC62-E8488E99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A5404B-663D-B156-19A6-544817E76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3122D4-731E-5865-DC4E-DDEAF341E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C682BE-B6E1-DA71-CCB2-536961B2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B2125A-080C-59C5-AF00-06A83CC0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15E578-DB8D-9817-E22D-5D401733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70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BBA8DA-DC71-5DE7-9F1C-613E610D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C6672B-4F02-426D-84B8-1D827A8C7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67AC4C-0461-2E81-250B-0697727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E981C-D479-F71C-798E-94D385B4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468B7-165C-3D50-3327-9340EE88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52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CC628A-790F-D181-DF79-23F58FD2E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F1DE8D-ED84-A304-A568-52BF1611A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B76E57-3CA1-8B6E-E6E7-62407141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825DB8-ED40-D9A5-6124-041DA285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A3274D-7F03-BDD5-6E3B-18D0E341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46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C919BF-25EA-CD78-BE49-E5CAB8768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0B6098-17F1-2D4A-6910-0B1098D48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6E1A07-46DF-8808-2C82-9EDC91565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F4D61-2834-5446-B4D5-4011A20EA5BA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032624-4639-E1F8-0914-8F0B1D976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D75B29-658C-2C09-649C-D9BB2B41B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D2AEB-6E30-394D-AFBF-20DBD57EE1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60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mentor.io/r-programming/break-next" TargetMode="External"/><Relationship Id="rId2" Type="http://schemas.openxmlformats.org/officeDocument/2006/relationships/hyperlink" Target="https://rstudio-education.github.io/hopr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fishres.2019.01.007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A84EDC-DC85-5664-8945-C713198CB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GB" sz="6600"/>
              <a:t>Programming basics &amp; case study topics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BC40E2-1A71-D4D3-3922-4C8624835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i-MARSYS-05 – 24.06.2026</a:t>
            </a:r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F8055EE-B293-D2F2-9B40-D02C86FA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248"/>
            <a:ext cx="4087368" cy="4087368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1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0C040-943B-1AD2-F289-6CB1EF804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programming?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51264A-A481-55F1-74AC-E9D8D3A4A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Automated workflows</a:t>
            </a:r>
          </a:p>
          <a:p>
            <a:r>
              <a:rPr lang="en-GB" dirty="0"/>
              <a:t>Improved readability </a:t>
            </a:r>
            <a:r>
              <a:rPr lang="en-GB" dirty="0">
                <a:sym typeface="Wingdings" pitchFamily="2" charset="2"/>
              </a:rPr>
              <a:t> less code  less places to update</a:t>
            </a:r>
            <a:endParaRPr lang="en-GB" dirty="0"/>
          </a:p>
          <a:p>
            <a:r>
              <a:rPr lang="en-GB" dirty="0"/>
              <a:t>Easier to transfer</a:t>
            </a:r>
          </a:p>
          <a:p>
            <a:r>
              <a:rPr lang="en-GB" dirty="0"/>
              <a:t>Less copy-paste errors</a:t>
            </a:r>
          </a:p>
          <a:p>
            <a:endParaRPr lang="en-GB" dirty="0"/>
          </a:p>
          <a:p>
            <a:r>
              <a:rPr lang="en-GB" dirty="0"/>
              <a:t>Example: Repeat the same steps of analysis for several fish species. How do you do it?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463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8A6B4-2E35-ED3E-366B-E7EA8497F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A614BF-EFFE-0E8F-C6DB-D40EC5CF9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r>
              <a:rPr lang="en-GB" dirty="0"/>
              <a:t>Same code more than 3 times </a:t>
            </a:r>
            <a:r>
              <a:rPr lang="en-GB" dirty="0">
                <a:sym typeface="Wingdings" pitchFamily="2" charset="2"/>
              </a:rPr>
              <a:t> write a function</a:t>
            </a:r>
          </a:p>
          <a:p>
            <a:endParaRPr lang="en-GB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Name &lt;- function(arguments) {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	body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endParaRPr lang="en-GB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R automatically gives back the value of the last expression</a:t>
            </a:r>
          </a:p>
          <a:p>
            <a:r>
              <a:rPr lang="en-GB" dirty="0">
                <a:sym typeface="Wingdings" pitchFamily="2" charset="2"/>
              </a:rPr>
              <a:t>Use meaningful names for the name and the arguments (!) Future you and others will be thankful</a:t>
            </a:r>
          </a:p>
          <a:p>
            <a:r>
              <a:rPr lang="en-GB" dirty="0">
                <a:sym typeface="Wingdings" pitchFamily="2" charset="2"/>
              </a:rPr>
              <a:t>New functions appear in your environment</a:t>
            </a:r>
          </a:p>
          <a:p>
            <a:endParaRPr lang="en-GB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4035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46235-69F0-2BBC-A6E2-9D8B835E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 II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D4D85D-DBCE-4BC0-3226-BB57DC776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Name &lt;- function(arguments) {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temporary_calc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	return()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}</a:t>
            </a:r>
          </a:p>
          <a:p>
            <a:endParaRPr lang="en-GB" dirty="0">
              <a:cs typeface="Courier New" panose="02070309020205020404" pitchFamily="49" charset="0"/>
              <a:sym typeface="Wingdings" pitchFamily="2" charset="2"/>
            </a:endParaRPr>
          </a:p>
          <a:p>
            <a:r>
              <a:rPr lang="en-GB" dirty="0">
                <a:cs typeface="Courier New" panose="02070309020205020404" pitchFamily="49" charset="0"/>
                <a:sym typeface="Wingdings" pitchFamily="2" charset="2"/>
              </a:rPr>
              <a:t>Use return</a:t>
            </a:r>
          </a:p>
          <a:p>
            <a:pPr lvl="1"/>
            <a:r>
              <a:rPr lang="en-GB" dirty="0">
                <a:cs typeface="Courier New" panose="02070309020205020404" pitchFamily="49" charset="0"/>
                <a:sym typeface="Wingdings" pitchFamily="2" charset="2"/>
              </a:rPr>
              <a:t>When last call is not the desired output</a:t>
            </a:r>
          </a:p>
          <a:p>
            <a:pPr lvl="1"/>
            <a:r>
              <a:rPr lang="en-GB" dirty="0">
                <a:cs typeface="Courier New" panose="02070309020205020404" pitchFamily="49" charset="0"/>
                <a:sym typeface="Wingdings" pitchFamily="2" charset="2"/>
              </a:rPr>
              <a:t>When the output is composed of several objects  connect e.g. in a list, this improves </a:t>
            </a:r>
            <a:r>
              <a:rPr lang="en-GB" dirty="0" err="1">
                <a:cs typeface="Courier New" panose="02070309020205020404" pitchFamily="49" charset="0"/>
                <a:sym typeface="Wingdings" pitchFamily="2" charset="2"/>
              </a:rPr>
              <a:t>readibility</a:t>
            </a:r>
            <a:endParaRPr lang="en-GB" dirty="0">
              <a:cs typeface="Courier New" panose="02070309020205020404" pitchFamily="49" charset="0"/>
              <a:sym typeface="Wingdings" pitchFamily="2" charset="2"/>
            </a:endParaRPr>
          </a:p>
          <a:p>
            <a:pPr lvl="1"/>
            <a:r>
              <a:rPr lang="en-GB" dirty="0">
                <a:cs typeface="Courier New" panose="02070309020205020404" pitchFamily="49" charset="0"/>
                <a:sym typeface="Wingdings" pitchFamily="2" charset="2"/>
              </a:rPr>
              <a:t>You want to have an early exit (example on slide 5)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737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45CC8E-9FD2-F0D9-DB0C-046F5FD2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If-Else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EC22FE-944B-A2EA-E382-E3826EB24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Similar to </a:t>
            </a:r>
            <a:r>
              <a:rPr lang="en-GB" dirty="0" err="1"/>
              <a:t>case_when</a:t>
            </a:r>
            <a:r>
              <a:rPr lang="en-GB" dirty="0"/>
              <a:t> from the </a:t>
            </a:r>
            <a:r>
              <a:rPr lang="en-GB" dirty="0" err="1"/>
              <a:t>tidyverse</a:t>
            </a:r>
            <a:endParaRPr lang="en-GB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If(this is TRUE){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then do that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If needs a logical question </a:t>
            </a:r>
            <a:r>
              <a:rPr lang="en-GB" dirty="0">
                <a:cs typeface="Courier New" panose="02070309020205020404" pitchFamily="49" charset="0"/>
                <a:sym typeface="Wingdings" pitchFamily="2" charset="2"/>
              </a:rPr>
              <a:t> answer is TRUE or FALSE</a:t>
            </a:r>
          </a:p>
          <a:p>
            <a:r>
              <a:rPr lang="en-GB" dirty="0">
                <a:cs typeface="Courier New" panose="02070309020205020404" pitchFamily="49" charset="0"/>
                <a:sym typeface="Wingdings" pitchFamily="2" charset="2"/>
              </a:rPr>
              <a:t>You can connect multiple if – else statements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143FC18-7F3E-B481-2253-BBAD99742288}"/>
              </a:ext>
            </a:extLst>
          </p:cNvPr>
          <p:cNvSpPr txBox="1"/>
          <p:nvPr/>
        </p:nvSpPr>
        <p:spPr>
          <a:xfrm>
            <a:off x="6191795" y="2305615"/>
            <a:ext cx="56083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If(this is TRUE){</a:t>
            </a:r>
          </a:p>
          <a:p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then do that</a:t>
            </a:r>
          </a:p>
          <a:p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}else{</a:t>
            </a:r>
          </a:p>
          <a:p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do something else</a:t>
            </a:r>
          </a:p>
          <a:p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502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267E64-7AEF-478C-FA2C-6A860AAF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77C393-682E-B111-3759-F6B0C188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– loops tell R to repeat an action for every element of input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for(value in that){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do this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dirty="0">
                <a:cs typeface="Courier New" panose="02070309020205020404" pitchFamily="49" charset="0"/>
              </a:rPr>
              <a:t>Whatever happens in the loop stays in the loop unless you save it</a:t>
            </a:r>
          </a:p>
          <a:p>
            <a:r>
              <a:rPr lang="en-GB" dirty="0">
                <a:cs typeface="Courier New" panose="02070309020205020404" pitchFamily="49" charset="0"/>
              </a:rPr>
              <a:t>Choose the names again carefully to avoid overwriting stuff, that is already in your environment</a:t>
            </a:r>
          </a:p>
        </p:txBody>
      </p:sp>
    </p:spTree>
    <p:extLst>
      <p:ext uri="{BB962C8B-B14F-4D97-AF65-F5344CB8AC3E}">
        <p14:creationId xmlns:p14="http://schemas.microsoft.com/office/powerpoint/2010/main" val="33307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AD409E-8531-CB28-B49B-D4BC68E7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useful things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80E527-B327-D7F4-E42B-1C6D78AA0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Print messages to get progress or else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print(“Hello world”)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print(paste(“Hello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-MARSYS cohort”, 2025) </a:t>
            </a:r>
            <a:r>
              <a:rPr lang="en-GB" dirty="0">
                <a:cs typeface="Courier New" panose="02070309020205020404" pitchFamily="49" charset="0"/>
              </a:rPr>
              <a:t>this pastes together several elements and prints them to the console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while() </a:t>
            </a:r>
            <a:r>
              <a:rPr lang="en-GB" dirty="0">
                <a:cs typeface="Courier New" panose="02070309020205020404" pitchFamily="49" charset="0"/>
              </a:rPr>
              <a:t>creates a loop so long as a certain condition is TRUE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GB" dirty="0">
                <a:cs typeface="Courier New" panose="02070309020205020404" pitchFamily="49" charset="0"/>
              </a:rPr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next </a:t>
            </a:r>
            <a:r>
              <a:rPr lang="en-GB" dirty="0">
                <a:cs typeface="Courier New" panose="02070309020205020404" pitchFamily="49" charset="0"/>
              </a:rPr>
              <a:t>are control flow statements used in loops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 </a:t>
            </a:r>
            <a:r>
              <a:rPr lang="en-GB" dirty="0">
                <a:cs typeface="Courier New" panose="02070309020205020404" pitchFamily="49" charset="0"/>
              </a:rPr>
              <a:t>exits the loop, when a test results in TRUE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next </a:t>
            </a:r>
            <a:r>
              <a:rPr lang="en-GB" dirty="0">
                <a:cs typeface="Courier New" panose="02070309020205020404" pitchFamily="49" charset="0"/>
              </a:rPr>
              <a:t>skips the current iteration step and moves directly to the next one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5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92FBF-4172-783A-C06E-AA920B12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functions and loops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5AB3CE-D220-D6C4-1FF8-4618025BF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5B9FCE-B7B4-177D-FACB-1C36F483F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7"/>
          <a:stretch>
            <a:fillRect/>
          </a:stretch>
        </p:blipFill>
        <p:spPr>
          <a:xfrm>
            <a:off x="3227006" y="1517353"/>
            <a:ext cx="4944721" cy="518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3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87451-4ADB-FCEF-7E6E-77D32153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functions and loops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F35F3-94A7-DE00-3E6D-2E5DE326D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Inspect the error messages, if you do not understand them google them or ask AI</a:t>
            </a:r>
          </a:p>
          <a:p>
            <a:r>
              <a:rPr lang="en-GB" dirty="0"/>
              <a:t>Use traceback to inspect which function evoked the error</a:t>
            </a:r>
          </a:p>
          <a:p>
            <a:r>
              <a:rPr lang="en-GB" dirty="0"/>
              <a:t>Use print in loops to see at which element the error occurred </a:t>
            </a:r>
            <a:r>
              <a:rPr lang="en-GB" dirty="0">
                <a:sym typeface="Wingdings" pitchFamily="2" charset="2"/>
              </a:rPr>
              <a:t> inspect this element manually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74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DDA8C-4FD1-8891-F12B-5818C5F5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990998-830B-BCC6-0D20-A90D8C85E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Hands on programming with R: </a:t>
            </a:r>
            <a:r>
              <a:rPr lang="en-GB" dirty="0">
                <a:hlinkClick r:id="rId2"/>
              </a:rPr>
              <a:t>https://rstudio-education.github.io/hopr/</a:t>
            </a:r>
            <a:endParaRPr lang="en-GB" dirty="0"/>
          </a:p>
          <a:p>
            <a:pPr lvl="1"/>
            <a:r>
              <a:rPr lang="en-GB" dirty="0"/>
              <a:t>Chapter 2 for functions</a:t>
            </a:r>
          </a:p>
          <a:p>
            <a:pPr lvl="1"/>
            <a:r>
              <a:rPr lang="en-GB" dirty="0"/>
              <a:t>Chapter 9 for if and else</a:t>
            </a:r>
          </a:p>
          <a:p>
            <a:pPr lvl="1"/>
            <a:r>
              <a:rPr lang="en-GB" dirty="0"/>
              <a:t>Chapter 11 for Loops</a:t>
            </a:r>
          </a:p>
          <a:p>
            <a:pPr lvl="1"/>
            <a:r>
              <a:rPr lang="en-GB" dirty="0"/>
              <a:t>Appendix for Debugging</a:t>
            </a:r>
          </a:p>
          <a:p>
            <a:r>
              <a:rPr lang="en-GB" dirty="0">
                <a:hlinkClick r:id="rId3"/>
              </a:rPr>
              <a:t>https://www.datamentor.io/r-programming/break-next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954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EFD727-851B-9C9A-A7F6-AB1B7B3F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dirty="0"/>
              <a:t>Break: 15 minutes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92FE26-3686-C165-A85C-9DDD3B921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Exercises are in the script</a:t>
            </a:r>
          </a:p>
          <a:p>
            <a:r>
              <a:rPr lang="en-US" sz="2200" dirty="0"/>
              <a:t>Half an hour</a:t>
            </a:r>
          </a:p>
          <a:p>
            <a:r>
              <a:rPr lang="en-US" sz="2200" dirty="0"/>
              <a:t>Solutions will be uploaded to </a:t>
            </a:r>
            <a:r>
              <a:rPr lang="en-US" sz="2200" dirty="0" err="1"/>
              <a:t>Github</a:t>
            </a:r>
            <a:endParaRPr lang="en-US" sz="220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8576ED6-17FD-F28B-ECEC-757AE7A4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918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2FD5CD-E812-0269-B6B3-2FCCDF2C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study topics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307529-13E4-FA8E-350A-9E2A823A5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26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4637416-0622-D602-CB84-E3D01497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causality in fish stock data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F1C7212-7AEB-18B8-7F1D-CE2B08F3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SSB driving catch or catch SSB?</a:t>
            </a:r>
          </a:p>
          <a:p>
            <a:r>
              <a:rPr lang="en-GB" dirty="0"/>
              <a:t>Is recruitment driving SSB or the other way around?</a:t>
            </a:r>
          </a:p>
          <a:p>
            <a:r>
              <a:rPr lang="en-GB" dirty="0"/>
              <a:t>Jan</a:t>
            </a:r>
          </a:p>
          <a:p>
            <a:r>
              <a:rPr lang="en-US" dirty="0">
                <a:hlinkClick r:id="rId2"/>
              </a:rPr>
              <a:t>https://doi.org/10.1016/j.fishres.2019.01.007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769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FFD0DF6-D6BA-5A2E-B7CB-FCD02B48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Spatial distribution of fish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BD6B325-06B2-E27C-F521-47E82297D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Western Baltic Sea fish species</a:t>
            </a:r>
          </a:p>
          <a:p>
            <a:r>
              <a:rPr lang="en-GB" dirty="0"/>
              <a:t>Analyse spatial distribution changes and / or</a:t>
            </a:r>
          </a:p>
          <a:p>
            <a:r>
              <a:rPr lang="en-GB" dirty="0"/>
              <a:t>Influence of environmental variables</a:t>
            </a:r>
          </a:p>
          <a:p>
            <a:r>
              <a:rPr lang="en-GB" dirty="0"/>
              <a:t>Download data from the ICES data base?</a:t>
            </a:r>
          </a:p>
          <a:p>
            <a:r>
              <a:rPr lang="en-GB" dirty="0"/>
              <a:t>Helene</a:t>
            </a:r>
          </a:p>
        </p:txBody>
      </p:sp>
    </p:spTree>
    <p:extLst>
      <p:ext uri="{BB962C8B-B14F-4D97-AF65-F5344CB8AC3E}">
        <p14:creationId xmlns:p14="http://schemas.microsoft.com/office/powerpoint/2010/main" val="2504215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70EA6EA-AFC6-72AA-A8AF-AE909710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Marine heatwaves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54BBADD-1D39-437F-6073-83CF2DAFD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Western Baltic Sea</a:t>
            </a:r>
          </a:p>
          <a:p>
            <a:r>
              <a:rPr lang="en-GB" dirty="0"/>
              <a:t>Time series analysis</a:t>
            </a:r>
          </a:p>
          <a:p>
            <a:r>
              <a:rPr lang="en-GB" dirty="0"/>
              <a:t>Changes in seasonality</a:t>
            </a:r>
          </a:p>
          <a:p>
            <a:r>
              <a:rPr lang="en-GB" dirty="0"/>
              <a:t>Influence on </a:t>
            </a:r>
            <a:r>
              <a:rPr lang="en-GB"/>
              <a:t>fish community</a:t>
            </a:r>
            <a:endParaRPr lang="en-GB" dirty="0"/>
          </a:p>
          <a:p>
            <a:r>
              <a:rPr lang="en-GB" dirty="0"/>
              <a:t>Helene</a:t>
            </a:r>
          </a:p>
        </p:txBody>
      </p:sp>
    </p:spTree>
    <p:extLst>
      <p:ext uri="{BB962C8B-B14F-4D97-AF65-F5344CB8AC3E}">
        <p14:creationId xmlns:p14="http://schemas.microsoft.com/office/powerpoint/2010/main" val="2123426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D5E519E-2737-8DAA-D247-02893263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Plankton Recorder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018BC85-1D2B-AC26-E822-9E11964AC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CPR data from North Sea</a:t>
            </a:r>
          </a:p>
          <a:p>
            <a:r>
              <a:rPr lang="en-GB" dirty="0"/>
              <a:t>Influence of environmental variables</a:t>
            </a:r>
          </a:p>
          <a:p>
            <a:r>
              <a:rPr lang="en-GB" dirty="0"/>
              <a:t>Development over time</a:t>
            </a:r>
          </a:p>
          <a:p>
            <a:r>
              <a:rPr lang="en-GB" dirty="0"/>
              <a:t>Helene</a:t>
            </a:r>
          </a:p>
        </p:txBody>
      </p:sp>
    </p:spTree>
    <p:extLst>
      <p:ext uri="{BB962C8B-B14F-4D97-AF65-F5344CB8AC3E}">
        <p14:creationId xmlns:p14="http://schemas.microsoft.com/office/powerpoint/2010/main" val="3045604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06E1D5E-79C3-02B7-ADA3-5CBFC7EF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Continuation of OBIS case study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27A534E-3505-D67D-7FCA-5ACDF9F91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Choose topic of one of your group members</a:t>
            </a:r>
          </a:p>
          <a:p>
            <a:r>
              <a:rPr lang="en-GB" dirty="0"/>
              <a:t>Reanalyse and extend the research question using the tools of this semester</a:t>
            </a:r>
          </a:p>
          <a:p>
            <a:r>
              <a:rPr lang="en-GB" dirty="0"/>
              <a:t>Chhaya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633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0D1171-C4BD-A221-D2C8-6428C9FF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</a:t>
            </a:r>
            <a:r>
              <a:rPr lang="en-GB" dirty="0" err="1"/>
              <a:t>infos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C17D88-43DE-8A6B-F5A4-735686A1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4 groups with 4 members</a:t>
            </a:r>
          </a:p>
          <a:p>
            <a:r>
              <a:rPr lang="en-GB" dirty="0"/>
              <a:t>Each topic can only be done by one group</a:t>
            </a:r>
          </a:p>
          <a:p>
            <a:r>
              <a:rPr lang="en-GB" dirty="0"/>
              <a:t>Submit groups and the topics on </a:t>
            </a:r>
            <a:r>
              <a:rPr lang="en-GB" b="1" dirty="0"/>
              <a:t>26.6.2026</a:t>
            </a:r>
          </a:p>
          <a:p>
            <a:r>
              <a:rPr lang="en-GB" dirty="0"/>
              <a:t>Next two course dates work from wherever you are or come to </a:t>
            </a:r>
            <a:r>
              <a:rPr lang="en-GB" dirty="0" err="1"/>
              <a:t>uni</a:t>
            </a:r>
            <a:r>
              <a:rPr lang="en-GB" dirty="0"/>
              <a:t> if you have questions</a:t>
            </a:r>
          </a:p>
          <a:p>
            <a:pPr lvl="1"/>
            <a:r>
              <a:rPr lang="en-GB" dirty="0"/>
              <a:t>Send a brief update with your progress each week</a:t>
            </a:r>
          </a:p>
          <a:p>
            <a:r>
              <a:rPr lang="en-GB" dirty="0"/>
              <a:t>Collaborate in your group via Teams, R-Server or </a:t>
            </a:r>
            <a:r>
              <a:rPr lang="en-GB" dirty="0" err="1"/>
              <a:t>Github</a:t>
            </a:r>
            <a:endParaRPr lang="en-GB" dirty="0"/>
          </a:p>
          <a:p>
            <a:r>
              <a:rPr lang="en-GB" dirty="0"/>
              <a:t>Submit your code by </a:t>
            </a:r>
            <a:r>
              <a:rPr lang="en-GB" b="1" dirty="0"/>
              <a:t>12.7.2026 23:59</a:t>
            </a:r>
          </a:p>
          <a:p>
            <a:r>
              <a:rPr lang="en-GB" dirty="0"/>
              <a:t>Presentation are on the </a:t>
            </a:r>
            <a:r>
              <a:rPr lang="en-GB" b="1" dirty="0"/>
              <a:t>15.7.2026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711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DEEE31-CE59-5226-BB25-100CDE45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FEE788-EE7B-AF39-ADF4-74E183105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0059" cy="525649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Each group member has to present ~5 minutes, all together ~20 min</a:t>
            </a:r>
          </a:p>
          <a:p>
            <a:r>
              <a:rPr lang="en-GB" dirty="0"/>
              <a:t>Presentations are 20 % of your grade</a:t>
            </a:r>
          </a:p>
          <a:p>
            <a:r>
              <a:rPr lang="en-GB" dirty="0"/>
              <a:t>Potential contents</a:t>
            </a:r>
          </a:p>
          <a:p>
            <a:pPr lvl="1" fontAlgn="base"/>
            <a:r>
              <a:rPr lang="en-US" dirty="0"/>
              <a:t>What case study did you choose?</a:t>
            </a:r>
            <a:r>
              <a:rPr lang="de-DE" dirty="0"/>
              <a:t> </a:t>
            </a:r>
          </a:p>
          <a:p>
            <a:pPr lvl="1" fontAlgn="base"/>
            <a:r>
              <a:rPr lang="en-US" dirty="0"/>
              <a:t>How did your collaboration go? How did you share code, ideas? Set up of the project? Did you assign roles? Did you use a time plan? What are your experiences / learnings?</a:t>
            </a:r>
            <a:r>
              <a:rPr lang="de-DE" dirty="0"/>
              <a:t> </a:t>
            </a:r>
          </a:p>
          <a:p>
            <a:pPr lvl="1" fontAlgn="base"/>
            <a:r>
              <a:rPr lang="en-US" dirty="0"/>
              <a:t>Presentation of the data, preliminary exploration + visualization (knowledge of the variables...)</a:t>
            </a:r>
            <a:r>
              <a:rPr lang="de-DE" dirty="0"/>
              <a:t> </a:t>
            </a:r>
          </a:p>
          <a:p>
            <a:pPr lvl="1" fontAlgn="base"/>
            <a:r>
              <a:rPr lang="en-US" dirty="0"/>
              <a:t>Which analysis did you apply and why?</a:t>
            </a:r>
            <a:r>
              <a:rPr lang="de-DE" dirty="0"/>
              <a:t> </a:t>
            </a:r>
          </a:p>
          <a:p>
            <a:pPr lvl="1" fontAlgn="base"/>
            <a:r>
              <a:rPr lang="en-US" dirty="0"/>
              <a:t>What are the results? How did you decide on your graphics?</a:t>
            </a:r>
            <a:r>
              <a:rPr lang="de-DE" dirty="0"/>
              <a:t> </a:t>
            </a:r>
          </a:p>
          <a:p>
            <a:pPr lvl="1" fontAlgn="base"/>
            <a:r>
              <a:rPr lang="de-DE" dirty="0"/>
              <a:t>How do </a:t>
            </a:r>
            <a:r>
              <a:rPr lang="de-DE" dirty="0" err="1"/>
              <a:t>you</a:t>
            </a:r>
            <a:r>
              <a:rPr lang="de-DE" dirty="0"/>
              <a:t> </a:t>
            </a:r>
            <a:r>
              <a:rPr lang="de-DE" dirty="0" err="1"/>
              <a:t>ensure</a:t>
            </a:r>
            <a:r>
              <a:rPr lang="de-DE" dirty="0"/>
              <a:t> </a:t>
            </a:r>
            <a:r>
              <a:rPr lang="de-DE" dirty="0" err="1"/>
              <a:t>robustness</a:t>
            </a:r>
            <a:r>
              <a:rPr lang="de-DE" dirty="0"/>
              <a:t> </a:t>
            </a:r>
            <a:r>
              <a:rPr lang="de-DE" dirty="0" err="1"/>
              <a:t>of</a:t>
            </a:r>
            <a:r>
              <a:rPr lang="de-DE" dirty="0"/>
              <a:t> </a:t>
            </a:r>
            <a:r>
              <a:rPr lang="de-DE" dirty="0" err="1"/>
              <a:t>your</a:t>
            </a:r>
            <a:r>
              <a:rPr lang="de-DE" dirty="0"/>
              <a:t> </a:t>
            </a:r>
            <a:r>
              <a:rPr lang="de-DE" dirty="0" err="1"/>
              <a:t>findings</a:t>
            </a:r>
            <a:r>
              <a:rPr lang="de-DE" dirty="0"/>
              <a:t>? </a:t>
            </a:r>
          </a:p>
          <a:p>
            <a:pPr lvl="1" fontAlgn="base"/>
            <a:r>
              <a:rPr lang="en-US" dirty="0"/>
              <a:t>Interpretation of the results</a:t>
            </a:r>
            <a:r>
              <a:rPr lang="de-DE" dirty="0"/>
              <a:t> </a:t>
            </a:r>
          </a:p>
          <a:p>
            <a:pPr lvl="1" fontAlgn="base"/>
            <a:r>
              <a:rPr lang="en-US" dirty="0"/>
              <a:t>Outlook</a:t>
            </a:r>
            <a:endParaRPr lang="de-D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415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F46D7-E157-C156-E2A7-69E62BB1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FD10B-CA88-2C35-9396-093ABEC43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22.7.2026 9am</a:t>
            </a:r>
          </a:p>
          <a:p>
            <a:r>
              <a:rPr lang="en-GB" dirty="0"/>
              <a:t>Pen &amp; Paper</a:t>
            </a:r>
          </a:p>
          <a:p>
            <a:r>
              <a:rPr lang="en-GB" dirty="0"/>
              <a:t>Multiple choice and free text questions</a:t>
            </a:r>
          </a:p>
          <a:p>
            <a:r>
              <a:rPr lang="en-GB" dirty="0"/>
              <a:t>Mix of knowledge, interpretation of code, outputs and graphics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64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Macintosh PowerPoint</Application>
  <PresentationFormat>Breitbild</PresentationFormat>
  <Paragraphs>127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Wingdings</vt:lpstr>
      <vt:lpstr>Office</vt:lpstr>
      <vt:lpstr>Programming basics &amp; case study topics</vt:lpstr>
      <vt:lpstr>Why do programming?</vt:lpstr>
      <vt:lpstr>Functions</vt:lpstr>
      <vt:lpstr>Functions II</vt:lpstr>
      <vt:lpstr>If-Else</vt:lpstr>
      <vt:lpstr>Iterations</vt:lpstr>
      <vt:lpstr>Other useful things</vt:lpstr>
      <vt:lpstr>Debugging functions and loops</vt:lpstr>
      <vt:lpstr>Debugging functions and loops</vt:lpstr>
      <vt:lpstr>Further reading</vt:lpstr>
      <vt:lpstr>Break: 15 minutes</vt:lpstr>
      <vt:lpstr>Case study topics</vt:lpstr>
      <vt:lpstr>Reverse causality in fish stock data</vt:lpstr>
      <vt:lpstr>Spatial distribution of fish</vt:lpstr>
      <vt:lpstr>Marine heatwaves</vt:lpstr>
      <vt:lpstr>Continuous Plankton Recorder</vt:lpstr>
      <vt:lpstr>Continuation of OBIS case study</vt:lpstr>
      <vt:lpstr>Technical infos</vt:lpstr>
      <vt:lpstr>Presentation</vt:lpstr>
      <vt:lpstr>Exam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Helene Gutte</dc:creator>
  <cp:lastModifiedBy>Helene Gutte</cp:lastModifiedBy>
  <cp:revision>10</cp:revision>
  <dcterms:created xsi:type="dcterms:W3CDTF">2026-06-19T17:29:13Z</dcterms:created>
  <dcterms:modified xsi:type="dcterms:W3CDTF">2026-06-23T14:00:58Z</dcterms:modified>
</cp:coreProperties>
</file>