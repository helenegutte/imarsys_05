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81" r:id="rId5"/>
    <p:sldId id="282" r:id="rId6"/>
    <p:sldId id="280" r:id="rId7"/>
    <p:sldId id="286" r:id="rId8"/>
    <p:sldId id="259" r:id="rId9"/>
    <p:sldId id="260" r:id="rId10"/>
    <p:sldId id="283" r:id="rId11"/>
    <p:sldId id="261" r:id="rId12"/>
    <p:sldId id="284" r:id="rId13"/>
    <p:sldId id="262" r:id="rId14"/>
    <p:sldId id="263" r:id="rId15"/>
    <p:sldId id="264" r:id="rId16"/>
    <p:sldId id="266" r:id="rId17"/>
    <p:sldId id="270" r:id="rId18"/>
    <p:sldId id="265" r:id="rId19"/>
    <p:sldId id="267" r:id="rId20"/>
    <p:sldId id="268" r:id="rId21"/>
    <p:sldId id="271" r:id="rId22"/>
    <p:sldId id="272" r:id="rId23"/>
    <p:sldId id="275" r:id="rId24"/>
    <p:sldId id="278" r:id="rId25"/>
    <p:sldId id="285" r:id="rId26"/>
    <p:sldId id="287" r:id="rId27"/>
    <p:sldId id="273" r:id="rId28"/>
    <p:sldId id="274" r:id="rId29"/>
    <p:sldId id="279" r:id="rId30"/>
    <p:sldId id="277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4"/>
    <p:restoredTop sz="89886"/>
  </p:normalViewPr>
  <p:slideViewPr>
    <p:cSldViewPr snapToGrid="0" showGuides="1">
      <p:cViewPr>
        <p:scale>
          <a:sx n="98" d="100"/>
          <a:sy n="98" d="100"/>
        </p:scale>
        <p:origin x="624" y="106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CE190-518D-E54A-B5BB-F8B0AE5E451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310C9-B6CD-5A43-A136-6F4A41E07C4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66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310C9-B6CD-5A43-A136-6F4A41E07C4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839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Running mean = moving a box along x and calculating in each box the expected mean value</a:t>
            </a:r>
          </a:p>
          <a:p>
            <a:r>
              <a:rPr lang="en-GB" dirty="0"/>
              <a:t>Running line = apply a linear regression on the values in the box and calculate for each value the expected value based on the </a:t>
            </a:r>
            <a:r>
              <a:rPr lang="en-GB" dirty="0" err="1"/>
              <a:t>lm</a:t>
            </a:r>
            <a:endParaRPr lang="en-GB" dirty="0"/>
          </a:p>
          <a:p>
            <a:r>
              <a:rPr lang="en-GB" dirty="0"/>
              <a:t>LOESS = locally weighted regression smoother, similar to the running line smoother but with weights for how far a value is from the target x value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310C9-B6CD-5A43-A136-6F4A41E07C4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271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310C9-B6CD-5A43-A136-6F4A41E07C4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894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/>
                        <m:t> = </m:t>
                      </m:r>
                      <m:r>
                        <m:rPr>
                          <m:nor/>
                        </m:rPr>
                        <a:rPr lang="en-US" dirty="0"/>
                        <m:t>unknown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regression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parameters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= basis function</a:t>
                </a:r>
              </a:p>
              <a:p>
                <a:r>
                  <a:rPr lang="de-DE" dirty="0"/>
                  <a:t>K = internal </a:t>
                </a:r>
                <a:r>
                  <a:rPr lang="de-DE" dirty="0" err="1"/>
                  <a:t>knots</a:t>
                </a:r>
                <a:r>
                  <a:rPr lang="de-DE" dirty="0"/>
                  <a:t> </a:t>
                </a:r>
              </a:p>
              <a:p>
                <a:r>
                  <a:rPr lang="de-DE" dirty="0" err="1"/>
                  <a:t>k</a:t>
                </a:r>
                <a:r>
                  <a:rPr lang="de-DE" dirty="0"/>
                  <a:t> = </a:t>
                </a:r>
                <a:r>
                  <a:rPr lang="de-DE" dirty="0" err="1"/>
                  <a:t>position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knots</a:t>
                </a:r>
                <a:r>
                  <a:rPr lang="de-DE" dirty="0"/>
                  <a:t>.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de-DE" i="0">
                    <a:latin typeface="Cambria Math" panose="02040503050406030204" pitchFamily="18" charset="0"/>
                  </a:rPr>
                  <a:t>𝑢_𝑗</a:t>
                </a:r>
                <a:r>
                  <a:rPr lang="en-US" i="0" dirty="0">
                    <a:latin typeface="Cambria Math" panose="02040503050406030204" pitchFamily="18" charset="0"/>
                  </a:rPr>
                  <a:t> " = unknown regression parameters</a:t>
                </a:r>
                <a:r>
                  <a:rPr lang="de-DE" b="0" i="0" dirty="0">
                    <a:latin typeface="Cambria Math" panose="02040503050406030204" pitchFamily="18" charset="0"/>
                  </a:rPr>
                  <a:t>" </a:t>
                </a:r>
                <a:endParaRPr lang="de-DE" b="0" i="1" dirty="0">
                  <a:latin typeface="Cambria Math" panose="02040503050406030204" pitchFamily="18" charset="0"/>
                </a:endParaRPr>
              </a:p>
              <a:p>
                <a:r>
                  <a:rPr lang="de-DE" i="0">
                    <a:latin typeface="Cambria Math" panose="02040503050406030204" pitchFamily="18" charset="0"/>
                  </a:rPr>
                  <a:t>𝐵_𝑗</a:t>
                </a:r>
                <a:r>
                  <a:rPr lang="en-US" dirty="0"/>
                  <a:t> = basis function</a:t>
                </a:r>
              </a:p>
              <a:p>
                <a:r>
                  <a:rPr lang="de-DE" dirty="0"/>
                  <a:t>K = internal </a:t>
                </a:r>
                <a:r>
                  <a:rPr lang="de-DE" dirty="0" err="1"/>
                  <a:t>knots</a:t>
                </a:r>
                <a:r>
                  <a:rPr lang="de-DE" dirty="0"/>
                  <a:t> </a:t>
                </a:r>
              </a:p>
              <a:p>
                <a:r>
                  <a:rPr lang="de-DE" dirty="0" err="1"/>
                  <a:t>k</a:t>
                </a:r>
                <a:r>
                  <a:rPr lang="de-DE" dirty="0"/>
                  <a:t> = </a:t>
                </a:r>
                <a:r>
                  <a:rPr lang="de-DE" dirty="0" err="1"/>
                  <a:t>position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knots</a:t>
                </a:r>
                <a:r>
                  <a:rPr lang="de-DE" dirty="0"/>
                  <a:t>.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310C9-B6CD-5A43-A136-6F4A41E07C4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838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310C9-B6CD-5A43-A136-6F4A41E07C4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046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310C9-B6CD-5A43-A136-6F4A41E07C4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59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C2F9CA-2018-E346-56EC-9DA1F1F43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7C798B-3914-FDB7-F44B-419DB41BA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308C36-2481-22C3-938B-FF3ADC6A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A7920D-606A-C712-6A5C-402B2EC23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FE582D-F999-3204-BB0F-415FD191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08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FA482B-22B3-5E6B-3865-3318C127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1251C6-8318-9108-0261-394F0DA57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BE6C81-C1B5-3574-1B58-3694A46B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93B135-A697-6408-B423-8686C1F43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F55EF4-920C-448F-3096-64FBB675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19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1DAF86-1F0D-35C7-A65E-7F8D9AC5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C502C0-E143-BF6A-C14F-EB653135D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190F30-D24A-2D3E-69A9-55D00402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5B6096-8513-0553-3038-4FC3F14A9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5F13CF-1313-81D3-1E36-5AE899A6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C8B40-1C32-68EA-C392-F859B5A2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103390-08DD-EDC2-C1FB-E2470EDBD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639A64-6EA0-4C8A-4717-54D1E75E0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82B2A4-B74B-01A9-C7AB-FB143699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1F6FFC-3CE0-A9F1-8301-CFC38778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E177C5-0F4C-4AD2-A9A3-856C26BD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68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2C22A-B846-D9D5-F641-1B5F591C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A5C9CE-B264-BCCE-CC95-F73C1D57E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491C83-61DA-1333-D167-33AD68934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1782135-8DF2-D007-4EC1-69D503440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7AB0A23-BB56-3DFF-94DA-E6A6902D7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F4B233-D892-8F12-8E5A-A7C47313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EBD3DEB-B71B-2421-BA98-EA1443AB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7867B2-9E37-6831-1D6A-E41F4ADB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59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33257C-9E3F-389E-73D0-104E534B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35BF38-0114-2073-F57F-683C18DB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C46E89-619D-623E-4783-FDD8C6902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37B6A4-D5C6-9D44-0CCB-78817A298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64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577117-EF21-C44F-B8AF-4296FC3D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F3C694-A7AE-33FB-6540-466F5AEA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F4464F-A55D-EC24-5A2F-E6E6E964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28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37AEB1-219B-FFBE-47FB-D319CAB0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85CFB3-091A-A884-6F76-362DF8791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210D2B-44FC-F9DA-32B0-F28D665D2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8C61587-81CA-684B-9106-E4330340E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AAFB46-F3A4-56CB-08AF-5ABB533B6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14F8A4-B2F9-D05B-FCDE-7FDCA78D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618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274E24-8E32-6AD2-AEA5-DAEAC424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07AC18-24C1-5908-B430-91DA4A063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0FC334-4E5A-86C5-8942-11876152D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E2299-AFE1-EAF3-A747-CFCF892E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7A317A-914A-ED3A-2184-D3EABF03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8A6E01-1DC7-D518-6DC4-1AF8FEC2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306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64A58-9E1E-BF44-BB25-2FC109F4B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9CE023-334D-DEAB-B0DC-56E502C84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A03FEB-9EA0-0569-A6DE-83E63204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226AF3-B772-C506-8D6D-77B85F9D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D12CA2-B6E3-78CB-52D7-89107565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3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D03E146-1CC9-8019-CEC8-6DCD9D92A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BCE021-8122-E1DA-2C49-0DF1AC10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C11B24-A96B-57F5-92F6-9FF24769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7ACE97-93F2-CD64-7BFF-B69C50B9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DFB69C-8BDF-301C-BE96-8F806C98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31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BF78E6-BB40-F5FA-A8D8-813CBC97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9F893A-1E98-4332-0B03-0B397693B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F9E1FF-35AC-8987-003C-5602D7BF5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63E09-0E88-F94D-9C99-3694610223D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7A8290-3387-6B1F-C27C-C68A19467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D8B7CD-4EC5-35BB-B528-B3B7C9245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CEF0F-D30E-3844-B942-1B23A40531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79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forbiology.com/2020/stat_nls_usefulfunction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A4971-25E7-8F3F-0274-4C50BD8ACF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Generalized additive models and non-linear regressions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0583E6-0FE4-966B-EDB5-39ACC7EF3D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iMARSYS-05 – 17.06.2026</a:t>
            </a:r>
          </a:p>
          <a:p>
            <a:r>
              <a:rPr lang="en-GB" dirty="0"/>
              <a:t>Helene Gutte</a:t>
            </a:r>
          </a:p>
        </p:txBody>
      </p:sp>
    </p:spTree>
    <p:extLst>
      <p:ext uri="{BB962C8B-B14F-4D97-AF65-F5344CB8AC3E}">
        <p14:creationId xmlns:p14="http://schemas.microsoft.com/office/powerpoint/2010/main" val="2044747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3A124-2443-52C7-F084-ADF91F65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do when data is non-linear?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0361514B-0B71-06B0-AC8C-412791AA2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1838"/>
          <a:stretch>
            <a:fillRect/>
          </a:stretch>
        </p:blipFill>
        <p:spPr>
          <a:xfrm>
            <a:off x="191815" y="1972092"/>
            <a:ext cx="6019746" cy="3803066"/>
          </a:xfrm>
          <a:prstGeom prst="rect">
            <a:avLst/>
          </a:prstGeom>
        </p:spPr>
      </p:pic>
      <p:pic>
        <p:nvPicPr>
          <p:cNvPr id="5" name="Inhaltsplatzhalter 3">
            <a:extLst>
              <a:ext uri="{FF2B5EF4-FFF2-40B4-BE49-F238E27FC236}">
                <a16:creationId xmlns:a16="http://schemas.microsoft.com/office/drawing/2014/main" id="{B731E936-3A13-0717-7DA3-19268E444F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862"/>
          <a:stretch>
            <a:fillRect/>
          </a:stretch>
        </p:blipFill>
        <p:spPr>
          <a:xfrm>
            <a:off x="5763409" y="1726341"/>
            <a:ext cx="5839789" cy="361097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5562B39-5BFB-07EF-BAA9-A1DE2C4080ED}"/>
              </a:ext>
            </a:extLst>
          </p:cNvPr>
          <p:cNvSpPr txBox="1"/>
          <p:nvPr/>
        </p:nvSpPr>
        <p:spPr>
          <a:xfrm>
            <a:off x="1356430" y="1936439"/>
            <a:ext cx="41990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Linear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F1BAA6A-0544-9CDA-4293-F7CB0DE080BF}"/>
              </a:ext>
            </a:extLst>
          </p:cNvPr>
          <p:cNvSpPr txBox="1"/>
          <p:nvPr/>
        </p:nvSpPr>
        <p:spPr>
          <a:xfrm>
            <a:off x="6807869" y="1936439"/>
            <a:ext cx="41990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Non-Linear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1AD9C9-7525-108C-CDF3-9767A6727DB8}"/>
              </a:ext>
            </a:extLst>
          </p:cNvPr>
          <p:cNvSpPr txBox="1"/>
          <p:nvPr/>
        </p:nvSpPr>
        <p:spPr>
          <a:xfrm>
            <a:off x="1174106" y="6606862"/>
            <a:ext cx="11117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https://</a:t>
            </a:r>
            <a:r>
              <a:rPr lang="en-GB" sz="1000" dirty="0" err="1"/>
              <a:t>www.researchgate.net</a:t>
            </a:r>
            <a:r>
              <a:rPr lang="en-GB" sz="1000" dirty="0"/>
              <a:t>/profile/Joshua-Chan-4/publication/336651720/figure/fig1/AS:827026202169345@1574189820497/Results-of-Linear-and-Nonlinear-Generated-Data-</a:t>
            </a:r>
            <a:r>
              <a:rPr lang="en-GB" sz="1000" dirty="0" err="1"/>
              <a:t>Experiments.png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91171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962FE6-C810-50C2-FB6B-192D6F2B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recap of the different approaches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83DA5A-C9C8-AAA3-9197-0E7AE40B7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More explanatory variables</a:t>
            </a:r>
          </a:p>
          <a:p>
            <a:r>
              <a:rPr lang="en-GB" dirty="0"/>
              <a:t>Interaction terms</a:t>
            </a:r>
          </a:p>
          <a:p>
            <a:r>
              <a:rPr lang="en-GB" dirty="0"/>
              <a:t>Transformations</a:t>
            </a:r>
          </a:p>
          <a:p>
            <a:r>
              <a:rPr lang="en-GB" dirty="0"/>
              <a:t>Polynomials</a:t>
            </a:r>
          </a:p>
          <a:p>
            <a:r>
              <a:rPr lang="en-GB" dirty="0"/>
              <a:t>Non-linear regressions</a:t>
            </a:r>
          </a:p>
          <a:p>
            <a:r>
              <a:rPr lang="en-GB" dirty="0"/>
              <a:t>Generalized additive models</a:t>
            </a:r>
          </a:p>
        </p:txBody>
      </p:sp>
      <p:sp>
        <p:nvSpPr>
          <p:cNvPr id="4" name="Geschweifte Klammer rechts 3">
            <a:extLst>
              <a:ext uri="{FF2B5EF4-FFF2-40B4-BE49-F238E27FC236}">
                <a16:creationId xmlns:a16="http://schemas.microsoft.com/office/drawing/2014/main" id="{08EFED85-3D92-A001-38DE-AADB52A420B3}"/>
              </a:ext>
            </a:extLst>
          </p:cNvPr>
          <p:cNvSpPr/>
          <p:nvPr/>
        </p:nvSpPr>
        <p:spPr>
          <a:xfrm>
            <a:off x="5377069" y="1825625"/>
            <a:ext cx="834887" cy="190831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FC3C576-8426-5A3E-FC21-C79595144485}"/>
              </a:ext>
            </a:extLst>
          </p:cNvPr>
          <p:cNvSpPr txBox="1"/>
          <p:nvPr/>
        </p:nvSpPr>
        <p:spPr>
          <a:xfrm>
            <a:off x="6689036" y="2257832"/>
            <a:ext cx="50093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Lecture GLMs (06.05.)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Lecture multivariate regression (28.05)</a:t>
            </a:r>
          </a:p>
        </p:txBody>
      </p:sp>
    </p:spTree>
    <p:extLst>
      <p:ext uri="{BB962C8B-B14F-4D97-AF65-F5344CB8AC3E}">
        <p14:creationId xmlns:p14="http://schemas.microsoft.com/office/powerpoint/2010/main" val="103378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8907-8FDD-81B3-7C4C-FBDDBB72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5FA9FB-9B8D-534C-EEFB-2F66C685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Non-linear regressions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53C45B-4B58-5FFC-5B05-F61718E2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Also called non-linear least </a:t>
            </a:r>
            <a:br>
              <a:rPr lang="en-GB" dirty="0"/>
            </a:br>
            <a:r>
              <a:rPr lang="en-GB" dirty="0"/>
              <a:t>squares</a:t>
            </a:r>
          </a:p>
          <a:p>
            <a:r>
              <a:rPr lang="en-GB" dirty="0"/>
              <a:t>Usage of a non-linear function:</a:t>
            </a:r>
          </a:p>
          <a:p>
            <a:pPr lvl="1"/>
            <a:r>
              <a:rPr lang="en-GB" dirty="0"/>
              <a:t>Linear f(x) = m*x + b</a:t>
            </a:r>
          </a:p>
          <a:p>
            <a:pPr lvl="1"/>
            <a:r>
              <a:rPr lang="en-GB" dirty="0"/>
              <a:t>Asymptotic curves</a:t>
            </a:r>
          </a:p>
          <a:p>
            <a:pPr lvl="1"/>
            <a:r>
              <a:rPr lang="en-GB" dirty="0"/>
              <a:t>S-shaped functions</a:t>
            </a:r>
          </a:p>
          <a:p>
            <a:pPr lvl="1"/>
            <a:r>
              <a:rPr lang="en-GB" dirty="0"/>
              <a:t>Bell-shaped curves</a:t>
            </a:r>
          </a:p>
          <a:p>
            <a:pPr lvl="1"/>
            <a:endParaRPr lang="en-GB" dirty="0"/>
          </a:p>
        </p:txBody>
      </p:sp>
      <p:pic>
        <p:nvPicPr>
          <p:cNvPr id="5" name="Picture 2" descr="The shapes of the most important functions">
            <a:extLst>
              <a:ext uri="{FF2B5EF4-FFF2-40B4-BE49-F238E27FC236}">
                <a16:creationId xmlns:a16="http://schemas.microsoft.com/office/drawing/2014/main" id="{BF5542C4-14D7-833A-F126-55CD6A0E4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265" y="1750560"/>
            <a:ext cx="6256239" cy="446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637C43C8-B197-E1AA-E988-671AB9BE68F7}"/>
              </a:ext>
            </a:extLst>
          </p:cNvPr>
          <p:cNvSpPr txBox="1"/>
          <p:nvPr/>
        </p:nvSpPr>
        <p:spPr>
          <a:xfrm>
            <a:off x="5206181" y="6395876"/>
            <a:ext cx="8820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Fig. 4.</a:t>
            </a:r>
            <a:r>
              <a:rPr lang="en-US" sz="1000" dirty="0"/>
              <a:t> Nonlinear regression functions classified according to their shape. Summarized by </a:t>
            </a:r>
            <a:r>
              <a:rPr lang="en-US" sz="1000" dirty="0" err="1"/>
              <a:t>Onofri</a:t>
            </a:r>
            <a:r>
              <a:rPr lang="en-US" sz="1000" dirty="0"/>
              <a:t> A. based on </a:t>
            </a:r>
            <a:r>
              <a:rPr lang="en-US" sz="1000" dirty="0" err="1"/>
              <a:t>Ratkowsky</a:t>
            </a:r>
            <a:r>
              <a:rPr lang="en-US" sz="1000" dirty="0"/>
              <a:t> (1990) </a:t>
            </a:r>
            <a:r>
              <a:rPr lang="en-US" sz="1000" dirty="0">
                <a:hlinkClick r:id="rId3"/>
              </a:rPr>
              <a:t>https://www.statforbiology.com/2020/stat_nls_usefulfunctions/</a:t>
            </a:r>
            <a:r>
              <a:rPr lang="en-US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218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FD4C6DEC-70B6-B6FD-A117-E7083F5B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Non-linear regressions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80BCB-1533-E499-AC4C-EB73D54D3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71E5970-4D9C-E642-F60C-70AEB32462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Function can be defined by user</a:t>
            </a:r>
          </a:p>
          <a:p>
            <a:r>
              <a:rPr lang="en-GB" dirty="0"/>
              <a:t>Prior knowledge can be integrated</a:t>
            </a:r>
          </a:p>
          <a:p>
            <a:endParaRPr lang="en-GB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D308753-3F6C-EE38-78B7-DD96A4C60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Cons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1774FAC-FC78-9B21-5395-EC60F352CB8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Function and starting value must be supplied by user</a:t>
            </a:r>
          </a:p>
        </p:txBody>
      </p:sp>
    </p:spTree>
    <p:extLst>
      <p:ext uri="{BB962C8B-B14F-4D97-AF65-F5344CB8AC3E}">
        <p14:creationId xmlns:p14="http://schemas.microsoft.com/office/powerpoint/2010/main" val="14691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DB1DB-1B89-11B1-DFC1-A9FE2B14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Non-linear regressions – Example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3D752C-0DA7-E15C-F877-788CC9B24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Weight as function of of total length:</a:t>
            </a:r>
          </a:p>
          <a:p>
            <a:pPr marL="457200" lvl="1" indent="0">
              <a:buNone/>
            </a:pPr>
            <a:r>
              <a:rPr lang="en-GB" sz="2800" dirty="0"/>
              <a:t>W = a * </a:t>
            </a:r>
            <a:r>
              <a:rPr lang="en-GB" sz="2800" dirty="0" err="1"/>
              <a:t>TL</a:t>
            </a:r>
            <a:r>
              <a:rPr lang="en-GB" sz="2800" baseline="30000" dirty="0" err="1"/>
              <a:t>b</a:t>
            </a:r>
            <a:endParaRPr lang="en-GB" sz="2800" baseline="30000" dirty="0"/>
          </a:p>
          <a:p>
            <a:r>
              <a:rPr lang="en-GB" dirty="0"/>
              <a:t>In R:</a:t>
            </a:r>
            <a:br>
              <a:rPr lang="en-GB" dirty="0"/>
            </a:br>
            <a:r>
              <a:rPr lang="en-GB" dirty="0"/>
              <a:t>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wght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~ a*(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tl^b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data, start = list(a = 1, b = 3)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" name="Grafik 5" descr="Bluegill - Wikipedia">
            <a:extLst>
              <a:ext uri="{FF2B5EF4-FFF2-40B4-BE49-F238E27FC236}">
                <a16:creationId xmlns:a16="http://schemas.microsoft.com/office/drawing/2014/main" id="{61636AED-7B68-2D59-08C0-A77B4AB2D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716" y="3633737"/>
            <a:ext cx="4955812" cy="322426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F6DDC40-B28A-664C-883F-B0704C3BF1E9}"/>
              </a:ext>
            </a:extLst>
          </p:cNvPr>
          <p:cNvSpPr txBox="1"/>
          <p:nvPr/>
        </p:nvSpPr>
        <p:spPr>
          <a:xfrm>
            <a:off x="8447949" y="6492875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en.wikipedia.org</a:t>
            </a:r>
            <a:r>
              <a:rPr lang="en-GB" dirty="0"/>
              <a:t>/wiki/Bluegill</a:t>
            </a:r>
          </a:p>
        </p:txBody>
      </p:sp>
    </p:spTree>
    <p:extLst>
      <p:ext uri="{BB962C8B-B14F-4D97-AF65-F5344CB8AC3E}">
        <p14:creationId xmlns:p14="http://schemas.microsoft.com/office/powerpoint/2010/main" val="363183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BE1760-DA5C-2A1B-B2F9-F0564330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in R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57247A-B171-67FD-D706-6DF6E729A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Bluegills</a:t>
            </a:r>
          </a:p>
        </p:txBody>
      </p:sp>
    </p:spTree>
    <p:extLst>
      <p:ext uri="{BB962C8B-B14F-4D97-AF65-F5344CB8AC3E}">
        <p14:creationId xmlns:p14="http://schemas.microsoft.com/office/powerpoint/2010/main" val="207306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8843B-1A5B-291D-785A-CDB93F44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Generalized additive models – GAMs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4F2568-9884-D184-1D0F-FC8F1E2FB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driven approach rather than model driven</a:t>
            </a:r>
          </a:p>
          <a:p>
            <a:pPr lvl="1"/>
            <a:r>
              <a:rPr lang="en-GB" dirty="0"/>
              <a:t>No mechanistic model required beforehand</a:t>
            </a:r>
          </a:p>
          <a:p>
            <a:r>
              <a:rPr lang="en-GB" dirty="0"/>
              <a:t>Flexible approach to model non-linear data</a:t>
            </a:r>
          </a:p>
          <a:p>
            <a:r>
              <a:rPr lang="en-GB" dirty="0"/>
              <a:t>Response variable Y is modelled with a smoothing function of X</a:t>
            </a:r>
          </a:p>
          <a:p>
            <a:pPr marL="0" indent="0">
              <a:buNone/>
            </a:pPr>
            <a:r>
              <a:rPr lang="en-GB" dirty="0"/>
              <a:t>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7">
                <a:extLst>
                  <a:ext uri="{FF2B5EF4-FFF2-40B4-BE49-F238E27FC236}">
                    <a16:creationId xmlns:a16="http://schemas.microsoft.com/office/drawing/2014/main" id="{1FFED326-A3F2-DF88-6B24-376077FB1842}"/>
                  </a:ext>
                </a:extLst>
              </p:cNvPr>
              <p:cNvSpPr txBox="1"/>
              <p:nvPr/>
            </p:nvSpPr>
            <p:spPr>
              <a:xfrm>
                <a:off x="2441160" y="4667474"/>
                <a:ext cx="402774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r>
                  <a:rPr lang="en-US" sz="2400" dirty="0"/>
                  <a:t>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endParaRPr lang="en-US" sz="2400" dirty="0">
                  <a:ea typeface="Cambria Math"/>
                </a:endParaRPr>
              </a:p>
            </p:txBody>
          </p:sp>
        </mc:Choice>
        <mc:Fallback>
          <p:sp>
            <p:nvSpPr>
              <p:cNvPr id="4" name="TextBox 7">
                <a:extLst>
                  <a:ext uri="{FF2B5EF4-FFF2-40B4-BE49-F238E27FC236}">
                    <a16:creationId xmlns:a16="http://schemas.microsoft.com/office/drawing/2014/main" id="{1FFED326-A3F2-DF88-6B24-376077FB1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160" y="4667474"/>
                <a:ext cx="4027742" cy="369332"/>
              </a:xfrm>
              <a:prstGeom prst="rect">
                <a:avLst/>
              </a:prstGeom>
              <a:blipFill>
                <a:blip r:embed="rId3"/>
                <a:stretch>
                  <a:fillRect l="-4717" t="-23333" b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FCD3E42-4139-F261-50FA-8B8600407E42}"/>
                  </a:ext>
                </a:extLst>
              </p:cNvPr>
              <p:cNvSpPr txBox="1"/>
              <p:nvPr/>
            </p:nvSpPr>
            <p:spPr>
              <a:xfrm>
                <a:off x="7104674" y="4390475"/>
                <a:ext cx="36133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= model 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= smoothing function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en-GB" dirty="0"/>
                  <a:t> = error term</a:t>
                </a:r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FCD3E42-4139-F261-50FA-8B8600407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674" y="4390475"/>
                <a:ext cx="3613354" cy="923330"/>
              </a:xfrm>
              <a:prstGeom prst="rect">
                <a:avLst/>
              </a:prstGeom>
              <a:blipFill>
                <a:blip r:embed="rId4"/>
                <a:stretch>
                  <a:fillRect l="-702" t="-2703" b="-94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12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6CDDA1-25E9-FDC1-2239-1AEC03A5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smoothing?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9F68C1-9390-492F-604D-5EF8996B3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6" descr="Bildschirmfoto 2013-03-19 um 08.17.09.png">
            <a:extLst>
              <a:ext uri="{FF2B5EF4-FFF2-40B4-BE49-F238E27FC236}">
                <a16:creationId xmlns:a16="http://schemas.microsoft.com/office/drawing/2014/main" id="{69BB9DC3-A29D-3D1C-D9EF-B191C18AA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7"/>
            <a:ext cx="6858000" cy="4642805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A4C09D94-165F-07C1-237A-BB130A796521}"/>
              </a:ext>
            </a:extLst>
          </p:cNvPr>
          <p:cNvSpPr txBox="1"/>
          <p:nvPr/>
        </p:nvSpPr>
        <p:spPr>
          <a:xfrm>
            <a:off x="7547380" y="4797981"/>
            <a:ext cx="10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>
                <a:solidFill>
                  <a:srgbClr val="FF0000"/>
                </a:solidFill>
                <a:latin typeface="Helvetica Neue"/>
                <a:cs typeface="Helvetica Neue"/>
              </a:rPr>
              <a:t>LOESS</a:t>
            </a:r>
            <a:endParaRPr lang="en-US" dirty="0">
              <a:solidFill>
                <a:srgbClr val="FF0000"/>
              </a:solidFill>
              <a:latin typeface="Helvetica Neue"/>
              <a:cs typeface="Helvetica Neue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F8316F62-C25C-8014-0FBF-5C57724F1C2C}"/>
              </a:ext>
            </a:extLst>
          </p:cNvPr>
          <p:cNvSpPr txBox="1"/>
          <p:nvPr/>
        </p:nvSpPr>
        <p:spPr>
          <a:xfrm>
            <a:off x="7547380" y="2342307"/>
            <a:ext cx="170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Helvetica Neue"/>
                <a:cs typeface="Helvetica Neue"/>
              </a:rPr>
              <a:t>Running mean smoother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8843323F-D511-EA23-9E85-6CD6D16374D8}"/>
              </a:ext>
            </a:extLst>
          </p:cNvPr>
          <p:cNvSpPr txBox="1"/>
          <p:nvPr/>
        </p:nvSpPr>
        <p:spPr>
          <a:xfrm>
            <a:off x="1961315" y="6169709"/>
            <a:ext cx="2145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Helvetica Neue"/>
                <a:cs typeface="Helvetica Neue"/>
              </a:rPr>
              <a:t>Running line smoother</a:t>
            </a:r>
          </a:p>
        </p:txBody>
      </p:sp>
    </p:spTree>
    <p:extLst>
      <p:ext uri="{BB962C8B-B14F-4D97-AF65-F5344CB8AC3E}">
        <p14:creationId xmlns:p14="http://schemas.microsoft.com/office/powerpoint/2010/main" val="135387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6587B-40A7-174D-CAFF-C4DCF72B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Moving window smoothers</a:t>
            </a:r>
          </a:p>
        </p:txBody>
      </p:sp>
      <p:sp>
        <p:nvSpPr>
          <p:cNvPr id="4" name="Sisällön paikkamerkki 2">
            <a:extLst>
              <a:ext uri="{FF2B5EF4-FFF2-40B4-BE49-F238E27FC236}">
                <a16:creationId xmlns:a16="http://schemas.microsoft.com/office/drawing/2014/main" id="{9D926982-7EF4-A12B-9D6E-284A93857E6E}"/>
              </a:ext>
            </a:extLst>
          </p:cNvPr>
          <p:cNvSpPr txBox="1">
            <a:spLocks/>
          </p:cNvSpPr>
          <p:nvPr/>
        </p:nvSpPr>
        <p:spPr bwMode="auto">
          <a:xfrm>
            <a:off x="961592" y="1508611"/>
            <a:ext cx="5935885" cy="96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78900" lvl="2" indent="-342900">
              <a:buClr>
                <a:srgbClr val="094271"/>
              </a:buClr>
              <a:buFont typeface="Arial"/>
              <a:buChar char="•"/>
            </a:pPr>
            <a:r>
              <a:rPr lang="en-US" sz="2200" dirty="0">
                <a:cs typeface="Helvetica Neue"/>
              </a:rPr>
              <a:t>O</a:t>
            </a:r>
            <a:r>
              <a:rPr lang="sv-SE" sz="2200" dirty="0" err="1">
                <a:cs typeface="Helvetica Neue"/>
              </a:rPr>
              <a:t>ptimal</a:t>
            </a:r>
            <a:r>
              <a:rPr lang="sv-SE" sz="2200" dirty="0">
                <a:cs typeface="Helvetica Neue"/>
              </a:rPr>
              <a:t> box </a:t>
            </a:r>
            <a:r>
              <a:rPr lang="sv-SE" sz="2200" dirty="0" err="1">
                <a:cs typeface="Helvetica Neue"/>
              </a:rPr>
              <a:t>width</a:t>
            </a:r>
            <a:r>
              <a:rPr lang="sv-SE" sz="2200" dirty="0">
                <a:cs typeface="Helvetica Neue"/>
              </a:rPr>
              <a:t> or span </a:t>
            </a:r>
            <a:r>
              <a:rPr lang="sv-SE" sz="2200" dirty="0" err="1">
                <a:cs typeface="Helvetica Neue"/>
              </a:rPr>
              <a:t>width</a:t>
            </a:r>
            <a:r>
              <a:rPr lang="sv-SE" sz="2200" dirty="0">
                <a:cs typeface="Helvetica Neue"/>
              </a:rPr>
              <a:t>?</a:t>
            </a:r>
          </a:p>
          <a:p>
            <a:pPr marL="378900" lvl="2" indent="-342900">
              <a:buClr>
                <a:srgbClr val="094271"/>
              </a:buClr>
              <a:buFont typeface="Arial"/>
              <a:buChar char="•"/>
            </a:pPr>
            <a:r>
              <a:rPr lang="sv-SE" sz="2200" dirty="0" err="1">
                <a:cs typeface="Helvetica Neue"/>
              </a:rPr>
              <a:t>What</a:t>
            </a:r>
            <a:r>
              <a:rPr lang="sv-SE" sz="2200" dirty="0">
                <a:cs typeface="Helvetica Neue"/>
              </a:rPr>
              <a:t> </a:t>
            </a:r>
            <a:r>
              <a:rPr lang="sv-SE" sz="2200" dirty="0" err="1">
                <a:cs typeface="Helvetica Neue"/>
              </a:rPr>
              <a:t>happens</a:t>
            </a:r>
            <a:r>
              <a:rPr lang="sv-SE" sz="2200" dirty="0">
                <a:cs typeface="Helvetica Neue"/>
              </a:rPr>
              <a:t> at the </a:t>
            </a:r>
            <a:r>
              <a:rPr lang="sv-SE" sz="2200" dirty="0" err="1">
                <a:cs typeface="Helvetica Neue"/>
              </a:rPr>
              <a:t>edges</a:t>
            </a:r>
            <a:r>
              <a:rPr lang="sv-SE" sz="2200" dirty="0">
                <a:cs typeface="Helvetica Neue"/>
              </a:rPr>
              <a:t> </a:t>
            </a:r>
            <a:r>
              <a:rPr lang="sv-SE" sz="2200" dirty="0" err="1">
                <a:cs typeface="Helvetica Neue"/>
              </a:rPr>
              <a:t>of</a:t>
            </a:r>
            <a:r>
              <a:rPr lang="sv-SE" sz="2200" dirty="0">
                <a:cs typeface="Helvetica Neue"/>
              </a:rPr>
              <a:t> the </a:t>
            </a:r>
            <a:r>
              <a:rPr lang="sv-SE" sz="2200" dirty="0" err="1">
                <a:cs typeface="Helvetica Neue"/>
              </a:rPr>
              <a:t>boxes</a:t>
            </a:r>
            <a:r>
              <a:rPr lang="sv-SE" sz="2200" dirty="0">
                <a:cs typeface="Helvetica Neue"/>
              </a:rPr>
              <a:t>?</a:t>
            </a:r>
          </a:p>
          <a:p>
            <a:pPr marL="1371600" lvl="4" indent="-421200">
              <a:buClr>
                <a:srgbClr val="094271"/>
              </a:buClr>
              <a:buFont typeface="Arial"/>
              <a:buChar char="•"/>
            </a:pPr>
            <a:endParaRPr lang="en-US" sz="2200" dirty="0">
              <a:cs typeface="Helvetica Neue"/>
            </a:endParaRPr>
          </a:p>
          <a:p>
            <a:pPr marL="457200" indent="-457200">
              <a:buClr>
                <a:srgbClr val="094271"/>
              </a:buClr>
              <a:buFont typeface="Arial" charset="0"/>
              <a:buChar char="•"/>
            </a:pPr>
            <a:endParaRPr lang="en-US" sz="1800" dirty="0">
              <a:cs typeface="Helvetica Neue"/>
            </a:endParaRPr>
          </a:p>
          <a:p>
            <a:pPr marL="457200" indent="-457200">
              <a:buClr>
                <a:srgbClr val="094271"/>
              </a:buClr>
              <a:buFont typeface="Arial" charset="0"/>
              <a:buChar char="•"/>
            </a:pPr>
            <a:endParaRPr lang="en-US" sz="1600" dirty="0">
              <a:cs typeface="Helvetica Neue"/>
            </a:endParaRPr>
          </a:p>
        </p:txBody>
      </p:sp>
      <p:pic>
        <p:nvPicPr>
          <p:cNvPr id="5" name="Picture 12" descr="Bildschirmfoto 2013-03-19 um 08.19.42.png">
            <a:extLst>
              <a:ext uri="{FF2B5EF4-FFF2-40B4-BE49-F238E27FC236}">
                <a16:creationId xmlns:a16="http://schemas.microsoft.com/office/drawing/2014/main" id="{35D567FB-BEF4-3C4C-B7C6-B330734E5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74" y="2221154"/>
            <a:ext cx="5185603" cy="3625390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374B6AE6-DA95-2CD7-721B-1D3544DB5C44}"/>
              </a:ext>
            </a:extLst>
          </p:cNvPr>
          <p:cNvSpPr txBox="1"/>
          <p:nvPr/>
        </p:nvSpPr>
        <p:spPr>
          <a:xfrm>
            <a:off x="1369709" y="5846544"/>
            <a:ext cx="7313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Helvetica Neue"/>
                <a:cs typeface="Helvetica Neue"/>
              </a:rPr>
              <a:t>span width = 0.7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Helvetica Neue"/>
                <a:cs typeface="Helvetica Neue"/>
                <a:sym typeface="Wingdings"/>
              </a:rPr>
              <a:t>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Helvetica Neue"/>
                <a:cs typeface="Helvetica Neue"/>
              </a:rPr>
              <a:t> width of the box contains 70% of the data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Helvetica Neue"/>
                <a:cs typeface="Helvetica Neue"/>
                <a:sym typeface="Wingdings"/>
              </a:rPr>
              <a:t> small variances but fit is not good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Helvetica Neue"/>
              <a:cs typeface="Helvetica Neue"/>
            </a:endParaRP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B5525EAF-5942-2171-9647-BE27EDD50F04}"/>
              </a:ext>
            </a:extLst>
          </p:cNvPr>
          <p:cNvSpPr txBox="1"/>
          <p:nvPr/>
        </p:nvSpPr>
        <p:spPr>
          <a:xfrm>
            <a:off x="3406508" y="232954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  <a:latin typeface="Helvetica Neue"/>
                <a:cs typeface="Helvetica Neue"/>
              </a:rPr>
              <a:t>0.7</a:t>
            </a: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346DBBD8-AC57-34A3-36A3-74A19D210532}"/>
              </a:ext>
            </a:extLst>
          </p:cNvPr>
          <p:cNvSpPr txBox="1"/>
          <p:nvPr/>
        </p:nvSpPr>
        <p:spPr>
          <a:xfrm>
            <a:off x="5916028" y="2390466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  <a:latin typeface="Helvetica Neue"/>
                <a:cs typeface="Helvetica Neue"/>
              </a:rPr>
              <a:t>0.3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A45FDBE9-F5B9-F307-A7EA-FC7251ED73BE}"/>
              </a:ext>
            </a:extLst>
          </p:cNvPr>
          <p:cNvSpPr txBox="1"/>
          <p:nvPr/>
        </p:nvSpPr>
        <p:spPr>
          <a:xfrm>
            <a:off x="3406508" y="4201637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  <a:latin typeface="Helvetica Neue"/>
                <a:cs typeface="Helvetica Neue"/>
              </a:rPr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37063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D8ED1-20F3-5DE1-04BD-5BF4663C5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splines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E94160-7DD1-9484-F33B-06C343E8A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Piecewise polynomial functions (basis functions) joined at “knots”</a:t>
            </a:r>
          </a:p>
          <a:p>
            <a:r>
              <a:rPr lang="en-GB" dirty="0"/>
              <a:t>Overfitting is avoided by applying penalty terms and least squares</a:t>
            </a:r>
          </a:p>
          <a:p>
            <a:r>
              <a:rPr lang="en-GB" dirty="0"/>
              <a:t>Combined to one single smoothing function</a:t>
            </a:r>
          </a:p>
          <a:p>
            <a:endParaRPr lang="en-GB" dirty="0"/>
          </a:p>
        </p:txBody>
      </p:sp>
      <p:pic>
        <p:nvPicPr>
          <p:cNvPr id="4" name="Picture 7" descr="Bildschirmfoto 2013-03-19 um 08.09.54.png">
            <a:extLst>
              <a:ext uri="{FF2B5EF4-FFF2-40B4-BE49-F238E27FC236}">
                <a16:creationId xmlns:a16="http://schemas.microsoft.com/office/drawing/2014/main" id="{85A52FB5-C825-475A-6A43-1DB678AC8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23" y="3429000"/>
            <a:ext cx="7030964" cy="31014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D13F6389-9F86-8541-FFD9-8DFDADEB96ED}"/>
                  </a:ext>
                </a:extLst>
              </p:cNvPr>
              <p:cNvSpPr/>
              <p:nvPr/>
            </p:nvSpPr>
            <p:spPr>
              <a:xfrm>
                <a:off x="8083587" y="3807097"/>
                <a:ext cx="4251531" cy="11726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nary>
                            <m:naryPr>
                              <m:chr m:val="∑"/>
                              <m:ctrlPr>
                                <a:rPr lang="de-DE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D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de-DE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de-D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D13F6389-9F86-8541-FFD9-8DFDADEB96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587" y="3807097"/>
                <a:ext cx="4251531" cy="1172629"/>
              </a:xfrm>
              <a:prstGeom prst="rect">
                <a:avLst/>
              </a:prstGeom>
              <a:blipFill>
                <a:blip r:embed="rId4"/>
                <a:stretch>
                  <a:fillRect t="-98925" b="-14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12">
                <a:extLst>
                  <a:ext uri="{FF2B5EF4-FFF2-40B4-BE49-F238E27FC236}">
                    <a16:creationId xmlns:a16="http://schemas.microsoft.com/office/drawing/2014/main" id="{7F941CFF-3ED9-7E33-E9AB-D6B8F1E38B3E}"/>
                  </a:ext>
                </a:extLst>
              </p:cNvPr>
              <p:cNvSpPr/>
              <p:nvPr/>
            </p:nvSpPr>
            <p:spPr>
              <a:xfrm>
                <a:off x="8471293" y="5310104"/>
                <a:ext cx="4517613" cy="12449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/>
                        <m:t> = </m:t>
                      </m:r>
                      <m:r>
                        <m:rPr>
                          <m:nor/>
                        </m:rPr>
                        <a:rPr lang="en-US" dirty="0"/>
                        <m:t>unknown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regression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parameters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= basis function</a:t>
                </a:r>
              </a:p>
              <a:p>
                <a:r>
                  <a:rPr lang="de-DE" dirty="0"/>
                  <a:t>K = internal </a:t>
                </a:r>
                <a:r>
                  <a:rPr lang="de-DE" dirty="0" err="1"/>
                  <a:t>knots</a:t>
                </a:r>
                <a:r>
                  <a:rPr lang="de-DE" dirty="0"/>
                  <a:t> </a:t>
                </a:r>
              </a:p>
              <a:p>
                <a:r>
                  <a:rPr lang="de-DE" dirty="0" err="1"/>
                  <a:t>k</a:t>
                </a:r>
                <a:r>
                  <a:rPr lang="de-DE" dirty="0"/>
                  <a:t> = </a:t>
                </a:r>
                <a:r>
                  <a:rPr lang="de-DE" dirty="0" err="1"/>
                  <a:t>position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knots</a:t>
                </a:r>
                <a:r>
                  <a:rPr lang="de-DE" dirty="0"/>
                  <a:t>.</a:t>
                </a:r>
              </a:p>
            </p:txBody>
          </p:sp>
        </mc:Choice>
        <mc:Fallback>
          <p:sp>
            <p:nvSpPr>
              <p:cNvPr id="8" name="Rectangle 12">
                <a:extLst>
                  <a:ext uri="{FF2B5EF4-FFF2-40B4-BE49-F238E27FC236}">
                    <a16:creationId xmlns:a16="http://schemas.microsoft.com/office/drawing/2014/main" id="{7F941CFF-3ED9-7E33-E9AB-D6B8F1E38B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293" y="5310104"/>
                <a:ext cx="4517613" cy="1244956"/>
              </a:xfrm>
              <a:prstGeom prst="rect">
                <a:avLst/>
              </a:prstGeom>
              <a:blipFill>
                <a:blip r:embed="rId5"/>
                <a:stretch>
                  <a:fillRect l="-1404" t="-1020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71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F9534D-D409-EF31-438F-F8B89D6A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Influencing parameters – Knots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A721BC-B931-B750-FDB1-A54F802D4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Number and position?</a:t>
            </a:r>
          </a:p>
          <a:p>
            <a:r>
              <a:rPr lang="en-GB" dirty="0"/>
              <a:t>More points = more </a:t>
            </a:r>
            <a:r>
              <a:rPr lang="en-GB" dirty="0" err="1"/>
              <a:t>wiggliness</a:t>
            </a:r>
            <a:endParaRPr lang="en-GB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400B58FA-2550-C81E-5DAE-C0CC72EA9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804" y="3595586"/>
            <a:ext cx="2747006" cy="2161944"/>
          </a:xfrm>
          <a:prstGeom prst="rect">
            <a:avLst/>
          </a:prstGeom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44E0E1B9-E84E-B23F-251B-035904B9E3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3" t="13342" r="8797" b="4377"/>
          <a:stretch/>
        </p:blipFill>
        <p:spPr>
          <a:xfrm>
            <a:off x="4051810" y="3842588"/>
            <a:ext cx="3027973" cy="1827862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391F3766-425E-9722-83FE-F12EF09626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36" t="12785" r="8567" b="4517"/>
          <a:stretch/>
        </p:blipFill>
        <p:spPr>
          <a:xfrm>
            <a:off x="7430139" y="3783851"/>
            <a:ext cx="3276600" cy="189087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FF4EB16-35A4-62A9-41B2-D392E227F8F5}"/>
              </a:ext>
            </a:extLst>
          </p:cNvPr>
          <p:cNvSpPr txBox="1"/>
          <p:nvPr/>
        </p:nvSpPr>
        <p:spPr>
          <a:xfrm>
            <a:off x="2234805" y="3429000"/>
            <a:ext cx="93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 = 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0514774-0799-812E-ADDF-80F37320A117}"/>
              </a:ext>
            </a:extLst>
          </p:cNvPr>
          <p:cNvSpPr txBox="1"/>
          <p:nvPr/>
        </p:nvSpPr>
        <p:spPr>
          <a:xfrm>
            <a:off x="5506698" y="3429000"/>
            <a:ext cx="93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 = 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02D9220-6029-E91F-98BD-A978D90D67A3}"/>
              </a:ext>
            </a:extLst>
          </p:cNvPr>
          <p:cNvSpPr txBox="1"/>
          <p:nvPr/>
        </p:nvSpPr>
        <p:spPr>
          <a:xfrm>
            <a:off x="8865977" y="3464248"/>
            <a:ext cx="93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 = 5</a:t>
            </a: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E6819A7C-B52C-B8F9-0AC4-4EF491FA2EC0}"/>
              </a:ext>
            </a:extLst>
          </p:cNvPr>
          <p:cNvSpPr/>
          <p:nvPr/>
        </p:nvSpPr>
        <p:spPr>
          <a:xfrm>
            <a:off x="2150595" y="5944220"/>
            <a:ext cx="985837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/>
              <a:t>Fig. 8.</a:t>
            </a:r>
            <a:r>
              <a:rPr lang="en-US" sz="1200" dirty="0"/>
              <a:t> Plot of the relation between isotopic ratio and mantle length with different number of knots.</a:t>
            </a:r>
          </a:p>
        </p:txBody>
      </p:sp>
    </p:spTree>
    <p:extLst>
      <p:ext uri="{BB962C8B-B14F-4D97-AF65-F5344CB8AC3E}">
        <p14:creationId xmlns:p14="http://schemas.microsoft.com/office/powerpoint/2010/main" val="420341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C7DE4-5538-ECC0-088B-727053F1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00806" cy="1325563"/>
          </a:xfrm>
        </p:spPr>
        <p:txBody>
          <a:bodyPr/>
          <a:lstStyle/>
          <a:p>
            <a:r>
              <a:rPr lang="en-GB" dirty="0"/>
              <a:t>Influencing parameters – Type of basis function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AA5C5F-8DCC-E274-DC02-BE55866B5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7872"/>
          </a:xfrm>
        </p:spPr>
        <p:txBody>
          <a:bodyPr>
            <a:normAutofit/>
          </a:bodyPr>
          <a:lstStyle/>
          <a:p>
            <a:r>
              <a:rPr lang="en-GB" dirty="0"/>
              <a:t>Linear splines</a:t>
            </a:r>
          </a:p>
          <a:p>
            <a:r>
              <a:rPr lang="en-GB" dirty="0"/>
              <a:t>Quadratic splines</a:t>
            </a:r>
          </a:p>
          <a:p>
            <a:r>
              <a:rPr lang="en-GB" dirty="0"/>
              <a:t>Cubic regression splines</a:t>
            </a:r>
          </a:p>
          <a:p>
            <a:pPr lvl="1"/>
            <a:r>
              <a:rPr lang="en-GB" dirty="0"/>
              <a:t>Third-order polynomials</a:t>
            </a:r>
          </a:p>
          <a:p>
            <a:pPr lvl="1"/>
            <a:r>
              <a:rPr lang="en-GB" dirty="0"/>
              <a:t>Computationally very efficient</a:t>
            </a:r>
          </a:p>
          <a:p>
            <a:pPr lvl="1"/>
            <a:r>
              <a:rPr lang="en-GB" dirty="0"/>
              <a:t>Number of knots must be chosen </a:t>
            </a:r>
          </a:p>
          <a:p>
            <a:pPr lvl="1"/>
            <a:r>
              <a:rPr lang="en-GB" dirty="0"/>
              <a:t>Special case: cyclic cubic regression splines (value at the far left = value at the far right), good to model seasonal cycles</a:t>
            </a:r>
          </a:p>
          <a:p>
            <a:r>
              <a:rPr lang="en-GB" dirty="0"/>
              <a:t>Other spline types: B-splines, natural splines, P-splines, thin plate splines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9">
                <a:extLst>
                  <a:ext uri="{FF2B5EF4-FFF2-40B4-BE49-F238E27FC236}">
                    <a16:creationId xmlns:a16="http://schemas.microsoft.com/office/drawing/2014/main" id="{82B62D48-B742-B183-6D8E-BB05E1E96D25}"/>
                  </a:ext>
                </a:extLst>
              </p:cNvPr>
              <p:cNvSpPr/>
              <p:nvPr/>
            </p:nvSpPr>
            <p:spPr>
              <a:xfrm>
                <a:off x="5910323" y="1690688"/>
                <a:ext cx="3462861" cy="722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𝑀𝐿</m:t>
                              </m:r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de-DE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𝑀𝐿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nary>
                            <m:naryPr>
                              <m:chr m:val="∑"/>
                              <m:ctrlPr>
                                <a:rPr lang="de-DE" sz="1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1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sz="1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de-DE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de-DE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de-DE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de-D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𝑀𝐿</m:t>
                              </m:r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de-DE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" name="Rectangle 9">
                <a:extLst>
                  <a:ext uri="{FF2B5EF4-FFF2-40B4-BE49-F238E27FC236}">
                    <a16:creationId xmlns:a16="http://schemas.microsoft.com/office/drawing/2014/main" id="{82B62D48-B742-B183-6D8E-BB05E1E96D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323" y="1690688"/>
                <a:ext cx="3462861" cy="722505"/>
              </a:xfrm>
              <a:prstGeom prst="rect">
                <a:avLst/>
              </a:prstGeom>
              <a:blipFill>
                <a:blip r:embed="rId3"/>
                <a:stretch>
                  <a:fillRect t="-86441" b="-1372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1">
                <a:extLst>
                  <a:ext uri="{FF2B5EF4-FFF2-40B4-BE49-F238E27FC236}">
                    <a16:creationId xmlns:a16="http://schemas.microsoft.com/office/drawing/2014/main" id="{4F23AC67-D505-7C48-9947-6FF481A556EF}"/>
                  </a:ext>
                </a:extLst>
              </p:cNvPr>
              <p:cNvSpPr/>
              <p:nvPr/>
            </p:nvSpPr>
            <p:spPr>
              <a:xfrm>
                <a:off x="5600078" y="2141865"/>
                <a:ext cx="5513071" cy="812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𝑀𝐿</m:t>
                              </m:r>
                            </m:e>
                            <m:sub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𝑀𝐿</m:t>
                          </m:r>
                        </m:e>
                        <m:sub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𝑀𝐿</m:t>
                          </m:r>
                        </m:e>
                        <m:sub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160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de-DE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𝑀𝐿</m:t>
                              </m:r>
                            </m:e>
                            <m:sub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" name="Rectangle 11">
                <a:extLst>
                  <a:ext uri="{FF2B5EF4-FFF2-40B4-BE49-F238E27FC236}">
                    <a16:creationId xmlns:a16="http://schemas.microsoft.com/office/drawing/2014/main" id="{4F23AC67-D505-7C48-9947-6FF481A55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078" y="2141865"/>
                <a:ext cx="5513071" cy="812530"/>
              </a:xfrm>
              <a:prstGeom prst="rect">
                <a:avLst/>
              </a:prstGeom>
              <a:blipFill>
                <a:blip r:embed="rId4"/>
                <a:stretch>
                  <a:fillRect t="-92308" b="-143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46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D10C72-7747-4C4C-6CFE-9DF99C215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EDFs – Measure smoothness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BFB591-AB84-695C-CC7B-144310BC6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Effective degrees of freedom</a:t>
            </a:r>
          </a:p>
          <a:p>
            <a:r>
              <a:rPr lang="en-GB" dirty="0"/>
              <a:t>Amount of smoothing of each smoothing functions</a:t>
            </a:r>
          </a:p>
          <a:p>
            <a:r>
              <a:rPr lang="en-GB" dirty="0" err="1"/>
              <a:t>Edf</a:t>
            </a:r>
            <a:r>
              <a:rPr lang="en-GB" dirty="0"/>
              <a:t> = 1  </a:t>
            </a:r>
            <a:r>
              <a:rPr lang="en-GB" dirty="0">
                <a:sym typeface="Wingdings" pitchFamily="2" charset="2"/>
              </a:rPr>
              <a:t> straight line</a:t>
            </a:r>
          </a:p>
          <a:p>
            <a:r>
              <a:rPr lang="en-GB" dirty="0" err="1">
                <a:sym typeface="Wingdings" pitchFamily="2" charset="2"/>
              </a:rPr>
              <a:t>Edf</a:t>
            </a:r>
            <a:r>
              <a:rPr lang="en-GB" dirty="0">
                <a:sym typeface="Wingdings" pitchFamily="2" charset="2"/>
              </a:rPr>
              <a:t> &gt; 2   non-linear</a:t>
            </a:r>
          </a:p>
          <a:p>
            <a:r>
              <a:rPr lang="en-GB" dirty="0" err="1">
                <a:sym typeface="Wingdings" pitchFamily="2" charset="2"/>
              </a:rPr>
              <a:t>Edf</a:t>
            </a:r>
            <a:r>
              <a:rPr lang="en-GB" dirty="0">
                <a:sym typeface="Wingdings" pitchFamily="2" charset="2"/>
              </a:rPr>
              <a:t> &gt; 8  highly non-linear</a:t>
            </a:r>
          </a:p>
          <a:p>
            <a:endParaRPr lang="en-GB" dirty="0">
              <a:sym typeface="Wingdings" pitchFamily="2" charset="2"/>
            </a:endParaRPr>
          </a:p>
          <a:p>
            <a:r>
              <a:rPr lang="en-GB" dirty="0">
                <a:sym typeface="Wingdings" pitchFamily="2" charset="2"/>
              </a:rPr>
              <a:t>Choose the amount of smoothing with cross-validation automatically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429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76269-89B3-A247-4ACF-3CBF6DF1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 validation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000F1-9EF6-B223-ADDD-BEE5BA1FE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056"/>
            <a:ext cx="10515600" cy="5254445"/>
          </a:xfrm>
        </p:spPr>
        <p:txBody>
          <a:bodyPr>
            <a:normAutofit/>
          </a:bodyPr>
          <a:lstStyle/>
          <a:p>
            <a:r>
              <a:rPr lang="en-GB" dirty="0"/>
              <a:t>Generalized cross-validation criterion (GCV)</a:t>
            </a:r>
          </a:p>
          <a:p>
            <a:r>
              <a:rPr lang="en-GB" dirty="0"/>
              <a:t>Principle: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Leave out observation i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Estimate smoothing curve with the rest (n – 1 observations)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Predicted the observation </a:t>
            </a:r>
            <a:r>
              <a:rPr lang="en-GB" dirty="0" err="1"/>
              <a:t>i</a:t>
            </a:r>
            <a:r>
              <a:rPr lang="en-GB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Compare the predicted observation i to the observed </a:t>
            </a:r>
            <a:r>
              <a:rPr lang="en-GB" dirty="0" err="1"/>
              <a:t>i</a:t>
            </a:r>
            <a:r>
              <a:rPr lang="en-GB" dirty="0"/>
              <a:t> (residual)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Repeat for each observation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Add up all squared residuals </a:t>
            </a:r>
            <a:r>
              <a:rPr lang="en-GB" dirty="0">
                <a:sym typeface="Wingdings" pitchFamily="2" charset="2"/>
              </a:rPr>
              <a:t> cross-validation error this will be minimized</a:t>
            </a:r>
          </a:p>
          <a:p>
            <a:endParaRPr lang="en-GB" dirty="0">
              <a:sym typeface="Wingdings" pitchFamily="2" charset="2"/>
            </a:endParaRPr>
          </a:p>
          <a:p>
            <a:r>
              <a:rPr lang="en-GB" dirty="0">
                <a:sym typeface="Wingdings" pitchFamily="2" charset="2"/>
              </a:rPr>
              <a:t>GCV applies this for varying degrees of smoothness</a:t>
            </a:r>
          </a:p>
          <a:p>
            <a:r>
              <a:rPr lang="en-GB" dirty="0">
                <a:sym typeface="Wingdings" pitchFamily="2" charset="2"/>
              </a:rPr>
              <a:t>Automatically applied in R, smaller values  better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433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D92719-D88D-ADE9-DFDB-EDD8C40D3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validation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E711BD-4514-A088-CEE4-E9B3B73AB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Modelfit</a:t>
            </a:r>
            <a:r>
              <a:rPr lang="en-GB" dirty="0"/>
              <a:t>: fitted vs. observed values</a:t>
            </a:r>
          </a:p>
          <a:p>
            <a:r>
              <a:rPr lang="en-GB" dirty="0"/>
              <a:t>Normality check: histograms and QQ plot of residuals</a:t>
            </a:r>
          </a:p>
          <a:p>
            <a:r>
              <a:rPr lang="en-GB" dirty="0"/>
              <a:t>Spread of residuals vs. fitted values </a:t>
            </a:r>
            <a:r>
              <a:rPr lang="en-GB" dirty="0">
                <a:sym typeface="Wingdings" pitchFamily="2" charset="2"/>
              </a:rPr>
              <a:t> should be even</a:t>
            </a:r>
          </a:p>
          <a:p>
            <a:r>
              <a:rPr lang="en-GB" dirty="0">
                <a:sym typeface="Wingdings" pitchFamily="2" charset="2"/>
              </a:rPr>
              <a:t>Independence check : residuals vs. predictor</a:t>
            </a:r>
          </a:p>
          <a:p>
            <a:r>
              <a:rPr lang="en-GB" dirty="0">
                <a:sym typeface="Wingdings" pitchFamily="2" charset="2"/>
              </a:rPr>
              <a:t>Autocorrelation</a:t>
            </a:r>
          </a:p>
          <a:p>
            <a:r>
              <a:rPr lang="en-GB" dirty="0">
                <a:sym typeface="Wingdings" pitchFamily="2" charset="2"/>
              </a:rPr>
              <a:t>Check for influential observations (e.g. cooks distance)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494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0F89D-79C2-7DB4-A81C-37AC658D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Diagnostic plots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3C98DAB-AB2E-D9B3-1A22-88F7F7406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185" y="1310514"/>
            <a:ext cx="5696696" cy="538156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40F53CA-FDB9-5DDF-4B6B-F1BDEE26C6C2}"/>
              </a:ext>
            </a:extLst>
          </p:cNvPr>
          <p:cNvSpPr txBox="1"/>
          <p:nvPr/>
        </p:nvSpPr>
        <p:spPr>
          <a:xfrm>
            <a:off x="3560154" y="1424718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Q-Q Plot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A63461-0A72-C934-14BF-F3746EC8D353}"/>
              </a:ext>
            </a:extLst>
          </p:cNvPr>
          <p:cNvSpPr txBox="1"/>
          <p:nvPr/>
        </p:nvSpPr>
        <p:spPr>
          <a:xfrm>
            <a:off x="8415029" y="5153408"/>
            <a:ext cx="3257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Model fit (ideally a straight line)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4128397-EFE3-F86B-2BF6-9077789D4D10}"/>
              </a:ext>
            </a:extLst>
          </p:cNvPr>
          <p:cNvSpPr txBox="1"/>
          <p:nvPr/>
        </p:nvSpPr>
        <p:spPr>
          <a:xfrm>
            <a:off x="8333834" y="2291993"/>
            <a:ext cx="2481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Check for homogeneity</a:t>
            </a:r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DA0399D0-421F-37CF-FE31-AF486B58A3DD}"/>
              </a:ext>
            </a:extLst>
          </p:cNvPr>
          <p:cNvSpPr/>
          <p:nvPr/>
        </p:nvSpPr>
        <p:spPr>
          <a:xfrm>
            <a:off x="1959639" y="1690688"/>
            <a:ext cx="600891" cy="448627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CA44F1E-A62B-D0CC-1465-594E6DDBA163}"/>
              </a:ext>
            </a:extLst>
          </p:cNvPr>
          <p:cNvSpPr txBox="1"/>
          <p:nvPr/>
        </p:nvSpPr>
        <p:spPr>
          <a:xfrm>
            <a:off x="135224" y="3591066"/>
            <a:ext cx="1946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Check for normal </a:t>
            </a:r>
            <a:br>
              <a:rPr lang="en-GB" dirty="0"/>
            </a:br>
            <a:r>
              <a:rPr lang="en-GB" dirty="0"/>
              <a:t>distribution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1536B09-C13E-FDB5-1486-36E77AD7B3BC}"/>
              </a:ext>
            </a:extLst>
          </p:cNvPr>
          <p:cNvSpPr txBox="1"/>
          <p:nvPr/>
        </p:nvSpPr>
        <p:spPr>
          <a:xfrm>
            <a:off x="7347718" y="3631962"/>
            <a:ext cx="157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fitted values</a:t>
            </a:r>
          </a:p>
        </p:txBody>
      </p:sp>
    </p:spTree>
    <p:extLst>
      <p:ext uri="{BB962C8B-B14F-4D97-AF65-F5344CB8AC3E}">
        <p14:creationId xmlns:p14="http://schemas.microsoft.com/office/powerpoint/2010/main" val="252232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F33F9F-35BC-FC26-4AE7-30A3F421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selection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8F0E1D-2E4B-DE2D-18D5-98AFC580B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More parameters </a:t>
            </a:r>
            <a:r>
              <a:rPr lang="en-GB" dirty="0">
                <a:sym typeface="Wingdings" pitchFamily="2" charset="2"/>
              </a:rPr>
              <a:t> more model possibilities</a:t>
            </a:r>
          </a:p>
          <a:p>
            <a:r>
              <a:rPr lang="en-GB" dirty="0">
                <a:sym typeface="Wingdings" pitchFamily="2" charset="2"/>
              </a:rPr>
              <a:t>Compare with GCV or AIC</a:t>
            </a:r>
          </a:p>
          <a:p>
            <a:r>
              <a:rPr lang="en-GB" dirty="0">
                <a:sym typeface="Wingdings" pitchFamily="2" charset="2"/>
              </a:rPr>
              <a:t>Compare graphically!</a:t>
            </a:r>
          </a:p>
          <a:p>
            <a:r>
              <a:rPr lang="en-GB" dirty="0">
                <a:sym typeface="Wingdings" pitchFamily="2" charset="2"/>
              </a:rPr>
              <a:t>Occam´s Razor:</a:t>
            </a:r>
          </a:p>
          <a:p>
            <a:pPr lvl="1"/>
            <a:r>
              <a:rPr lang="en-GB" dirty="0">
                <a:sym typeface="Wingdings" pitchFamily="2" charset="2"/>
              </a:rPr>
              <a:t>Few parameters as possible</a:t>
            </a:r>
          </a:p>
          <a:p>
            <a:pPr lvl="1"/>
            <a:r>
              <a:rPr lang="en-GB" dirty="0">
                <a:sym typeface="Wingdings" pitchFamily="2" charset="2"/>
              </a:rPr>
              <a:t>Simple explanations are preferred if they have a similar fit</a:t>
            </a:r>
          </a:p>
          <a:p>
            <a:r>
              <a:rPr lang="en-GB" dirty="0">
                <a:sym typeface="Wingdings" pitchFamily="2" charset="2"/>
              </a:rPr>
              <a:t>For many explanatory variables: forward vs. backward selection</a:t>
            </a:r>
          </a:p>
          <a:p>
            <a:endParaRPr lang="en-GB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4540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F3BF4F-7133-576E-AE65-1A3EF68D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Pros &amp; Cons of GAMs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3CE387-CFBA-E4CA-3E31-CC35DAB59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8FAC17-FB4E-5392-49FE-9387460124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Flexible approach</a:t>
            </a:r>
          </a:p>
          <a:p>
            <a:r>
              <a:rPr lang="en-GB" dirty="0"/>
              <a:t>No mechanistic prior knowledge </a:t>
            </a:r>
          </a:p>
          <a:p>
            <a:r>
              <a:rPr lang="en-GB" dirty="0"/>
              <a:t>Capture the shape of the relationship without prejudging</a:t>
            </a:r>
          </a:p>
          <a:p>
            <a:r>
              <a:rPr lang="en-GB" dirty="0"/>
              <a:t>Can also verify results of linear models</a:t>
            </a:r>
          </a:p>
          <a:p>
            <a:r>
              <a:rPr lang="en-GB" dirty="0"/>
              <a:t>Same error functions as GLMs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F887C6E-443D-D309-446B-3EA04EFCD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Cons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2AD2E1D-AAA8-468D-3DB6-CF490AAC278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Coefficients need to be graphically examined</a:t>
            </a:r>
          </a:p>
          <a:p>
            <a:r>
              <a:rPr lang="en-GB" dirty="0"/>
              <a:t>Not so easily transferrable</a:t>
            </a:r>
          </a:p>
          <a:p>
            <a:r>
              <a:rPr lang="en-GB" dirty="0"/>
              <a:t>Sensitive to gaps and outliers</a:t>
            </a:r>
          </a:p>
        </p:txBody>
      </p:sp>
    </p:spTree>
    <p:extLst>
      <p:ext uri="{BB962C8B-B14F-4D97-AF65-F5344CB8AC3E}">
        <p14:creationId xmlns:p14="http://schemas.microsoft.com/office/powerpoint/2010/main" val="1655295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A488E8-739C-3205-35C8-02E7F9DE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GAMs in 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36555A-31B2-2924-6E10-9C0CAA065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Package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mgcv</a:t>
            </a:r>
            <a:r>
              <a:rPr lang="en-GB" dirty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latin typeface="Courier"/>
                <a:cs typeface="Courier"/>
              </a:rPr>
              <a:t>gam(</a:t>
            </a:r>
            <a:r>
              <a:rPr lang="en-US" b="1" dirty="0" err="1">
                <a:latin typeface="Courier"/>
                <a:cs typeface="Courier"/>
              </a:rPr>
              <a:t>formula</a:t>
            </a:r>
            <a:r>
              <a:rPr lang="en-US" dirty="0" err="1">
                <a:latin typeface="Courier"/>
                <a:cs typeface="Courier"/>
              </a:rPr>
              <a:t>,family</a:t>
            </a:r>
            <a:r>
              <a:rPr lang="en-US" dirty="0">
                <a:latin typeface="Courier"/>
                <a:cs typeface="Courier"/>
              </a:rPr>
              <a:t>=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"/>
                <a:cs typeface="Courier"/>
              </a:rPr>
              <a:t>gaussian</a:t>
            </a:r>
            <a:r>
              <a:rPr lang="en-US" dirty="0">
                <a:latin typeface="Courier"/>
                <a:cs typeface="Courier"/>
              </a:rPr>
              <a:t>(),data=list(),</a:t>
            </a:r>
            <a:br>
              <a:rPr lang="en-US" dirty="0">
                <a:latin typeface="Courier"/>
                <a:cs typeface="Courier"/>
              </a:rPr>
            </a:br>
            <a:r>
              <a:rPr lang="en-US" dirty="0">
                <a:latin typeface="Courier"/>
                <a:cs typeface="Courier"/>
              </a:rPr>
              <a:t>	weights=NULL, subset=NULL, </a:t>
            </a:r>
            <a:r>
              <a:rPr lang="en-US" dirty="0" err="1">
                <a:latin typeface="Courier"/>
                <a:cs typeface="Courier"/>
              </a:rPr>
              <a:t>na.action</a:t>
            </a:r>
            <a:r>
              <a:rPr lang="en-US" dirty="0">
                <a:latin typeface="Courier"/>
                <a:cs typeface="Courier"/>
              </a:rPr>
              <a:t>, 	offset=NULL, method="</a:t>
            </a:r>
            <a:r>
              <a:rPr lang="en-US" dirty="0" err="1">
                <a:latin typeface="Courier"/>
                <a:cs typeface="Courier"/>
              </a:rPr>
              <a:t>GCV.Cp</a:t>
            </a:r>
            <a:r>
              <a:rPr lang="en-US" dirty="0">
                <a:latin typeface="Courier"/>
                <a:cs typeface="Courier"/>
              </a:rPr>
              <a:t>”, 	optimizer=c("</a:t>
            </a:r>
            <a:r>
              <a:rPr lang="en-US" dirty="0" err="1">
                <a:latin typeface="Courier"/>
                <a:cs typeface="Courier"/>
              </a:rPr>
              <a:t>outer","newton</a:t>
            </a:r>
            <a:r>
              <a:rPr lang="en-US" dirty="0">
                <a:latin typeface="Courier"/>
                <a:cs typeface="Courier"/>
              </a:rPr>
              <a:t>"),control=list(),</a:t>
            </a:r>
            <a:br>
              <a:rPr lang="en-US" dirty="0">
                <a:latin typeface="Courier"/>
                <a:cs typeface="Courier"/>
              </a:rPr>
            </a:br>
            <a:r>
              <a:rPr lang="en-US" dirty="0">
                <a:latin typeface="Courier"/>
                <a:cs typeface="Courier"/>
              </a:rPr>
              <a:t>	scale=0, select=</a:t>
            </a:r>
            <a:r>
              <a:rPr lang="en-US" dirty="0" err="1">
                <a:latin typeface="Courier"/>
                <a:cs typeface="Courier"/>
              </a:rPr>
              <a:t>FALSE,knots</a:t>
            </a:r>
            <a:r>
              <a:rPr lang="en-US" dirty="0">
                <a:latin typeface="Courier"/>
                <a:cs typeface="Courier"/>
              </a:rPr>
              <a:t>=NULL, </a:t>
            </a:r>
            <a:r>
              <a:rPr lang="en-US" dirty="0" err="1">
                <a:latin typeface="Courier"/>
                <a:cs typeface="Courier"/>
              </a:rPr>
              <a:t>sp</a:t>
            </a:r>
            <a:r>
              <a:rPr lang="en-US" dirty="0">
                <a:latin typeface="Courier"/>
                <a:cs typeface="Courier"/>
              </a:rPr>
              <a:t>=NULL, 	</a:t>
            </a:r>
            <a:r>
              <a:rPr lang="en-US" dirty="0" err="1">
                <a:latin typeface="Courier"/>
                <a:cs typeface="Courier"/>
              </a:rPr>
              <a:t>min.sp</a:t>
            </a:r>
            <a:r>
              <a:rPr lang="en-US" dirty="0">
                <a:latin typeface="Courier"/>
                <a:cs typeface="Courier"/>
              </a:rPr>
              <a:t>=NULL,H=</a:t>
            </a:r>
            <a:r>
              <a:rPr lang="en-US" dirty="0" err="1">
                <a:latin typeface="Courier"/>
                <a:cs typeface="Courier"/>
              </a:rPr>
              <a:t>NULL,gamma</a:t>
            </a:r>
            <a:r>
              <a:rPr lang="en-US" dirty="0">
                <a:latin typeface="Courier"/>
                <a:cs typeface="Courier"/>
              </a:rPr>
              <a:t>=1,fit=TRUE, 	</a:t>
            </a:r>
            <a:r>
              <a:rPr lang="en-US" dirty="0" err="1">
                <a:latin typeface="Courier"/>
                <a:cs typeface="Courier"/>
              </a:rPr>
              <a:t>paraPen</a:t>
            </a:r>
            <a:r>
              <a:rPr lang="en-US" dirty="0">
                <a:latin typeface="Courier"/>
                <a:cs typeface="Courier"/>
              </a:rPr>
              <a:t>=NULL, G=</a:t>
            </a:r>
            <a:r>
              <a:rPr lang="en-US" dirty="0" err="1">
                <a:latin typeface="Courier"/>
                <a:cs typeface="Courier"/>
              </a:rPr>
              <a:t>NULL,in.out</a:t>
            </a:r>
            <a:r>
              <a:rPr lang="en-US" dirty="0">
                <a:latin typeface="Courier"/>
                <a:cs typeface="Courier"/>
              </a:rPr>
              <a:t>,...)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Courier"/>
              <a:cs typeface="Courier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latin typeface="Courier"/>
                <a:cs typeface="Courier"/>
              </a:rPr>
              <a:t>formula(Y~</a:t>
            </a:r>
            <a:r>
              <a:rPr lang="en-US" b="1" dirty="0">
                <a:latin typeface="Courier"/>
                <a:cs typeface="Courier"/>
              </a:rPr>
              <a:t>s(X)</a:t>
            </a:r>
            <a:r>
              <a:rPr lang="en-US" dirty="0"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/>
                <a:cs typeface="Courier"/>
              </a:rPr>
              <a:t>s(X, </a:t>
            </a:r>
            <a:r>
              <a:rPr lang="en-US" b="1" dirty="0">
                <a:latin typeface="Courier"/>
                <a:cs typeface="Courier"/>
              </a:rPr>
              <a:t>k</a:t>
            </a:r>
            <a:r>
              <a:rPr lang="en-US" dirty="0">
                <a:latin typeface="Courier"/>
                <a:cs typeface="Courier"/>
              </a:rPr>
              <a:t>=</a:t>
            </a:r>
            <a:r>
              <a:rPr lang="en-US" b="1" dirty="0">
                <a:solidFill>
                  <a:srgbClr val="376092"/>
                </a:solidFill>
                <a:latin typeface="Courier"/>
                <a:cs typeface="Courier"/>
              </a:rPr>
              <a:t>-1</a:t>
            </a:r>
            <a:r>
              <a:rPr lang="en-US" dirty="0">
                <a:latin typeface="Courier"/>
                <a:cs typeface="Courier"/>
              </a:rPr>
              <a:t>,fx=</a:t>
            </a:r>
            <a:r>
              <a:rPr lang="en-US" dirty="0" err="1">
                <a:latin typeface="Courier"/>
                <a:cs typeface="Courier"/>
              </a:rPr>
              <a:t>FALSE,</a:t>
            </a:r>
            <a:r>
              <a:rPr lang="en-US" b="1" dirty="0" err="1">
                <a:latin typeface="Courier"/>
                <a:cs typeface="Courier"/>
              </a:rPr>
              <a:t>bs</a:t>
            </a:r>
            <a:r>
              <a:rPr lang="en-US" dirty="0">
                <a:latin typeface="Courier"/>
                <a:cs typeface="Courier"/>
              </a:rPr>
              <a:t>="</a:t>
            </a:r>
            <a:r>
              <a:rPr lang="en-US" b="1" dirty="0" err="1">
                <a:solidFill>
                  <a:srgbClr val="376092"/>
                </a:solidFill>
                <a:latin typeface="Courier"/>
                <a:cs typeface="Courier"/>
              </a:rPr>
              <a:t>tp</a:t>
            </a:r>
            <a:r>
              <a:rPr lang="en-US" dirty="0">
                <a:latin typeface="Courier"/>
                <a:cs typeface="Courier"/>
              </a:rPr>
              <a:t>",m=</a:t>
            </a:r>
            <a:r>
              <a:rPr lang="en-US" dirty="0" err="1">
                <a:latin typeface="Courier"/>
                <a:cs typeface="Courier"/>
              </a:rPr>
              <a:t>NA,by</a:t>
            </a:r>
            <a:r>
              <a:rPr lang="en-US" dirty="0">
                <a:latin typeface="Courier"/>
                <a:cs typeface="Courier"/>
              </a:rPr>
              <a:t>=</a:t>
            </a:r>
            <a:r>
              <a:rPr lang="en-US" dirty="0" err="1">
                <a:latin typeface="Courier"/>
                <a:cs typeface="Courier"/>
              </a:rPr>
              <a:t>NA,xt</a:t>
            </a:r>
            <a:r>
              <a:rPr lang="en-US" dirty="0">
                <a:latin typeface="Courier"/>
                <a:cs typeface="Courier"/>
              </a:rPr>
              <a:t>=NULL,</a:t>
            </a:r>
            <a:br>
              <a:rPr lang="en-US" dirty="0">
                <a:latin typeface="Courier"/>
                <a:cs typeface="Courier"/>
              </a:rPr>
            </a:br>
            <a:r>
              <a:rPr lang="en-US" dirty="0">
                <a:latin typeface="Courier"/>
                <a:cs typeface="Courier"/>
              </a:rPr>
              <a:t>	id=</a:t>
            </a:r>
            <a:r>
              <a:rPr lang="en-US" dirty="0" err="1">
                <a:latin typeface="Courier"/>
                <a:cs typeface="Courier"/>
              </a:rPr>
              <a:t>NULL,sp</a:t>
            </a:r>
            <a:r>
              <a:rPr lang="en-US" dirty="0">
                <a:latin typeface="Courier"/>
                <a:cs typeface="Courier"/>
              </a:rPr>
              <a:t>=NULL)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334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85A40-BA0F-6391-77BB-6553591A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GAMs in 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8FECF4-7795-E2F3-6F29-2ACEE13AF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Error structure comparable to GLMs</a:t>
            </a:r>
          </a:p>
          <a:p>
            <a:pPr lvl="1"/>
            <a:r>
              <a:rPr lang="en-GB" dirty="0"/>
              <a:t>Provided with the argument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family 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Gaussian is the default</a:t>
            </a:r>
          </a:p>
          <a:p>
            <a:r>
              <a:rPr lang="en-GB" dirty="0">
                <a:cs typeface="Courier New" panose="02070309020205020404" pitchFamily="49" charset="0"/>
              </a:rPr>
              <a:t>Use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gam.check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cs typeface="Courier New" panose="02070309020205020404" pitchFamily="49" charset="0"/>
              </a:rPr>
              <a:t>to get diagnostic plots</a:t>
            </a:r>
          </a:p>
          <a:p>
            <a:r>
              <a:rPr lang="en-GB" dirty="0">
                <a:cs typeface="Courier New" panose="02070309020205020404" pitchFamily="49" charset="0"/>
              </a:rPr>
              <a:t>The formula can contain non-parametric smoother functions and parametric coefficients at the same time:</a:t>
            </a:r>
          </a:p>
          <a:p>
            <a:pPr lvl="1"/>
            <a:endParaRPr lang="en-GB" dirty="0">
              <a:cs typeface="Courier New" panose="02070309020205020404" pitchFamily="49" charset="0"/>
            </a:endParaRP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EB01183D-897E-DD25-DA17-C83F0E91C900}"/>
              </a:ext>
            </a:extLst>
          </p:cNvPr>
          <p:cNvGrpSpPr>
            <a:grpSpLocks/>
          </p:cNvGrpSpPr>
          <p:nvPr/>
        </p:nvGrpSpPr>
        <p:grpSpPr bwMode="auto">
          <a:xfrm>
            <a:off x="1126807" y="4446587"/>
            <a:ext cx="8353425" cy="1076325"/>
            <a:chOff x="249" y="1064"/>
            <a:chExt cx="5262" cy="678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A0035CF2-D944-8AFC-E99D-D1F720C04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1509"/>
              <a:ext cx="5262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  <a:defRPr/>
              </a:pPr>
              <a:r>
                <a:rPr lang="en-GB" dirty="0" err="1">
                  <a:solidFill>
                    <a:srgbClr val="0000FF"/>
                  </a:solidFill>
                  <a:latin typeface="Courier" charset="0"/>
                  <a:cs typeface="+mn-cs"/>
                </a:rPr>
                <a:t>y~s</a:t>
              </a:r>
              <a:r>
                <a:rPr lang="en-GB" dirty="0">
                  <a:solidFill>
                    <a:srgbClr val="0000FF"/>
                  </a:solidFill>
                  <a:latin typeface="Courier" charset="0"/>
                  <a:cs typeface="+mn-cs"/>
                </a:rPr>
                <a:t>(x)+s(w)+s(z) </a:t>
              </a:r>
            </a:p>
          </p:txBody>
        </p:sp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8BE393AB-18DB-F142-14B5-ED50AE4A3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1064"/>
              <a:ext cx="5262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GB" sz="2000" dirty="0">
                  <a:latin typeface="Helvetica Neue"/>
                  <a:cs typeface="Helvetica Neue"/>
                </a:rPr>
                <a:t>Three continuous explanatory variables linked to Y through non-parametric smoothing functions:</a:t>
              </a:r>
            </a:p>
          </p:txBody>
        </p:sp>
      </p:grpSp>
      <p:grpSp>
        <p:nvGrpSpPr>
          <p:cNvPr id="7" name="Group 18">
            <a:extLst>
              <a:ext uri="{FF2B5EF4-FFF2-40B4-BE49-F238E27FC236}">
                <a16:creationId xmlns:a16="http://schemas.microsoft.com/office/drawing/2014/main" id="{C7AADB1A-0597-8283-FC80-6B1F7E6333A8}"/>
              </a:ext>
            </a:extLst>
          </p:cNvPr>
          <p:cNvGrpSpPr>
            <a:grpSpLocks/>
          </p:cNvGrpSpPr>
          <p:nvPr/>
        </p:nvGrpSpPr>
        <p:grpSpPr bwMode="auto">
          <a:xfrm>
            <a:off x="1126807" y="5751512"/>
            <a:ext cx="8353425" cy="1106488"/>
            <a:chOff x="249" y="1952"/>
            <a:chExt cx="5262" cy="697"/>
          </a:xfrm>
        </p:grpSpPr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942E1A07-DBF4-2E8F-0A95-E285B5D57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2416"/>
              <a:ext cx="5262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  <a:defRPr/>
              </a:pPr>
              <a:r>
                <a:rPr lang="en-GB" dirty="0" err="1">
                  <a:solidFill>
                    <a:srgbClr val="0000FF"/>
                  </a:solidFill>
                  <a:latin typeface="Courier" charset="0"/>
                  <a:cs typeface="+mn-cs"/>
                </a:rPr>
                <a:t>y~x+s</a:t>
              </a:r>
              <a:r>
                <a:rPr lang="en-GB" dirty="0">
                  <a:solidFill>
                    <a:srgbClr val="0000FF"/>
                  </a:solidFill>
                  <a:latin typeface="Courier" charset="0"/>
                  <a:cs typeface="+mn-cs"/>
                </a:rPr>
                <a:t>(w)+z 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DD0DC962-91B1-1D8D-BCFC-A346C4FD5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1952"/>
              <a:ext cx="5262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GB" sz="2000" dirty="0">
                  <a:latin typeface="Helvetica Neue"/>
                  <a:cs typeface="Helvetica Neue"/>
                </a:rPr>
                <a:t>Mix with parametric parameters and non-parametric smoothing functions: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671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3E2712-636F-A917-C899-55937CADB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in 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6756A-A528-5C7B-089C-81D3C6C8B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Isotope ratio of squids </a:t>
            </a:r>
          </a:p>
        </p:txBody>
      </p:sp>
    </p:spTree>
    <p:extLst>
      <p:ext uri="{BB962C8B-B14F-4D97-AF65-F5344CB8AC3E}">
        <p14:creationId xmlns:p14="http://schemas.microsoft.com/office/powerpoint/2010/main" val="3068537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A1DC2-D8ED-3953-7B04-B27A435A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 15 minutes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40B8EF1-3B4F-AB65-480F-746CB4FCA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1183" y="1795848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84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09594-EBD0-D9EE-3DA1-126F3EEC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exercise round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57BE724-C3DE-9E9D-0021-7412244A3C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Fit a non-linear regression to data set </a:t>
                </a:r>
                <a:r>
                  <a:rPr lang="en-GB" dirty="0" err="1"/>
                  <a:t>AHerringChile</a:t>
                </a:r>
                <a:r>
                  <a:rPr lang="en-GB" dirty="0"/>
                  <a:t> provided in the </a:t>
                </a:r>
                <a:r>
                  <a:rPr lang="en-GB" dirty="0" err="1"/>
                  <a:t>FSAdata</a:t>
                </a:r>
                <a:r>
                  <a:rPr lang="en-GB" dirty="0"/>
                  <a:t> package. Use the following function: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𝐿𝑒𝑛𝑔𝑡h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∗(1 −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dirty="0"/>
                  <a:t>Fit a GAM with one predictor variable to the data set </a:t>
                </a:r>
                <a:r>
                  <a:rPr lang="en-GB" dirty="0" err="1"/>
                  <a:t>HegerPierce.txt</a:t>
                </a:r>
                <a:r>
                  <a:rPr lang="en-GB" dirty="0"/>
                  <a:t>  using the variable Depth to predict the variable Sources (which represents pelagic bioluminescence) for one of the stations. Try also different types of splines and compare using AIC.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57BE724-C3DE-9E9D-0021-7412244A3C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58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D468E5-B2E9-25D6-06B0-DC35CD0C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GAMs with more variables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1A8063-B150-15D6-849D-B68F4BF1A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fixed and smoother terms to your formula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2E54E2EA-D7CC-92D4-3361-769C1AF56FFB}"/>
                  </a:ext>
                </a:extLst>
              </p:cNvPr>
              <p:cNvSpPr/>
              <p:nvPr/>
            </p:nvSpPr>
            <p:spPr>
              <a:xfrm>
                <a:off x="3230608" y="4001294"/>
                <a:ext cx="38381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𝐿𝑎𝑡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𝑀𝐿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de-DE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2E54E2EA-D7CC-92D4-3361-769C1AF56F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08" y="4001294"/>
                <a:ext cx="3838167" cy="369332"/>
              </a:xfrm>
              <a:prstGeom prst="rect">
                <a:avLst/>
              </a:prstGeom>
              <a:blipFill>
                <a:blip r:embed="rId2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7">
            <a:extLst>
              <a:ext uri="{FF2B5EF4-FFF2-40B4-BE49-F238E27FC236}">
                <a16:creationId xmlns:a16="http://schemas.microsoft.com/office/drawing/2014/main" id="{5E99DF70-F22B-BD8B-948C-BA3CCE05C48E}"/>
              </a:ext>
            </a:extLst>
          </p:cNvPr>
          <p:cNvSpPr txBox="1"/>
          <p:nvPr/>
        </p:nvSpPr>
        <p:spPr>
          <a:xfrm>
            <a:off x="4895065" y="4321820"/>
            <a:ext cx="486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rgbClr val="FF0000"/>
                </a:solidFill>
              </a:rPr>
              <a:t>fixed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3649170-18F0-A681-7BC4-E46932C58A3A}"/>
              </a:ext>
            </a:extLst>
          </p:cNvPr>
          <p:cNvSpPr txBox="1"/>
          <p:nvPr/>
        </p:nvSpPr>
        <p:spPr>
          <a:xfrm>
            <a:off x="5628946" y="4321819"/>
            <a:ext cx="1417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rgbClr val="FF0000"/>
                </a:solidFill>
              </a:rPr>
              <a:t>smoothing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function</a:t>
            </a:r>
            <a:endParaRPr 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0271F370-F4AF-1618-378A-01D6ACB554A7}"/>
                  </a:ext>
                </a:extLst>
              </p:cNvPr>
              <p:cNvSpPr/>
              <p:nvPr/>
            </p:nvSpPr>
            <p:spPr>
              <a:xfrm>
                <a:off x="3356983" y="2436594"/>
                <a:ext cx="27128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𝑀𝐿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de-DE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0271F370-F4AF-1618-378A-01D6ACB554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983" y="2436594"/>
                <a:ext cx="2712858" cy="369332"/>
              </a:xfrm>
              <a:prstGeom prst="rect">
                <a:avLst/>
              </a:prstGeom>
              <a:blipFill>
                <a:blip r:embed="rId3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CF425FF-1B3F-1E3D-B7BC-3C18CAF05A46}"/>
              </a:ext>
            </a:extLst>
          </p:cNvPr>
          <p:cNvCxnSpPr/>
          <p:nvPr/>
        </p:nvCxnSpPr>
        <p:spPr>
          <a:xfrm>
            <a:off x="5016137" y="2805926"/>
            <a:ext cx="0" cy="969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587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58723-BC29-87CB-4219-F7111EB8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AC3EC8D-4F16-EFA2-E66F-046F413ABE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917" b="4351"/>
          <a:stretch/>
        </p:blipFill>
        <p:spPr>
          <a:xfrm>
            <a:off x="174722" y="2735586"/>
            <a:ext cx="6237531" cy="2516856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579828D8-E146-EE14-BF83-7C8CB1EBAD25}"/>
              </a:ext>
            </a:extLst>
          </p:cNvPr>
          <p:cNvSpPr/>
          <p:nvPr/>
        </p:nvSpPr>
        <p:spPr>
          <a:xfrm>
            <a:off x="1201602" y="1903787"/>
            <a:ext cx="53282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Temperature ~ s(Year) + s(</a:t>
            </a:r>
            <a:r>
              <a:rPr lang="en-US" dirty="0" err="1"/>
              <a:t>nMonth</a:t>
            </a:r>
            <a:r>
              <a:rPr lang="en-US" dirty="0"/>
              <a:t>)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E896FDC-4D5D-FF53-2F1A-8963869AE3A0}"/>
              </a:ext>
            </a:extLst>
          </p:cNvPr>
          <p:cNvSpPr/>
          <p:nvPr/>
        </p:nvSpPr>
        <p:spPr>
          <a:xfrm>
            <a:off x="7834242" y="1811024"/>
            <a:ext cx="3192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Temperature ~ s(Year, </a:t>
            </a:r>
            <a:r>
              <a:rPr lang="en-US" dirty="0" err="1"/>
              <a:t>nMonth</a:t>
            </a:r>
            <a:r>
              <a:rPr lang="en-US" dirty="0"/>
              <a:t>)</a:t>
            </a: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BF02B344-0F08-D3E6-34C2-D87855F73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385" y="2088453"/>
            <a:ext cx="5369893" cy="381112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9705758-4768-D5EB-48D0-1749EFAC6746}"/>
              </a:ext>
            </a:extLst>
          </p:cNvPr>
          <p:cNvSpPr txBox="1"/>
          <p:nvPr/>
        </p:nvSpPr>
        <p:spPr>
          <a:xfrm>
            <a:off x="2325189" y="1605558"/>
            <a:ext cx="1153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Unnested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CC93B8C-F1D3-B712-1636-AC65CFFE54D7}"/>
              </a:ext>
            </a:extLst>
          </p:cNvPr>
          <p:cNvSpPr txBox="1"/>
          <p:nvPr/>
        </p:nvSpPr>
        <p:spPr>
          <a:xfrm>
            <a:off x="8538754" y="1520238"/>
            <a:ext cx="906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Nested</a:t>
            </a:r>
          </a:p>
        </p:txBody>
      </p:sp>
    </p:spTree>
    <p:extLst>
      <p:ext uri="{BB962C8B-B14F-4D97-AF65-F5344CB8AC3E}">
        <p14:creationId xmlns:p14="http://schemas.microsoft.com/office/powerpoint/2010/main" val="278683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2FCA6B-5578-D950-816F-7D267FC0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advanced techniques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283378-3CD7-7815-F7E3-43C09464A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GAMMs = generalized additive mixed models</a:t>
            </a:r>
          </a:p>
          <a:p>
            <a:pPr lvl="1"/>
            <a:r>
              <a:rPr lang="en-GB" dirty="0"/>
              <a:t>Useful for autocorrelated data</a:t>
            </a:r>
          </a:p>
          <a:p>
            <a:pPr lvl="1"/>
            <a:r>
              <a:rPr lang="en-GB" dirty="0"/>
              <a:t>Implemented in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mgcv</a:t>
            </a:r>
            <a:r>
              <a:rPr lang="en-GB" dirty="0"/>
              <a:t> package </a:t>
            </a:r>
          </a:p>
          <a:p>
            <a:r>
              <a:rPr lang="en-GB" dirty="0" err="1"/>
              <a:t>tGAMs</a:t>
            </a:r>
            <a:r>
              <a:rPr lang="en-GB" dirty="0"/>
              <a:t> = threshold GAMs</a:t>
            </a:r>
          </a:p>
          <a:p>
            <a:pPr lvl="1"/>
            <a:r>
              <a:rPr lang="en-GB" dirty="0"/>
              <a:t>Either use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by =</a:t>
            </a:r>
            <a:r>
              <a:rPr lang="en-GB" dirty="0"/>
              <a:t> argument in the smoothing formula</a:t>
            </a:r>
          </a:p>
          <a:p>
            <a:pPr lvl="1"/>
            <a:r>
              <a:rPr lang="en-GB" dirty="0"/>
              <a:t>Or use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thresh_gam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function form the package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INDperform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97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2D343-F3AD-3EEF-79F5-C0DC393A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in R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5A71E0C-1099-985F-48DB-06B2978D3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Temperature from 1659 to today</a:t>
            </a:r>
          </a:p>
          <a:p>
            <a:r>
              <a:rPr lang="en-GB" dirty="0"/>
              <a:t>Data from Hadley Centre</a:t>
            </a:r>
          </a:p>
        </p:txBody>
      </p:sp>
    </p:spTree>
    <p:extLst>
      <p:ext uri="{BB962C8B-B14F-4D97-AF65-F5344CB8AC3E}">
        <p14:creationId xmlns:p14="http://schemas.microsoft.com/office/powerpoint/2010/main" val="2763206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8D5089-EB75-AA7B-4EB4-6D90961A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 15 minutes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0DA2C62-C335-438E-72C7-41B441575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9114" y="1690688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93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120B08-1161-8EE3-043E-1CDFC3AA5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745725-B900-6F7C-D5C6-2D9780FAE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again the Heger Pierce data</a:t>
            </a:r>
          </a:p>
          <a:p>
            <a:pPr lvl="1"/>
            <a:r>
              <a:rPr lang="en-GB" dirty="0"/>
              <a:t>Sources is the response variable</a:t>
            </a:r>
          </a:p>
          <a:p>
            <a:pPr lvl="1"/>
            <a:r>
              <a:rPr lang="en-GB" dirty="0"/>
              <a:t>Add Stations as a fixed factor term (actually convert the Stations variable to a factor!)</a:t>
            </a:r>
          </a:p>
          <a:p>
            <a:pPr lvl="1"/>
            <a:r>
              <a:rPr lang="en-GB" dirty="0"/>
              <a:t>Try other variables of your choice and compare your models</a:t>
            </a:r>
          </a:p>
          <a:p>
            <a:pPr lvl="1"/>
            <a:r>
              <a:rPr lang="en-GB" dirty="0"/>
              <a:t>Try also unnested and nested interactions</a:t>
            </a:r>
          </a:p>
        </p:txBody>
      </p:sp>
    </p:spTree>
    <p:extLst>
      <p:ext uri="{BB962C8B-B14F-4D97-AF65-F5344CB8AC3E}">
        <p14:creationId xmlns:p14="http://schemas.microsoft.com/office/powerpoint/2010/main" val="33381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1395</Words>
  <Application>Microsoft Macintosh PowerPoint</Application>
  <PresentationFormat>Breitbild</PresentationFormat>
  <Paragraphs>203</Paragraphs>
  <Slides>30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Courier</vt:lpstr>
      <vt:lpstr>Courier New</vt:lpstr>
      <vt:lpstr>Helvetica Neue</vt:lpstr>
      <vt:lpstr>Wingdings</vt:lpstr>
      <vt:lpstr>Office</vt:lpstr>
      <vt:lpstr>Generalized additive models and non-linear regressions</vt:lpstr>
      <vt:lpstr>What to do when data is non-linear?</vt:lpstr>
      <vt:lpstr>Short recap of the different approaches</vt:lpstr>
      <vt:lpstr>Non-linear regressions</vt:lpstr>
      <vt:lpstr>Non-linear regressions</vt:lpstr>
      <vt:lpstr>Non-linear regressions – Example</vt:lpstr>
      <vt:lpstr>Example in R </vt:lpstr>
      <vt:lpstr>Generalized additive models – GAMs</vt:lpstr>
      <vt:lpstr>What is smoothing?</vt:lpstr>
      <vt:lpstr>Moving window smoothers</vt:lpstr>
      <vt:lpstr>Regression splines</vt:lpstr>
      <vt:lpstr>Influencing parameters – Knots</vt:lpstr>
      <vt:lpstr>Influencing parameters – Type of basis function</vt:lpstr>
      <vt:lpstr>EDFs – Measure smoothness</vt:lpstr>
      <vt:lpstr>Cross validation</vt:lpstr>
      <vt:lpstr>Model validation</vt:lpstr>
      <vt:lpstr>Diagnostic plots</vt:lpstr>
      <vt:lpstr>Model selection</vt:lpstr>
      <vt:lpstr>Pros &amp; Cons of GAMs</vt:lpstr>
      <vt:lpstr>GAMs in R</vt:lpstr>
      <vt:lpstr>GAMs in R</vt:lpstr>
      <vt:lpstr>Example in R</vt:lpstr>
      <vt:lpstr>Break 15 minutes</vt:lpstr>
      <vt:lpstr>First exercise round</vt:lpstr>
      <vt:lpstr>GAMs with more variables</vt:lpstr>
      <vt:lpstr>Interactions</vt:lpstr>
      <vt:lpstr>More advanced techniques</vt:lpstr>
      <vt:lpstr>Example in R </vt:lpstr>
      <vt:lpstr>Break 15 minutes</vt:lpstr>
      <vt:lpstr>Exercise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Helene Gutte</dc:creator>
  <cp:lastModifiedBy>Helene Gutte</cp:lastModifiedBy>
  <cp:revision>14</cp:revision>
  <dcterms:created xsi:type="dcterms:W3CDTF">2026-06-01T09:11:24Z</dcterms:created>
  <dcterms:modified xsi:type="dcterms:W3CDTF">2026-06-16T17:10:10Z</dcterms:modified>
</cp:coreProperties>
</file>