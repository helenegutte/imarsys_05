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9" r:id="rId10"/>
    <p:sldId id="270" r:id="rId11"/>
    <p:sldId id="264" r:id="rId12"/>
    <p:sldId id="267" r:id="rId13"/>
    <p:sldId id="268" r:id="rId14"/>
    <p:sldId id="265" r:id="rId15"/>
    <p:sldId id="266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41"/>
    <p:restoredTop sz="96371"/>
  </p:normalViewPr>
  <p:slideViewPr>
    <p:cSldViewPr snapToGrid="0">
      <p:cViewPr>
        <p:scale>
          <a:sx n="90" d="100"/>
          <a:sy n="90" d="100"/>
        </p:scale>
        <p:origin x="208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03A1-BDC1-41E9-B108-3C1688DED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C5B80-234C-7D9F-4F9B-4E27247D8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93A39-E323-B0FE-ADB3-580139B3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1DA0D-C85F-646D-88FE-CA409A4B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78DF6-A49F-63CF-B6F3-02A3E32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17007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1438-3EF4-1429-B816-A9C0D419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93A7C-AE97-D344-26EB-86961D3A5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5D8DF-1A2B-C2A5-E0A1-22FFAFE9A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7431-F1B5-DFF5-84D2-943847D9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C9350-3E5C-FFE7-A403-A7423EFE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671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EC38-721D-7D86-1723-81A34AEC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5D680-795B-6A7F-38E3-59CE754A6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8713C-3760-501C-0196-7097663E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893A7-6340-73C5-780E-3F02B704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A72EF-796A-AB1D-2720-6B92A5A7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65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1D50-7383-07CE-A81A-81080981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718F1-BC82-FAB9-1720-3D22345F6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D5B16-D924-696B-2543-BF7B6944E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3F136-77B1-ED7E-6CAC-C6D1A300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5289E-0156-AFDD-414F-941F39473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52EFB-8833-48F1-0D81-6108323E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227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B3A3-4734-8CC8-8B91-47C45C58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FCE53-FAFC-FC13-41E0-43AC1E6C6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5C812-0954-D29E-CF76-E67CFB26F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2DF89-BB57-250C-16D5-E1931BEC6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CB23C-FA16-97EB-E9D6-1962BA4A5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39FDD-8B38-B032-E642-1B68BBC5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15C82-D21F-29BC-4AC4-2CFFE881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FEE976-AF33-2A82-0169-4E87195F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789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3224-6EE4-0DFA-BBCB-39058CF2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2D8DB-E3F2-177D-2DBD-37641F9B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37A51-EE39-56EE-F812-CDF99C2F4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BBCFA-807D-DE27-88A3-8CFE9393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593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231A8-F915-EC34-2C82-E3B23FED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C7CA7-8AB7-9BDE-384F-2283561C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09AE2-8473-8779-459C-C87F41C5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552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60351-5DCE-63F7-1933-520D29CD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56595-1E56-F033-B2C5-1043715A2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5E1FD-BC49-E7AE-7B7B-B2C4C023C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3B7F-6E40-E0C7-5957-4D3BA4BF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72DF2-901D-B6C8-6F10-B1374DE7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3CA00-4B08-0E11-91B1-10A683AC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287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3065-AC61-8E0A-EFF9-B8B6B790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7652C-B37A-63E2-69C4-7DC906880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E41D6-613E-1729-3800-A7536F67C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A7739-550D-AAFC-B932-F014D073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7BBCD-FEB3-8EAE-BDDC-D54B9148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61A75-2DA2-3B71-61FC-43A97EF4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732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AC0F4-679A-96D4-61FC-86FAC9EB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F1439-F7DB-826D-0C59-8E5D8F9E8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A8AB0-AA3F-1F2F-8803-3E84FE5F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2D5C9-835B-220C-2659-6666F80A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A3B02-0F23-6708-709C-9A949CC6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5089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050068-7371-A98D-5B2F-181B10DCA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05117-97FC-C891-B3FE-53AD029AF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E9A43-6DB5-133E-75D2-A62F754C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C8539-A822-CE48-0AC1-B2F3AAFC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D0147-0FE2-8D3E-AA3A-89717476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66086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FFC52-474D-A294-56D1-E01676A6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E0B48-DE55-A85F-A6DD-E4DF25269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5D798-B663-09DE-9E91-C5FB876C1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8F6E7-5BA6-7448-8B4F-9FE6BEB75A7F}" type="datetimeFigureOut">
              <a:rPr lang="en-DE" smtClean="0"/>
              <a:t>29.04.26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5954C-6E7A-9D8A-5A39-8DF4E3C7B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88F8B-69FF-4242-ECAB-D327075C1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168B0-2C8B-854F-AA90-C753E04B13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845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engineering/heteroscedasticity#:~:text=Heteroscedasticity%20refers%20to%20the%20change%20of%20variance,increasing%20the%20mean%20(Choudhary%20and%20Nagaraja%2C%202017)." TargetMode="External"/><Relationship Id="rId2" Type="http://schemas.openxmlformats.org/officeDocument/2006/relationships/hyperlink" Target="https://www.statology.org/good-vs-bad-residual-plo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line.stat.psu.edu/stat462/node/95/" TargetMode="External"/><Relationship Id="rId5" Type="http://schemas.openxmlformats.org/officeDocument/2006/relationships/hyperlink" Target="https://online.stat.psu.edu/stat462/node/118/" TargetMode="External"/><Relationship Id="rId4" Type="http://schemas.openxmlformats.org/officeDocument/2006/relationships/hyperlink" Target="https://online.stat.psu.edu/stat462/node/12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3DB4-BDFD-C98F-1468-72C85DA3B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Linear Models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265388D0-4A58-70AA-1A84-ED25AB32F6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i-MARSYS-05, 29.04.2026</a:t>
            </a:r>
          </a:p>
        </p:txBody>
      </p:sp>
    </p:spTree>
    <p:extLst>
      <p:ext uri="{BB962C8B-B14F-4D97-AF65-F5344CB8AC3E}">
        <p14:creationId xmlns:p14="http://schemas.microsoft.com/office/powerpoint/2010/main" val="3028169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59AE-4C9C-7513-523C-DEEA0E21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Why to useLinear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97EF-16E4-8D8A-0124-241036E90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To estimate a relationship between two variables that can be used for prediction.</a:t>
            </a:r>
          </a:p>
          <a:p>
            <a:endParaRPr lang="en-DE" dirty="0"/>
          </a:p>
          <a:p>
            <a:r>
              <a:rPr lang="en-DE" dirty="0"/>
              <a:t>Types of variables- </a:t>
            </a:r>
          </a:p>
          <a:p>
            <a:pPr lvl="1"/>
            <a:r>
              <a:rPr lang="en-DE" dirty="0"/>
              <a:t>Response variable</a:t>
            </a:r>
          </a:p>
          <a:p>
            <a:pPr lvl="1"/>
            <a:r>
              <a:rPr lang="en-DE" dirty="0"/>
              <a:t>Explanatory / predictor variable</a:t>
            </a:r>
          </a:p>
          <a:p>
            <a:pPr lvl="1"/>
            <a:endParaRPr lang="en-DE" dirty="0"/>
          </a:p>
          <a:p>
            <a:r>
              <a:rPr lang="en-DE" dirty="0"/>
              <a:t>Data type- continuous values</a:t>
            </a:r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marL="457200" lvl="1" indent="0">
              <a:buNone/>
            </a:pPr>
            <a:endParaRPr lang="en-DE" dirty="0"/>
          </a:p>
          <a:p>
            <a:pPr lvl="1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2790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F052-BF8E-6F03-7EBF-5CD6284E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</a:rPr>
              <a:t>What is Simple Linear Regression?</a:t>
            </a:r>
            <a:br>
              <a:rPr lang="en-GB" b="0" i="0" u="none" strike="noStrike" dirty="0">
                <a:effectLst/>
              </a:rPr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07802-45D2-7500-D9CD-2BDBECBA7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47" y="1284270"/>
            <a:ext cx="11014753" cy="4892693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</a:rPr>
              <a:t>Relates one continuous response Y to one predictor X via a linear function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4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</a:rPr>
              <a:t>Partitions Y into a systematic component E[Y|X] and random noise </a:t>
            </a:r>
            <a:r>
              <a:rPr lang="el-GR" sz="2400" b="0" i="0" u="none" strike="noStrike" dirty="0">
                <a:effectLst/>
              </a:rPr>
              <a:t>ε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4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</a:rPr>
              <a:t>Makes inference about the population parameter </a:t>
            </a:r>
            <a:r>
              <a:rPr lang="el-GR" sz="2400" b="0" i="0" u="none" strike="noStrike" dirty="0">
                <a:effectLst/>
              </a:rPr>
              <a:t>β₁ </a:t>
            </a:r>
            <a:r>
              <a:rPr lang="en-GB" sz="2400" b="0" i="0" u="none" strike="noStrike" dirty="0">
                <a:effectLst/>
              </a:rPr>
              <a:t>from sample data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4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effectLst/>
              </a:rPr>
              <a:t>Foundation for multiple regression, GLMs, and mixed-effects models</a:t>
            </a:r>
          </a:p>
          <a:p>
            <a:pPr marL="0" indent="0" algn="l">
              <a:buNone/>
            </a:pPr>
            <a:endParaRPr lang="en-GB" sz="2400" dirty="0"/>
          </a:p>
          <a:p>
            <a:pPr algn="l"/>
            <a:r>
              <a:rPr lang="en-GB" sz="2400" b="0" i="0" u="none" strike="noStrike" dirty="0">
                <a:effectLst/>
              </a:rPr>
              <a:t>Why "simple"?</a:t>
            </a:r>
          </a:p>
          <a:p>
            <a:pPr marL="0" indent="0" algn="l">
              <a:buNone/>
            </a:pPr>
            <a:r>
              <a:rPr lang="en-GB" sz="2400" b="0" i="0" u="none" strike="noStrike" dirty="0">
                <a:solidFill>
                  <a:srgbClr val="7030A0"/>
                </a:solidFill>
                <a:effectLst/>
              </a:rPr>
              <a:t>One predictor only. "Linear" refers to linearity in the </a:t>
            </a:r>
            <a:r>
              <a:rPr lang="en-GB" sz="2400" b="0" i="1" u="none" strike="noStrike" dirty="0">
                <a:solidFill>
                  <a:srgbClr val="7030A0"/>
                </a:solidFill>
                <a:effectLst/>
              </a:rPr>
              <a:t>parameters</a:t>
            </a:r>
            <a:r>
              <a:rPr lang="en-GB" sz="2400" b="0" i="0" u="none" strike="noStrike" dirty="0">
                <a:solidFill>
                  <a:srgbClr val="7030A0"/>
                </a:solidFill>
                <a:effectLst/>
              </a:rPr>
              <a:t>(</a:t>
            </a:r>
            <a:r>
              <a:rPr lang="el-GR" sz="2400" b="0" i="0" u="none" strike="noStrike" dirty="0">
                <a:solidFill>
                  <a:srgbClr val="7030A0"/>
                </a:solidFill>
                <a:effectLst/>
              </a:rPr>
              <a:t>β₀, β₁), </a:t>
            </a:r>
            <a:r>
              <a:rPr lang="en-GB" sz="2400" b="0" i="0" u="none" strike="noStrike" dirty="0">
                <a:solidFill>
                  <a:srgbClr val="7030A0"/>
                </a:solidFill>
                <a:effectLst/>
              </a:rPr>
              <a:t>not necessarily in X — so log(X) as a predictor is still a linear model.</a:t>
            </a:r>
          </a:p>
          <a:p>
            <a:endParaRPr lang="en-DE" sz="2400" dirty="0"/>
          </a:p>
        </p:txBody>
      </p:sp>
    </p:spTree>
    <p:extLst>
      <p:ext uri="{BB962C8B-B14F-4D97-AF65-F5344CB8AC3E}">
        <p14:creationId xmlns:p14="http://schemas.microsoft.com/office/powerpoint/2010/main" val="64573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D586-584B-4719-D518-548D080C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</a:rPr>
              <a:t>Notation and parameter meaning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F5212-31B0-7FBD-2AA5-E8987B94571A}"/>
              </a:ext>
            </a:extLst>
          </p:cNvPr>
          <p:cNvSpPr txBox="1"/>
          <p:nvPr/>
        </p:nvSpPr>
        <p:spPr>
          <a:xfrm>
            <a:off x="4024901" y="3244334"/>
            <a:ext cx="32081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Y = </a:t>
            </a:r>
            <a:r>
              <a:rPr lang="el-GR" sz="2800" dirty="0"/>
              <a:t>β₀ + β₁</a:t>
            </a:r>
            <a:r>
              <a:rPr lang="en-GB" sz="2800" dirty="0"/>
              <a:t>X + </a:t>
            </a:r>
            <a:r>
              <a:rPr lang="el-GR" sz="2800" dirty="0"/>
              <a:t>ε</a:t>
            </a:r>
            <a:endParaRPr lang="de-DE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AB5EB-4260-A91C-0406-0BAFA5EEA9E7}"/>
              </a:ext>
            </a:extLst>
          </p:cNvPr>
          <p:cNvSpPr txBox="1"/>
          <p:nvPr/>
        </p:nvSpPr>
        <p:spPr>
          <a:xfrm>
            <a:off x="770805" y="2144345"/>
            <a:ext cx="3254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Response variable</a:t>
            </a:r>
          </a:p>
          <a:p>
            <a:r>
              <a:rPr lang="en-GB" b="0" i="0" u="none" strike="noStrike" dirty="0">
                <a:solidFill>
                  <a:srgbClr val="7030A0"/>
                </a:solidFill>
                <a:effectLst/>
                <a:latin typeface="Anthropic Sans"/>
              </a:rPr>
              <a:t>The outcome we model; random</a:t>
            </a:r>
            <a:endParaRPr lang="en-DE" dirty="0">
              <a:solidFill>
                <a:srgbClr val="7030A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A5EFBF-93BD-CF82-B95F-0BF31763D35B}"/>
              </a:ext>
            </a:extLst>
          </p:cNvPr>
          <p:cNvCxnSpPr/>
          <p:nvPr/>
        </p:nvCxnSpPr>
        <p:spPr>
          <a:xfrm>
            <a:off x="3390472" y="2883445"/>
            <a:ext cx="634429" cy="465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2F76A8-4FD8-5405-0662-F058C30420D5}"/>
              </a:ext>
            </a:extLst>
          </p:cNvPr>
          <p:cNvSpPr txBox="1"/>
          <p:nvPr/>
        </p:nvSpPr>
        <p:spPr>
          <a:xfrm>
            <a:off x="6438152" y="2038912"/>
            <a:ext cx="2420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Predictor</a:t>
            </a:r>
          </a:p>
          <a:p>
            <a:r>
              <a:rPr lang="en-DE" dirty="0"/>
              <a:t>Explanatory variable</a:t>
            </a:r>
          </a:p>
          <a:p>
            <a:r>
              <a:rPr lang="en-GB" b="0" i="0" u="none" strike="noStrike" dirty="0">
                <a:solidFill>
                  <a:srgbClr val="7030A0"/>
                </a:solidFill>
                <a:effectLst/>
                <a:latin typeface="Anthropic Sans"/>
              </a:rPr>
              <a:t>may be fixed or random</a:t>
            </a:r>
            <a:endParaRPr lang="en-DE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F3CAF3-ED60-D2D2-F5A5-AA6F6488B218}"/>
              </a:ext>
            </a:extLst>
          </p:cNvPr>
          <p:cNvSpPr txBox="1"/>
          <p:nvPr/>
        </p:nvSpPr>
        <p:spPr>
          <a:xfrm>
            <a:off x="851984" y="4364595"/>
            <a:ext cx="3865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0" i="0" u="none" strike="noStrike" dirty="0">
                <a:effectLst/>
                <a:latin typeface="Anthropic Sans"/>
              </a:rPr>
              <a:t>Intercept</a:t>
            </a:r>
          </a:p>
          <a:p>
            <a:pPr algn="l"/>
            <a:r>
              <a:rPr lang="en-GB" b="0" i="0" u="none" strike="noStrike" dirty="0">
                <a:solidFill>
                  <a:srgbClr val="7030A0"/>
                </a:solidFill>
                <a:effectLst/>
                <a:latin typeface="Anthropic Sans"/>
              </a:rPr>
              <a:t>E[Y] when X = 0; not always meaningful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DF6E3C-5701-AF20-470F-24760AC18DBF}"/>
              </a:ext>
            </a:extLst>
          </p:cNvPr>
          <p:cNvSpPr txBox="1"/>
          <p:nvPr/>
        </p:nvSpPr>
        <p:spPr>
          <a:xfrm>
            <a:off x="4981753" y="4666992"/>
            <a:ext cx="2912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effectLst/>
                <a:latin typeface="Anthropic Sans"/>
              </a:rPr>
              <a:t>Slope</a:t>
            </a:r>
          </a:p>
          <a:p>
            <a:pPr algn="l"/>
            <a:r>
              <a:rPr lang="en-GB" b="0" i="0" u="none" strike="noStrike" dirty="0">
                <a:solidFill>
                  <a:srgbClr val="7030A0"/>
                </a:solidFill>
                <a:effectLst/>
                <a:latin typeface="Anthropic Sans"/>
              </a:rPr>
              <a:t>Change in E[Y] per unit increase in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9447B-37E9-3A01-1115-4AEF2945A182}"/>
              </a:ext>
            </a:extLst>
          </p:cNvPr>
          <p:cNvSpPr txBox="1"/>
          <p:nvPr/>
        </p:nvSpPr>
        <p:spPr>
          <a:xfrm>
            <a:off x="7315292" y="3461570"/>
            <a:ext cx="42578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l-GR" b="0" i="0" u="none" strike="noStrike" dirty="0">
                <a:effectLst/>
                <a:latin typeface="var(--font-mono)"/>
              </a:rPr>
              <a:t>ε</a:t>
            </a:r>
          </a:p>
          <a:p>
            <a:pPr algn="l"/>
            <a:r>
              <a:rPr lang="en-GB" b="0" i="0" u="none" strike="noStrike" dirty="0">
                <a:effectLst/>
                <a:latin typeface="Anthropic Sans"/>
              </a:rPr>
              <a:t>Error term</a:t>
            </a:r>
          </a:p>
          <a:p>
            <a:pPr algn="l"/>
            <a:r>
              <a:rPr lang="en-GB" b="0" i="0" u="none" strike="noStrike" dirty="0">
                <a:solidFill>
                  <a:srgbClr val="7030A0"/>
                </a:solidFill>
                <a:effectLst/>
                <a:latin typeface="Anthropic Sans"/>
              </a:rPr>
              <a:t>All unmodelled variation; </a:t>
            </a:r>
            <a:r>
              <a:rPr lang="el-GR" b="0" i="0" u="none" strike="noStrike" dirty="0">
                <a:solidFill>
                  <a:srgbClr val="7030A0"/>
                </a:solidFill>
                <a:effectLst/>
                <a:latin typeface="Anthropic Sans"/>
              </a:rPr>
              <a:t>ε ~ </a:t>
            </a:r>
            <a:r>
              <a:rPr lang="en-GB" b="0" i="0" u="none" strike="noStrike" dirty="0">
                <a:solidFill>
                  <a:srgbClr val="7030A0"/>
                </a:solidFill>
                <a:effectLst/>
                <a:latin typeface="Anthropic Sans"/>
              </a:rPr>
              <a:t>N(0, </a:t>
            </a:r>
            <a:r>
              <a:rPr lang="el-GR" b="0" i="0" u="none" strike="noStrike" dirty="0">
                <a:solidFill>
                  <a:srgbClr val="7030A0"/>
                </a:solidFill>
                <a:effectLst/>
                <a:latin typeface="Anthropic Sans"/>
              </a:rPr>
              <a:t>σ²)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036740-3A81-6C26-0379-5CE9EDF852D8}"/>
              </a:ext>
            </a:extLst>
          </p:cNvPr>
          <p:cNvCxnSpPr>
            <a:cxnSpLocks/>
          </p:cNvCxnSpPr>
          <p:nvPr/>
        </p:nvCxnSpPr>
        <p:spPr>
          <a:xfrm flipV="1">
            <a:off x="3370023" y="3663176"/>
            <a:ext cx="1145186" cy="883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F564F9-4CDC-CE58-E4AE-4032002D7CCF}"/>
              </a:ext>
            </a:extLst>
          </p:cNvPr>
          <p:cNvCxnSpPr>
            <a:cxnSpLocks/>
          </p:cNvCxnSpPr>
          <p:nvPr/>
        </p:nvCxnSpPr>
        <p:spPr>
          <a:xfrm flipH="1">
            <a:off x="5753849" y="2779139"/>
            <a:ext cx="684303" cy="488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AAC4F2-DACD-D468-6B11-37773A56C7C5}"/>
              </a:ext>
            </a:extLst>
          </p:cNvPr>
          <p:cNvCxnSpPr>
            <a:cxnSpLocks/>
          </p:cNvCxnSpPr>
          <p:nvPr/>
        </p:nvCxnSpPr>
        <p:spPr>
          <a:xfrm flipV="1">
            <a:off x="5380745" y="3758932"/>
            <a:ext cx="0" cy="92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8D378F-130A-B09A-1E02-23B2F13D619D}"/>
              </a:ext>
            </a:extLst>
          </p:cNvPr>
          <p:cNvCxnSpPr>
            <a:cxnSpLocks/>
          </p:cNvCxnSpPr>
          <p:nvPr/>
        </p:nvCxnSpPr>
        <p:spPr>
          <a:xfrm flipH="1" flipV="1">
            <a:off x="6438152" y="3625916"/>
            <a:ext cx="794855" cy="280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34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7BAF-762F-936A-1100-86E14BEC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Plotting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F2B1B-D8E2-A4D9-ED47-31B8A6B32572}"/>
              </a:ext>
            </a:extLst>
          </p:cNvPr>
          <p:cNvSpPr txBox="1"/>
          <p:nvPr/>
        </p:nvSpPr>
        <p:spPr>
          <a:xfrm>
            <a:off x="3405809" y="630820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 dirty="0"/>
              <a:t>model &lt;- lm(Hardness ~ Density, data = data)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9CAF8-61D9-65AA-9B9F-7F42EB1D5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140" y="1690688"/>
            <a:ext cx="8944556" cy="457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94A2C-CB0C-1112-C010-87014E711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Standard regression intercept (the value of y for x =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26A34-FA21-0FCC-B831-E645A1022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The density coefficient tells us the increase in hardness for every unit increase in wood density.</a:t>
            </a:r>
          </a:p>
          <a:p>
            <a:r>
              <a:rPr lang="en-DE" dirty="0"/>
              <a:t>R calculates the fitted values (predictions) by combining these estimates of the coefficients with the model matrix.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E0C92-440B-5B40-A046-E4346BF8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576" y="4001294"/>
            <a:ext cx="25781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6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1A7E-AC20-2C67-B27F-011BF657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B4B23C-95AA-7A01-C22B-AE7E2508B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5382"/>
            <a:ext cx="763536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55AEE2-E843-08F2-CA01-538F885D4528}"/>
              </a:ext>
            </a:extLst>
          </p:cNvPr>
          <p:cNvSpPr txBox="1"/>
          <p:nvPr/>
        </p:nvSpPr>
        <p:spPr>
          <a:xfrm>
            <a:off x="8473566" y="2650435"/>
            <a:ext cx="3233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Difference between the observed and fitted values</a:t>
            </a:r>
          </a:p>
        </p:txBody>
      </p:sp>
    </p:spTree>
    <p:extLst>
      <p:ext uri="{BB962C8B-B14F-4D97-AF65-F5344CB8AC3E}">
        <p14:creationId xmlns:p14="http://schemas.microsoft.com/office/powerpoint/2010/main" val="211549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2DF9-4C4C-0338-246C-BFDA269B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Intercepts in linear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679234-04D6-EF5F-3074-C0972597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44" y="1690688"/>
            <a:ext cx="66548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D5F6-CEDF-EF72-1C4D-FF77DABC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 Coefficient of Determination, r-squared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endParaRPr lang="en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A5434C-9F00-85B9-4F1B-B899C5D26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2211301"/>
            <a:ext cx="4033839" cy="31401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0F6595-2CAB-C565-F12E-090B45FD4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60" y="1287891"/>
            <a:ext cx="11909725" cy="8055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610A07-A44C-7625-D352-8E42CC0D1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813" y="2389187"/>
            <a:ext cx="4159250" cy="20796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864C414-EA5F-25CC-EE87-525830C4D196}"/>
              </a:ext>
            </a:extLst>
          </p:cNvPr>
          <p:cNvSpPr txBox="1"/>
          <p:nvPr/>
        </p:nvSpPr>
        <p:spPr>
          <a:xfrm>
            <a:off x="509584" y="5622678"/>
            <a:ext cx="118014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"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coefficient of determination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" or "</a:t>
            </a:r>
            <a:r>
              <a:rPr lang="en-GB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-squared value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," denoted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GB" b="0" i="0" u="none" strike="noStrike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is the regression sum of squares divided by the total sum of squares. Alternatively, as demonstrated in this screencast below, since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SSTO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=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SSR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+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SSE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the quantity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GB" b="0" i="0" u="none" strike="noStrike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also equals one minus the ratio of the error sum of squares to the total sum of squares: </a:t>
            </a:r>
          </a:p>
          <a:p>
            <a:br>
              <a:rPr lang="en-GB" dirty="0"/>
            </a:br>
            <a:endParaRPr lang="en-DE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09D672E-8419-9D39-FCFC-12D3E4DD8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74" y="4794011"/>
            <a:ext cx="2887085" cy="77609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093DFF-ADE5-09EF-DF18-2E378A89D29F}"/>
              </a:ext>
            </a:extLst>
          </p:cNvPr>
          <p:cNvSpPr txBox="1"/>
          <p:nvPr/>
        </p:nvSpPr>
        <p:spPr>
          <a:xfrm>
            <a:off x="7491916" y="6488668"/>
            <a:ext cx="6179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rgbClr val="7030A0"/>
                </a:solidFill>
              </a:rPr>
              <a:t>https://online.stat.psu.edu/stat462/node/95/</a:t>
            </a:r>
          </a:p>
        </p:txBody>
      </p:sp>
    </p:spTree>
    <p:extLst>
      <p:ext uri="{BB962C8B-B14F-4D97-AF65-F5344CB8AC3E}">
        <p14:creationId xmlns:p14="http://schemas.microsoft.com/office/powerpoint/2010/main" val="2782530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47DC-6A22-38AC-52B4-BF732630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Basic characteristics of r</a:t>
            </a:r>
            <a:r>
              <a:rPr lang="en-DE" baseline="30000" dirty="0"/>
              <a:t>2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13D76-0EF9-85F7-A9E5-CF5D094B7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Since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r</a:t>
            </a:r>
            <a:r>
              <a:rPr lang="en-GB" b="0" i="0" u="none" strike="noStrike" baseline="30000" dirty="0">
                <a:solidFill>
                  <a:srgbClr val="000000"/>
                </a:solidFill>
                <a:effectLst/>
              </a:rPr>
              <a:t>2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is a proportion, it is always a number between 0 and 1.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If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r</a:t>
            </a:r>
            <a:r>
              <a:rPr lang="en-GB" b="0" i="0" u="none" strike="noStrike" baseline="30000" dirty="0">
                <a:solidFill>
                  <a:srgbClr val="000000"/>
                </a:solidFill>
                <a:effectLst/>
              </a:rPr>
              <a:t>2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= 1, all of the data points fall perfectly on the regression line.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 predictor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accounts for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all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of the variation in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!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If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r</a:t>
            </a:r>
            <a:r>
              <a:rPr lang="en-GB" b="0" i="0" u="none" strike="noStrike" baseline="30000" dirty="0">
                <a:solidFill>
                  <a:srgbClr val="000000"/>
                </a:solidFill>
                <a:effectLst/>
              </a:rPr>
              <a:t>2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= 0, the estimated regression line is perfectly horizontal. The predictor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accounts for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none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of the variation in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!</a:t>
            </a:r>
          </a:p>
          <a:p>
            <a:pPr marL="0" indent="0">
              <a:buNone/>
            </a:pPr>
            <a:br>
              <a:rPr lang="en-GB" dirty="0"/>
            </a:b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6425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C6AC-AF2C-EE86-85A3-4F72FACF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904" y="0"/>
            <a:ext cx="10515600" cy="1325563"/>
          </a:xfrm>
        </p:spPr>
        <p:txBody>
          <a:bodyPr/>
          <a:lstStyle/>
          <a:p>
            <a:r>
              <a:rPr lang="en-DE" dirty="0"/>
              <a:t>Residual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444FA-15BD-12D6-42D7-65ACE9298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04" y="1310090"/>
            <a:ext cx="9147314" cy="467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63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59FD-32A7-468A-B9D2-D3F7EC0E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Questions to ask from a residual plot?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E26CE-BA2C-19CC-1078-7C51598F3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Do the residuals exhibit a clear pattern?</a:t>
            </a:r>
          </a:p>
          <a:p>
            <a:endParaRPr lang="en-GB" i="0" u="none" strike="noStrike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GB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Do the residuals increase or decrease in variance in a systematic way?</a:t>
            </a:r>
          </a:p>
          <a:p>
            <a:endParaRPr lang="en-GB" b="1" dirty="0">
              <a:solidFill>
                <a:srgbClr val="000000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0000"/>
                </a:solidFill>
                <a:latin typeface="Helvetica" pitchFamily="2" charset="0"/>
              </a:rPr>
              <a:t>The answer should be NO</a:t>
            </a:r>
          </a:p>
          <a:p>
            <a:pPr marL="0" indent="0">
              <a:buNone/>
            </a:pPr>
            <a:endParaRPr lang="en-GB" b="1" dirty="0">
              <a:solidFill>
                <a:srgbClr val="000000"/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0000"/>
                </a:solidFill>
                <a:latin typeface="Helvetica" pitchFamily="2" charset="0"/>
              </a:rPr>
              <a:t>Should be no Heteroscedasticity-  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situation in which the variability of a dependent variable is unequal across the range of values of an independent variable.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2862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86F2-BAFD-72C3-5504-6F429210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19" y="2766218"/>
            <a:ext cx="10515600" cy="1325563"/>
          </a:xfrm>
        </p:spPr>
        <p:txBody>
          <a:bodyPr/>
          <a:lstStyle/>
          <a:p>
            <a:pPr algn="ctr"/>
            <a:r>
              <a:rPr lang="en-DE" dirty="0"/>
              <a:t>Good and bad residual plots</a:t>
            </a:r>
          </a:p>
        </p:txBody>
      </p:sp>
    </p:spTree>
    <p:extLst>
      <p:ext uri="{BB962C8B-B14F-4D97-AF65-F5344CB8AC3E}">
        <p14:creationId xmlns:p14="http://schemas.microsoft.com/office/powerpoint/2010/main" val="82433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FD8E-E5EB-ECDC-9AE8-6B955715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Good vs Bad residual plot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58E9E7-0C7C-CAEB-4FE6-03D5EBC74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050" y="1428081"/>
            <a:ext cx="73279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159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37629-E028-BB3A-D5B3-C0513CA8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40" y="-233529"/>
            <a:ext cx="10515600" cy="1325563"/>
          </a:xfrm>
        </p:spPr>
        <p:txBody>
          <a:bodyPr/>
          <a:lstStyle/>
          <a:p>
            <a:r>
              <a:rPr lang="en-DE" dirty="0"/>
              <a:t>Good vs Bad residual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E4F0DC-75A2-6EF2-1FA6-09237AF5D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234" y="940512"/>
            <a:ext cx="5744766" cy="41857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F98F81-1D48-3F14-E1DC-5F62BC11D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92034"/>
            <a:ext cx="6077532" cy="41857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009A70-A8F1-1CD5-6AF7-26FF38C214C6}"/>
              </a:ext>
            </a:extLst>
          </p:cNvPr>
          <p:cNvSpPr txBox="1"/>
          <p:nvPr/>
        </p:nvSpPr>
        <p:spPr>
          <a:xfrm>
            <a:off x="651272" y="5032240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 plot has a "</a:t>
            </a:r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funneling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" effect. That is, the residuals are spread out for small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values and close to 0 for large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values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2E3AA-217E-42A0-EF3D-38EE8077B741}"/>
              </a:ext>
            </a:extLst>
          </p:cNvPr>
          <p:cNvSpPr txBox="1"/>
          <p:nvPr/>
        </p:nvSpPr>
        <p:spPr>
          <a:xfrm>
            <a:off x="6602016" y="5277812"/>
            <a:ext cx="5444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 plot has a "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fanning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" effect. That is, the residuals are close to 0 for small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values and are more spread out for large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values.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EBA51-B948-E4E4-1DC9-DCE66C08B2EB}"/>
              </a:ext>
            </a:extLst>
          </p:cNvPr>
          <p:cNvSpPr txBox="1"/>
          <p:nvPr/>
        </p:nvSpPr>
        <p:spPr>
          <a:xfrm>
            <a:off x="351234" y="6418709"/>
            <a:ext cx="9531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7030A0"/>
                </a:solidFill>
                <a:effectLst/>
              </a:rPr>
              <a:t> The residual vs. fits plot suggests that the error variances are not equal.</a:t>
            </a:r>
            <a:endParaRPr lang="en-DE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89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oove vs mileage plot">
            <a:extLst>
              <a:ext uri="{FF2B5EF4-FFF2-40B4-BE49-F238E27FC236}">
                <a16:creationId xmlns:a16="http://schemas.microsoft.com/office/drawing/2014/main" id="{75B39C4A-DCEB-6D01-65FE-BA0C6AA65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324" y="1365607"/>
            <a:ext cx="3854714" cy="253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idual vs fitted value plot">
            <a:extLst>
              <a:ext uri="{FF2B5EF4-FFF2-40B4-BE49-F238E27FC236}">
                <a16:creationId xmlns:a16="http://schemas.microsoft.com/office/drawing/2014/main" id="{E340EF17-F6F3-4B4F-B558-7E0BD99AA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038" y="1362034"/>
            <a:ext cx="3797008" cy="253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lpha vs plutonium plot">
            <a:extLst>
              <a:ext uri="{FF2B5EF4-FFF2-40B4-BE49-F238E27FC236}">
                <a16:creationId xmlns:a16="http://schemas.microsoft.com/office/drawing/2014/main" id="{68FA6D3A-0391-271A-A9C0-18C2B946A4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650" y="3923439"/>
            <a:ext cx="3862388" cy="25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idual vs fitted value plot">
            <a:extLst>
              <a:ext uri="{FF2B5EF4-FFF2-40B4-BE49-F238E27FC236}">
                <a16:creationId xmlns:a16="http://schemas.microsoft.com/office/drawing/2014/main" id="{EE849D7A-30E3-E0EC-1AC4-89DAFB3B7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174" y="3923439"/>
            <a:ext cx="3879482" cy="256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65CEB19-15FF-694E-A5FB-DF2F9EE0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36537"/>
            <a:ext cx="10515600" cy="1325563"/>
          </a:xfrm>
        </p:spPr>
        <p:txBody>
          <a:bodyPr/>
          <a:lstStyle/>
          <a:p>
            <a:r>
              <a:rPr lang="en-DE" dirty="0"/>
              <a:t>Another example- Funneling and Fanning</a:t>
            </a:r>
          </a:p>
        </p:txBody>
      </p:sp>
    </p:spTree>
    <p:extLst>
      <p:ext uri="{BB962C8B-B14F-4D97-AF65-F5344CB8AC3E}">
        <p14:creationId xmlns:p14="http://schemas.microsoft.com/office/powerpoint/2010/main" val="1817785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4981-7AC6-B1F6-FB50-C4E1249B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Outliers and Standardised residuals</a:t>
            </a:r>
          </a:p>
        </p:txBody>
      </p:sp>
      <p:pic>
        <p:nvPicPr>
          <p:cNvPr id="3074" name="Picture 2" descr="alcohol vs tobacco plot">
            <a:extLst>
              <a:ext uri="{FF2B5EF4-FFF2-40B4-BE49-F238E27FC236}">
                <a16:creationId xmlns:a16="http://schemas.microsoft.com/office/drawing/2014/main" id="{5DF377F9-2446-4FCB-ED91-FAFDF05EBB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" y="1339992"/>
            <a:ext cx="4133850" cy="274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idual vs fitted value plot">
            <a:extLst>
              <a:ext uri="{FF2B5EF4-FFF2-40B4-BE49-F238E27FC236}">
                <a16:creationId xmlns:a16="http://schemas.microsoft.com/office/drawing/2014/main" id="{79EC7DF7-2546-2A01-D758-B6BD2A366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504" y="1350665"/>
            <a:ext cx="4139051" cy="274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tandardized residual vs fitted value plot">
            <a:extLst>
              <a:ext uri="{FF2B5EF4-FFF2-40B4-BE49-F238E27FC236}">
                <a16:creationId xmlns:a16="http://schemas.microsoft.com/office/drawing/2014/main" id="{93A5D8A1-6049-E5B5-4118-350B93F14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8321"/>
            <a:ext cx="3891648" cy="259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A35CEB-168E-1DA0-2792-FC5E4247CABC}"/>
              </a:ext>
            </a:extLst>
          </p:cNvPr>
          <p:cNvSpPr txBox="1"/>
          <p:nvPr/>
        </p:nvSpPr>
        <p:spPr>
          <a:xfrm>
            <a:off x="8647606" y="1414515"/>
            <a:ext cx="27061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Q- How large a residual has to be before a data point should be flagged as being an outlier?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A9644-D92E-F018-27AA-1681CF61CF0D}"/>
              </a:ext>
            </a:extLst>
          </p:cNvPr>
          <p:cNvSpPr txBox="1"/>
          <p:nvPr/>
        </p:nvSpPr>
        <p:spPr>
          <a:xfrm>
            <a:off x="8647606" y="2706502"/>
            <a:ext cx="27061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7030A0"/>
                </a:solidFill>
                <a:effectLst/>
              </a:rPr>
              <a:t>A- No straightforward answer- as the residual depends on the units. So it would vary with the magnitude of the variable measure in a certain unit</a:t>
            </a:r>
            <a:endParaRPr lang="en-DE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ACC08-9869-C5A6-73DD-D447633571B4}"/>
              </a:ext>
            </a:extLst>
          </p:cNvPr>
          <p:cNvSpPr txBox="1"/>
          <p:nvPr/>
        </p:nvSpPr>
        <p:spPr>
          <a:xfrm>
            <a:off x="8650860" y="4667321"/>
            <a:ext cx="27061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B050"/>
                </a:solidFill>
                <a:effectLst/>
              </a:rPr>
              <a:t>Solution- make the residuals unitless by dividing them by their standard deviation</a:t>
            </a:r>
            <a:endParaRPr lang="en-DE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04061-CE2E-6904-6DC5-9201B3A6D4D3}"/>
              </a:ext>
            </a:extLst>
          </p:cNvPr>
          <p:cNvSpPr txBox="1"/>
          <p:nvPr/>
        </p:nvSpPr>
        <p:spPr>
          <a:xfrm>
            <a:off x="3945572" y="4679584"/>
            <a:ext cx="43008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For data that are normally distributed, 95% of the measurements fall within 2 standard deviations of the mean. Therefore, any observations with a standardized residual greater than 2 or smaller than -2 might be</a:t>
            </a:r>
            <a:r>
              <a:rPr lang="en-GB" b="1" i="1" u="none" strike="noStrike" dirty="0">
                <a:solidFill>
                  <a:srgbClr val="000000"/>
                </a:solidFill>
                <a:effectLst/>
              </a:rPr>
              <a:t> flagged for further investigation.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1889314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3760-7464-B3C2-C28F-E68729E7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Change in r</a:t>
            </a:r>
            <a:r>
              <a:rPr lang="en-DE" baseline="30000" dirty="0"/>
              <a:t>2 </a:t>
            </a:r>
            <a:r>
              <a:rPr lang="en-DE" dirty="0"/>
              <a:t>after removing the outlier</a:t>
            </a:r>
          </a:p>
        </p:txBody>
      </p:sp>
      <p:pic>
        <p:nvPicPr>
          <p:cNvPr id="4" name="Picture 6" descr="alcohol vs tobacco plot">
            <a:extLst>
              <a:ext uri="{FF2B5EF4-FFF2-40B4-BE49-F238E27FC236}">
                <a16:creationId xmlns:a16="http://schemas.microsoft.com/office/drawing/2014/main" id="{41849467-A759-C084-D2B6-EFC757DA07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111" y="1690688"/>
            <a:ext cx="7337425" cy="491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168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7597-263F-A177-18C8-C9FF46DE0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 your Rstudio Standardized residuals-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FCDC71-7647-D270-05F0-0E02EEFDA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0000"/>
          <a:stretch/>
        </p:blipFill>
        <p:spPr>
          <a:xfrm>
            <a:off x="2924176" y="1328238"/>
            <a:ext cx="5048250" cy="516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988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D72A-8A81-8DE7-B615-5FFE2045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0C012-A4F0-0333-E52D-FABA8DE02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hlinkClick r:id="rId2"/>
              </a:rPr>
              <a:t>https://bookdown.org/peter_neal/math4081_notes/Sec_LinearI.html</a:t>
            </a:r>
          </a:p>
          <a:p>
            <a:endParaRPr lang="en-GB" dirty="0">
              <a:hlinkClick r:id="rId2"/>
            </a:endParaRPr>
          </a:p>
          <a:p>
            <a:r>
              <a:rPr lang="en-GB" dirty="0">
                <a:hlinkClick r:id="rId2"/>
              </a:rPr>
              <a:t>https://www.statology.org/good-vs-bad-residual-plot/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 tooltip="https://www.sciencedirect.com/topics/engineering/heteroscedasticity#:~:text=heteroscedasticity%20refers%20to%20the%20change%20of%20variance,increasing%20the%20mean%20(choudhary%20and%20nagaraja%2c%202017)."/>
              </a:rPr>
              <a:t>https://www.sciencedirect.com/topics/engineering/heteroscedasticity#:~:text=Heteroscedasticity%20re…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/>
              </a:rPr>
              <a:t>https://online.stat.psu.edu/stat462/node/120/</a:t>
            </a:r>
            <a:endParaRPr lang="en-GB" dirty="0"/>
          </a:p>
          <a:p>
            <a:r>
              <a:rPr lang="en-GB" dirty="0">
                <a:hlinkClick r:id="rId5"/>
              </a:rPr>
              <a:t>https://online.stat.psu.edu/stat462/node/118/</a:t>
            </a:r>
            <a:endParaRPr lang="en-GB" dirty="0"/>
          </a:p>
          <a:p>
            <a:r>
              <a:rPr lang="en-GB" dirty="0">
                <a:hlinkClick r:id="rId6"/>
              </a:rPr>
              <a:t>https://online.stat.psu.edu/stat462/node/95/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8704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822</Words>
  <Application>Microsoft Macintosh PowerPoint</Application>
  <PresentationFormat>Widescreen</PresentationFormat>
  <Paragraphs>92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Anthropic Sans</vt:lpstr>
      <vt:lpstr>Arial</vt:lpstr>
      <vt:lpstr>Calibri</vt:lpstr>
      <vt:lpstr>Calibri Light</vt:lpstr>
      <vt:lpstr>Helvetica</vt:lpstr>
      <vt:lpstr>times new roman</vt:lpstr>
      <vt:lpstr>var(--font-mono)</vt:lpstr>
      <vt:lpstr>Office Theme</vt:lpstr>
      <vt:lpstr>Linear Models</vt:lpstr>
      <vt:lpstr>Why to useLinear Regression</vt:lpstr>
      <vt:lpstr>What is Simple Linear Regression? </vt:lpstr>
      <vt:lpstr>Notation and parameter meaning</vt:lpstr>
      <vt:lpstr>Plotting</vt:lpstr>
      <vt:lpstr>Standard regression intercept (the value of y for x = 0)</vt:lpstr>
      <vt:lpstr>The Model</vt:lpstr>
      <vt:lpstr>Intercepts in linear models</vt:lpstr>
      <vt:lpstr>The Coefficient of Determination, r-squared </vt:lpstr>
      <vt:lpstr>Basic characteristics of r2</vt:lpstr>
      <vt:lpstr>Residual plots</vt:lpstr>
      <vt:lpstr>Questions to ask from a residual plot?</vt:lpstr>
      <vt:lpstr>Good and bad residual plots</vt:lpstr>
      <vt:lpstr>Good vs Bad residual plot</vt:lpstr>
      <vt:lpstr>Good vs Bad residual plot</vt:lpstr>
      <vt:lpstr>Another example- Funneling and Fanning</vt:lpstr>
      <vt:lpstr>Outliers and Standardised residuals</vt:lpstr>
      <vt:lpstr>Change in r2 after removing the outlier</vt:lpstr>
      <vt:lpstr>In your Rstudio Standardized residuals-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Models</dc:title>
  <dc:creator>Chhaya Chaudhary</dc:creator>
  <cp:lastModifiedBy>Chhaya Chaudhary</cp:lastModifiedBy>
  <cp:revision>11</cp:revision>
  <dcterms:created xsi:type="dcterms:W3CDTF">2026-04-29T04:06:34Z</dcterms:created>
  <dcterms:modified xsi:type="dcterms:W3CDTF">2026-04-30T07:56:49Z</dcterms:modified>
</cp:coreProperties>
</file>