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7" r:id="rId13"/>
    <p:sldId id="266" r:id="rId14"/>
    <p:sldId id="269" r:id="rId15"/>
    <p:sldId id="270" r:id="rId16"/>
    <p:sldId id="271" r:id="rId17"/>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28"/>
    <p:restoredTop sz="96371"/>
  </p:normalViewPr>
  <p:slideViewPr>
    <p:cSldViewPr snapToGrid="0">
      <p:cViewPr varScale="1">
        <p:scale>
          <a:sx n="126" d="100"/>
          <a:sy n="126" d="100"/>
        </p:scale>
        <p:origin x="216" y="2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83A9F-4346-B3DF-5E20-6FCFD0D9EB0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DE"/>
          </a:p>
        </p:txBody>
      </p:sp>
      <p:sp>
        <p:nvSpPr>
          <p:cNvPr id="3" name="Subtitle 2">
            <a:extLst>
              <a:ext uri="{FF2B5EF4-FFF2-40B4-BE49-F238E27FC236}">
                <a16:creationId xmlns:a16="http://schemas.microsoft.com/office/drawing/2014/main" id="{8FD3FCBA-04CE-3E33-880F-D0E0DBCDDF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DE"/>
          </a:p>
        </p:txBody>
      </p:sp>
      <p:sp>
        <p:nvSpPr>
          <p:cNvPr id="4" name="Date Placeholder 3">
            <a:extLst>
              <a:ext uri="{FF2B5EF4-FFF2-40B4-BE49-F238E27FC236}">
                <a16:creationId xmlns:a16="http://schemas.microsoft.com/office/drawing/2014/main" id="{38E2D52B-DB92-D3C4-8A8E-CD92A4B87F9B}"/>
              </a:ext>
            </a:extLst>
          </p:cNvPr>
          <p:cNvSpPr>
            <a:spLocks noGrp="1"/>
          </p:cNvSpPr>
          <p:nvPr>
            <p:ph type="dt" sz="half" idx="10"/>
          </p:nvPr>
        </p:nvSpPr>
        <p:spPr/>
        <p:txBody>
          <a:bodyPr/>
          <a:lstStyle/>
          <a:p>
            <a:fld id="{656418B7-B60A-C64D-BA48-82FCCCD51863}" type="datetimeFigureOut">
              <a:rPr lang="en-DE" smtClean="0"/>
              <a:t>10.06.26</a:t>
            </a:fld>
            <a:endParaRPr lang="en-DE"/>
          </a:p>
        </p:txBody>
      </p:sp>
      <p:sp>
        <p:nvSpPr>
          <p:cNvPr id="5" name="Footer Placeholder 4">
            <a:extLst>
              <a:ext uri="{FF2B5EF4-FFF2-40B4-BE49-F238E27FC236}">
                <a16:creationId xmlns:a16="http://schemas.microsoft.com/office/drawing/2014/main" id="{E8AF98D0-20E4-7212-AC90-38D5AA81BEFF}"/>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3BD0C88E-BDA3-AB42-04AC-115BE35ADCD2}"/>
              </a:ext>
            </a:extLst>
          </p:cNvPr>
          <p:cNvSpPr>
            <a:spLocks noGrp="1"/>
          </p:cNvSpPr>
          <p:nvPr>
            <p:ph type="sldNum" sz="quarter" idx="12"/>
          </p:nvPr>
        </p:nvSpPr>
        <p:spPr/>
        <p:txBody>
          <a:bodyPr/>
          <a:lstStyle/>
          <a:p>
            <a:fld id="{5227C297-40A4-7C44-90D9-713A33629DEF}" type="slidenum">
              <a:rPr lang="en-DE" smtClean="0"/>
              <a:t>‹#›</a:t>
            </a:fld>
            <a:endParaRPr lang="en-DE"/>
          </a:p>
        </p:txBody>
      </p:sp>
    </p:spTree>
    <p:extLst>
      <p:ext uri="{BB962C8B-B14F-4D97-AF65-F5344CB8AC3E}">
        <p14:creationId xmlns:p14="http://schemas.microsoft.com/office/powerpoint/2010/main" val="3251296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8616C-A60B-E07C-CB32-BD9C242E1A8F}"/>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35BBB806-F5FE-8C73-4B96-CBE6C17DCD3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25739923-51FB-EF20-1F68-3B1420C8D617}"/>
              </a:ext>
            </a:extLst>
          </p:cNvPr>
          <p:cNvSpPr>
            <a:spLocks noGrp="1"/>
          </p:cNvSpPr>
          <p:nvPr>
            <p:ph type="dt" sz="half" idx="10"/>
          </p:nvPr>
        </p:nvSpPr>
        <p:spPr/>
        <p:txBody>
          <a:bodyPr/>
          <a:lstStyle/>
          <a:p>
            <a:fld id="{656418B7-B60A-C64D-BA48-82FCCCD51863}" type="datetimeFigureOut">
              <a:rPr lang="en-DE" smtClean="0"/>
              <a:t>10.06.26</a:t>
            </a:fld>
            <a:endParaRPr lang="en-DE"/>
          </a:p>
        </p:txBody>
      </p:sp>
      <p:sp>
        <p:nvSpPr>
          <p:cNvPr id="5" name="Footer Placeholder 4">
            <a:extLst>
              <a:ext uri="{FF2B5EF4-FFF2-40B4-BE49-F238E27FC236}">
                <a16:creationId xmlns:a16="http://schemas.microsoft.com/office/drawing/2014/main" id="{A5582DF0-589C-7192-29E9-9B5FC197BB51}"/>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BC5D7E17-32ED-2D05-B0C3-A119D322FE47}"/>
              </a:ext>
            </a:extLst>
          </p:cNvPr>
          <p:cNvSpPr>
            <a:spLocks noGrp="1"/>
          </p:cNvSpPr>
          <p:nvPr>
            <p:ph type="sldNum" sz="quarter" idx="12"/>
          </p:nvPr>
        </p:nvSpPr>
        <p:spPr/>
        <p:txBody>
          <a:bodyPr/>
          <a:lstStyle/>
          <a:p>
            <a:fld id="{5227C297-40A4-7C44-90D9-713A33629DEF}" type="slidenum">
              <a:rPr lang="en-DE" smtClean="0"/>
              <a:t>‹#›</a:t>
            </a:fld>
            <a:endParaRPr lang="en-DE"/>
          </a:p>
        </p:txBody>
      </p:sp>
    </p:spTree>
    <p:extLst>
      <p:ext uri="{BB962C8B-B14F-4D97-AF65-F5344CB8AC3E}">
        <p14:creationId xmlns:p14="http://schemas.microsoft.com/office/powerpoint/2010/main" val="3960486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CC907-E0A8-10B8-940A-C1F6814A07B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DE"/>
          </a:p>
        </p:txBody>
      </p:sp>
      <p:sp>
        <p:nvSpPr>
          <p:cNvPr id="3" name="Text Placeholder 2">
            <a:extLst>
              <a:ext uri="{FF2B5EF4-FFF2-40B4-BE49-F238E27FC236}">
                <a16:creationId xmlns:a16="http://schemas.microsoft.com/office/drawing/2014/main" id="{6D9731FD-1B3C-8F09-715B-39F0307B0A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E65817E-0035-0D3A-0829-604D9C701496}"/>
              </a:ext>
            </a:extLst>
          </p:cNvPr>
          <p:cNvSpPr>
            <a:spLocks noGrp="1"/>
          </p:cNvSpPr>
          <p:nvPr>
            <p:ph type="dt" sz="half" idx="10"/>
          </p:nvPr>
        </p:nvSpPr>
        <p:spPr/>
        <p:txBody>
          <a:bodyPr/>
          <a:lstStyle/>
          <a:p>
            <a:fld id="{656418B7-B60A-C64D-BA48-82FCCCD51863}" type="datetimeFigureOut">
              <a:rPr lang="en-DE" smtClean="0"/>
              <a:t>10.06.26</a:t>
            </a:fld>
            <a:endParaRPr lang="en-DE"/>
          </a:p>
        </p:txBody>
      </p:sp>
      <p:sp>
        <p:nvSpPr>
          <p:cNvPr id="5" name="Footer Placeholder 4">
            <a:extLst>
              <a:ext uri="{FF2B5EF4-FFF2-40B4-BE49-F238E27FC236}">
                <a16:creationId xmlns:a16="http://schemas.microsoft.com/office/drawing/2014/main" id="{14320261-D6C5-AB4B-2743-BF1B4DD307F9}"/>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4349C780-7A9F-AF9C-D5A5-7D4B593DBA7F}"/>
              </a:ext>
            </a:extLst>
          </p:cNvPr>
          <p:cNvSpPr>
            <a:spLocks noGrp="1"/>
          </p:cNvSpPr>
          <p:nvPr>
            <p:ph type="sldNum" sz="quarter" idx="12"/>
          </p:nvPr>
        </p:nvSpPr>
        <p:spPr/>
        <p:txBody>
          <a:bodyPr/>
          <a:lstStyle/>
          <a:p>
            <a:fld id="{5227C297-40A4-7C44-90D9-713A33629DEF}" type="slidenum">
              <a:rPr lang="en-DE" smtClean="0"/>
              <a:t>‹#›</a:t>
            </a:fld>
            <a:endParaRPr lang="en-DE"/>
          </a:p>
        </p:txBody>
      </p:sp>
    </p:spTree>
    <p:extLst>
      <p:ext uri="{BB962C8B-B14F-4D97-AF65-F5344CB8AC3E}">
        <p14:creationId xmlns:p14="http://schemas.microsoft.com/office/powerpoint/2010/main" val="3507225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E4700-1880-9704-C9CE-19B349D5A38F}"/>
              </a:ext>
            </a:extLst>
          </p:cNvPr>
          <p:cNvSpPr>
            <a:spLocks noGrp="1"/>
          </p:cNvSpPr>
          <p:nvPr>
            <p:ph type="title"/>
          </p:nvPr>
        </p:nvSpPr>
        <p:spPr/>
        <p:txBody>
          <a:bodyPr/>
          <a:lstStyle/>
          <a:p>
            <a:r>
              <a:rPr lang="en-GB"/>
              <a:t>Click to edit Master title style</a:t>
            </a:r>
            <a:endParaRPr lang="en-DE"/>
          </a:p>
        </p:txBody>
      </p:sp>
      <p:sp>
        <p:nvSpPr>
          <p:cNvPr id="3" name="Content Placeholder 2">
            <a:extLst>
              <a:ext uri="{FF2B5EF4-FFF2-40B4-BE49-F238E27FC236}">
                <a16:creationId xmlns:a16="http://schemas.microsoft.com/office/drawing/2014/main" id="{6A566B77-1DC7-09A4-91BF-B13D48D65B1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Content Placeholder 3">
            <a:extLst>
              <a:ext uri="{FF2B5EF4-FFF2-40B4-BE49-F238E27FC236}">
                <a16:creationId xmlns:a16="http://schemas.microsoft.com/office/drawing/2014/main" id="{5D782F1C-2639-7020-6F63-68EC4E4B848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Date Placeholder 4">
            <a:extLst>
              <a:ext uri="{FF2B5EF4-FFF2-40B4-BE49-F238E27FC236}">
                <a16:creationId xmlns:a16="http://schemas.microsoft.com/office/drawing/2014/main" id="{A183D1EB-F9AF-ADD9-A9B5-17DFFF37A3A1}"/>
              </a:ext>
            </a:extLst>
          </p:cNvPr>
          <p:cNvSpPr>
            <a:spLocks noGrp="1"/>
          </p:cNvSpPr>
          <p:nvPr>
            <p:ph type="dt" sz="half" idx="10"/>
          </p:nvPr>
        </p:nvSpPr>
        <p:spPr/>
        <p:txBody>
          <a:bodyPr/>
          <a:lstStyle/>
          <a:p>
            <a:fld id="{656418B7-B60A-C64D-BA48-82FCCCD51863}" type="datetimeFigureOut">
              <a:rPr lang="en-DE" smtClean="0"/>
              <a:t>10.06.26</a:t>
            </a:fld>
            <a:endParaRPr lang="en-DE"/>
          </a:p>
        </p:txBody>
      </p:sp>
      <p:sp>
        <p:nvSpPr>
          <p:cNvPr id="6" name="Footer Placeholder 5">
            <a:extLst>
              <a:ext uri="{FF2B5EF4-FFF2-40B4-BE49-F238E27FC236}">
                <a16:creationId xmlns:a16="http://schemas.microsoft.com/office/drawing/2014/main" id="{02061348-0976-A368-5A51-E4B23AFA79BC}"/>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0AEB46CC-4A4F-2A37-81C9-35B0C7A8A92B}"/>
              </a:ext>
            </a:extLst>
          </p:cNvPr>
          <p:cNvSpPr>
            <a:spLocks noGrp="1"/>
          </p:cNvSpPr>
          <p:nvPr>
            <p:ph type="sldNum" sz="quarter" idx="12"/>
          </p:nvPr>
        </p:nvSpPr>
        <p:spPr/>
        <p:txBody>
          <a:bodyPr/>
          <a:lstStyle/>
          <a:p>
            <a:fld id="{5227C297-40A4-7C44-90D9-713A33629DEF}" type="slidenum">
              <a:rPr lang="en-DE" smtClean="0"/>
              <a:t>‹#›</a:t>
            </a:fld>
            <a:endParaRPr lang="en-DE"/>
          </a:p>
        </p:txBody>
      </p:sp>
    </p:spTree>
    <p:extLst>
      <p:ext uri="{BB962C8B-B14F-4D97-AF65-F5344CB8AC3E}">
        <p14:creationId xmlns:p14="http://schemas.microsoft.com/office/powerpoint/2010/main" val="97374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DFDF0-4F13-3549-2D5E-E2EB9055C189}"/>
              </a:ext>
            </a:extLst>
          </p:cNvPr>
          <p:cNvSpPr>
            <a:spLocks noGrp="1"/>
          </p:cNvSpPr>
          <p:nvPr>
            <p:ph type="title"/>
          </p:nvPr>
        </p:nvSpPr>
        <p:spPr>
          <a:xfrm>
            <a:off x="839788" y="365125"/>
            <a:ext cx="10515600" cy="1325563"/>
          </a:xfrm>
        </p:spPr>
        <p:txBody>
          <a:bodyPr/>
          <a:lstStyle/>
          <a:p>
            <a:r>
              <a:rPr lang="en-GB"/>
              <a:t>Click to edit Master title style</a:t>
            </a:r>
            <a:endParaRPr lang="en-DE"/>
          </a:p>
        </p:txBody>
      </p:sp>
      <p:sp>
        <p:nvSpPr>
          <p:cNvPr id="3" name="Text Placeholder 2">
            <a:extLst>
              <a:ext uri="{FF2B5EF4-FFF2-40B4-BE49-F238E27FC236}">
                <a16:creationId xmlns:a16="http://schemas.microsoft.com/office/drawing/2014/main" id="{755ABF93-BAF4-2C9B-534A-971241F819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B4E634A-9A6F-565C-D1DE-7435B405C4F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5" name="Text Placeholder 4">
            <a:extLst>
              <a:ext uri="{FF2B5EF4-FFF2-40B4-BE49-F238E27FC236}">
                <a16:creationId xmlns:a16="http://schemas.microsoft.com/office/drawing/2014/main" id="{DD02A89F-2D58-EA62-CA74-34F6832641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866D5CD-F0BA-C7C5-B446-8658382B3C9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7" name="Date Placeholder 6">
            <a:extLst>
              <a:ext uri="{FF2B5EF4-FFF2-40B4-BE49-F238E27FC236}">
                <a16:creationId xmlns:a16="http://schemas.microsoft.com/office/drawing/2014/main" id="{53B03F4D-D964-D5F6-96BF-B9C9946A80FB}"/>
              </a:ext>
            </a:extLst>
          </p:cNvPr>
          <p:cNvSpPr>
            <a:spLocks noGrp="1"/>
          </p:cNvSpPr>
          <p:nvPr>
            <p:ph type="dt" sz="half" idx="10"/>
          </p:nvPr>
        </p:nvSpPr>
        <p:spPr/>
        <p:txBody>
          <a:bodyPr/>
          <a:lstStyle/>
          <a:p>
            <a:fld id="{656418B7-B60A-C64D-BA48-82FCCCD51863}" type="datetimeFigureOut">
              <a:rPr lang="en-DE" smtClean="0"/>
              <a:t>10.06.26</a:t>
            </a:fld>
            <a:endParaRPr lang="en-DE"/>
          </a:p>
        </p:txBody>
      </p:sp>
      <p:sp>
        <p:nvSpPr>
          <p:cNvPr id="8" name="Footer Placeholder 7">
            <a:extLst>
              <a:ext uri="{FF2B5EF4-FFF2-40B4-BE49-F238E27FC236}">
                <a16:creationId xmlns:a16="http://schemas.microsoft.com/office/drawing/2014/main" id="{18264766-1CD5-01FA-FE3B-B4AC793F50FC}"/>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4723857E-7021-B5C7-E6CA-C2D75502C934}"/>
              </a:ext>
            </a:extLst>
          </p:cNvPr>
          <p:cNvSpPr>
            <a:spLocks noGrp="1"/>
          </p:cNvSpPr>
          <p:nvPr>
            <p:ph type="sldNum" sz="quarter" idx="12"/>
          </p:nvPr>
        </p:nvSpPr>
        <p:spPr/>
        <p:txBody>
          <a:bodyPr/>
          <a:lstStyle/>
          <a:p>
            <a:fld id="{5227C297-40A4-7C44-90D9-713A33629DEF}" type="slidenum">
              <a:rPr lang="en-DE" smtClean="0"/>
              <a:t>‹#›</a:t>
            </a:fld>
            <a:endParaRPr lang="en-DE"/>
          </a:p>
        </p:txBody>
      </p:sp>
    </p:spTree>
    <p:extLst>
      <p:ext uri="{BB962C8B-B14F-4D97-AF65-F5344CB8AC3E}">
        <p14:creationId xmlns:p14="http://schemas.microsoft.com/office/powerpoint/2010/main" val="2701173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9BFE9-0457-EA9E-55BA-A1A42E5CC865}"/>
              </a:ext>
            </a:extLst>
          </p:cNvPr>
          <p:cNvSpPr>
            <a:spLocks noGrp="1"/>
          </p:cNvSpPr>
          <p:nvPr>
            <p:ph type="title"/>
          </p:nvPr>
        </p:nvSpPr>
        <p:spPr/>
        <p:txBody>
          <a:bodyPr/>
          <a:lstStyle/>
          <a:p>
            <a:r>
              <a:rPr lang="en-GB"/>
              <a:t>Click to edit Master title style</a:t>
            </a:r>
            <a:endParaRPr lang="en-DE"/>
          </a:p>
        </p:txBody>
      </p:sp>
      <p:sp>
        <p:nvSpPr>
          <p:cNvPr id="3" name="Date Placeholder 2">
            <a:extLst>
              <a:ext uri="{FF2B5EF4-FFF2-40B4-BE49-F238E27FC236}">
                <a16:creationId xmlns:a16="http://schemas.microsoft.com/office/drawing/2014/main" id="{8C2AEF97-2454-AB01-AE98-169D375D4DC9}"/>
              </a:ext>
            </a:extLst>
          </p:cNvPr>
          <p:cNvSpPr>
            <a:spLocks noGrp="1"/>
          </p:cNvSpPr>
          <p:nvPr>
            <p:ph type="dt" sz="half" idx="10"/>
          </p:nvPr>
        </p:nvSpPr>
        <p:spPr/>
        <p:txBody>
          <a:bodyPr/>
          <a:lstStyle/>
          <a:p>
            <a:fld id="{656418B7-B60A-C64D-BA48-82FCCCD51863}" type="datetimeFigureOut">
              <a:rPr lang="en-DE" smtClean="0"/>
              <a:t>10.06.26</a:t>
            </a:fld>
            <a:endParaRPr lang="en-DE"/>
          </a:p>
        </p:txBody>
      </p:sp>
      <p:sp>
        <p:nvSpPr>
          <p:cNvPr id="4" name="Footer Placeholder 3">
            <a:extLst>
              <a:ext uri="{FF2B5EF4-FFF2-40B4-BE49-F238E27FC236}">
                <a16:creationId xmlns:a16="http://schemas.microsoft.com/office/drawing/2014/main" id="{18175A4C-5449-8E33-E492-3E0B25D3A71E}"/>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B5F5C9FC-54FB-B214-E154-1733ECE6C701}"/>
              </a:ext>
            </a:extLst>
          </p:cNvPr>
          <p:cNvSpPr>
            <a:spLocks noGrp="1"/>
          </p:cNvSpPr>
          <p:nvPr>
            <p:ph type="sldNum" sz="quarter" idx="12"/>
          </p:nvPr>
        </p:nvSpPr>
        <p:spPr/>
        <p:txBody>
          <a:bodyPr/>
          <a:lstStyle/>
          <a:p>
            <a:fld id="{5227C297-40A4-7C44-90D9-713A33629DEF}" type="slidenum">
              <a:rPr lang="en-DE" smtClean="0"/>
              <a:t>‹#›</a:t>
            </a:fld>
            <a:endParaRPr lang="en-DE"/>
          </a:p>
        </p:txBody>
      </p:sp>
    </p:spTree>
    <p:extLst>
      <p:ext uri="{BB962C8B-B14F-4D97-AF65-F5344CB8AC3E}">
        <p14:creationId xmlns:p14="http://schemas.microsoft.com/office/powerpoint/2010/main" val="2873268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3B4D4D-D153-1C2F-0B0B-C7355C97D901}"/>
              </a:ext>
            </a:extLst>
          </p:cNvPr>
          <p:cNvSpPr>
            <a:spLocks noGrp="1"/>
          </p:cNvSpPr>
          <p:nvPr>
            <p:ph type="dt" sz="half" idx="10"/>
          </p:nvPr>
        </p:nvSpPr>
        <p:spPr/>
        <p:txBody>
          <a:bodyPr/>
          <a:lstStyle/>
          <a:p>
            <a:fld id="{656418B7-B60A-C64D-BA48-82FCCCD51863}" type="datetimeFigureOut">
              <a:rPr lang="en-DE" smtClean="0"/>
              <a:t>10.06.26</a:t>
            </a:fld>
            <a:endParaRPr lang="en-DE"/>
          </a:p>
        </p:txBody>
      </p:sp>
      <p:sp>
        <p:nvSpPr>
          <p:cNvPr id="3" name="Footer Placeholder 2">
            <a:extLst>
              <a:ext uri="{FF2B5EF4-FFF2-40B4-BE49-F238E27FC236}">
                <a16:creationId xmlns:a16="http://schemas.microsoft.com/office/drawing/2014/main" id="{D55A69C6-BA1C-41FA-EFBE-04DFB5051D59}"/>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2C012220-9BC4-6D34-9D45-5CFDD5DF8CDF}"/>
              </a:ext>
            </a:extLst>
          </p:cNvPr>
          <p:cNvSpPr>
            <a:spLocks noGrp="1"/>
          </p:cNvSpPr>
          <p:nvPr>
            <p:ph type="sldNum" sz="quarter" idx="12"/>
          </p:nvPr>
        </p:nvSpPr>
        <p:spPr/>
        <p:txBody>
          <a:bodyPr/>
          <a:lstStyle/>
          <a:p>
            <a:fld id="{5227C297-40A4-7C44-90D9-713A33629DEF}" type="slidenum">
              <a:rPr lang="en-DE" smtClean="0"/>
              <a:t>‹#›</a:t>
            </a:fld>
            <a:endParaRPr lang="en-DE"/>
          </a:p>
        </p:txBody>
      </p:sp>
    </p:spTree>
    <p:extLst>
      <p:ext uri="{BB962C8B-B14F-4D97-AF65-F5344CB8AC3E}">
        <p14:creationId xmlns:p14="http://schemas.microsoft.com/office/powerpoint/2010/main" val="574891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5458C-DC1D-D5D9-B32A-B69AB50BBF5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Content Placeholder 2">
            <a:extLst>
              <a:ext uri="{FF2B5EF4-FFF2-40B4-BE49-F238E27FC236}">
                <a16:creationId xmlns:a16="http://schemas.microsoft.com/office/drawing/2014/main" id="{C20593AE-1291-529D-073E-C8C63D04CB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Text Placeholder 3">
            <a:extLst>
              <a:ext uri="{FF2B5EF4-FFF2-40B4-BE49-F238E27FC236}">
                <a16:creationId xmlns:a16="http://schemas.microsoft.com/office/drawing/2014/main" id="{72B1499B-B66B-045C-12E5-64E9D025FB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3EF511B-15A0-645E-047F-3C9C2C226CA3}"/>
              </a:ext>
            </a:extLst>
          </p:cNvPr>
          <p:cNvSpPr>
            <a:spLocks noGrp="1"/>
          </p:cNvSpPr>
          <p:nvPr>
            <p:ph type="dt" sz="half" idx="10"/>
          </p:nvPr>
        </p:nvSpPr>
        <p:spPr/>
        <p:txBody>
          <a:bodyPr/>
          <a:lstStyle/>
          <a:p>
            <a:fld id="{656418B7-B60A-C64D-BA48-82FCCCD51863}" type="datetimeFigureOut">
              <a:rPr lang="en-DE" smtClean="0"/>
              <a:t>10.06.26</a:t>
            </a:fld>
            <a:endParaRPr lang="en-DE"/>
          </a:p>
        </p:txBody>
      </p:sp>
      <p:sp>
        <p:nvSpPr>
          <p:cNvPr id="6" name="Footer Placeholder 5">
            <a:extLst>
              <a:ext uri="{FF2B5EF4-FFF2-40B4-BE49-F238E27FC236}">
                <a16:creationId xmlns:a16="http://schemas.microsoft.com/office/drawing/2014/main" id="{9035238D-FF14-E73B-5E83-E63AAAA2781C}"/>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60C18061-9FB4-F99A-07B9-337840C0A990}"/>
              </a:ext>
            </a:extLst>
          </p:cNvPr>
          <p:cNvSpPr>
            <a:spLocks noGrp="1"/>
          </p:cNvSpPr>
          <p:nvPr>
            <p:ph type="sldNum" sz="quarter" idx="12"/>
          </p:nvPr>
        </p:nvSpPr>
        <p:spPr/>
        <p:txBody>
          <a:bodyPr/>
          <a:lstStyle/>
          <a:p>
            <a:fld id="{5227C297-40A4-7C44-90D9-713A33629DEF}" type="slidenum">
              <a:rPr lang="en-DE" smtClean="0"/>
              <a:t>‹#›</a:t>
            </a:fld>
            <a:endParaRPr lang="en-DE"/>
          </a:p>
        </p:txBody>
      </p:sp>
    </p:spTree>
    <p:extLst>
      <p:ext uri="{BB962C8B-B14F-4D97-AF65-F5344CB8AC3E}">
        <p14:creationId xmlns:p14="http://schemas.microsoft.com/office/powerpoint/2010/main" val="1372932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EF4AB-7442-F5A0-E631-F61A95100A0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DE"/>
          </a:p>
        </p:txBody>
      </p:sp>
      <p:sp>
        <p:nvSpPr>
          <p:cNvPr id="3" name="Picture Placeholder 2">
            <a:extLst>
              <a:ext uri="{FF2B5EF4-FFF2-40B4-BE49-F238E27FC236}">
                <a16:creationId xmlns:a16="http://schemas.microsoft.com/office/drawing/2014/main" id="{3F92CAD7-DECA-0AE6-95BA-61718AA79E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3862EEAD-5CCF-C166-6DEC-7DFB28773A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74AE970-9A15-CA30-04BB-3BDB78A9729C}"/>
              </a:ext>
            </a:extLst>
          </p:cNvPr>
          <p:cNvSpPr>
            <a:spLocks noGrp="1"/>
          </p:cNvSpPr>
          <p:nvPr>
            <p:ph type="dt" sz="half" idx="10"/>
          </p:nvPr>
        </p:nvSpPr>
        <p:spPr/>
        <p:txBody>
          <a:bodyPr/>
          <a:lstStyle/>
          <a:p>
            <a:fld id="{656418B7-B60A-C64D-BA48-82FCCCD51863}" type="datetimeFigureOut">
              <a:rPr lang="en-DE" smtClean="0"/>
              <a:t>10.06.26</a:t>
            </a:fld>
            <a:endParaRPr lang="en-DE"/>
          </a:p>
        </p:txBody>
      </p:sp>
      <p:sp>
        <p:nvSpPr>
          <p:cNvPr id="6" name="Footer Placeholder 5">
            <a:extLst>
              <a:ext uri="{FF2B5EF4-FFF2-40B4-BE49-F238E27FC236}">
                <a16:creationId xmlns:a16="http://schemas.microsoft.com/office/drawing/2014/main" id="{68978147-432A-FA7F-3E67-C7B75A0ACA5C}"/>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6A0054B8-A6A1-CF4C-C6F6-5F44D2444E69}"/>
              </a:ext>
            </a:extLst>
          </p:cNvPr>
          <p:cNvSpPr>
            <a:spLocks noGrp="1"/>
          </p:cNvSpPr>
          <p:nvPr>
            <p:ph type="sldNum" sz="quarter" idx="12"/>
          </p:nvPr>
        </p:nvSpPr>
        <p:spPr/>
        <p:txBody>
          <a:bodyPr/>
          <a:lstStyle/>
          <a:p>
            <a:fld id="{5227C297-40A4-7C44-90D9-713A33629DEF}" type="slidenum">
              <a:rPr lang="en-DE" smtClean="0"/>
              <a:t>‹#›</a:t>
            </a:fld>
            <a:endParaRPr lang="en-DE"/>
          </a:p>
        </p:txBody>
      </p:sp>
    </p:spTree>
    <p:extLst>
      <p:ext uri="{BB962C8B-B14F-4D97-AF65-F5344CB8AC3E}">
        <p14:creationId xmlns:p14="http://schemas.microsoft.com/office/powerpoint/2010/main" val="3309914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07CBC-800B-746A-355F-2EAFE8BE3BBB}"/>
              </a:ext>
            </a:extLst>
          </p:cNvPr>
          <p:cNvSpPr>
            <a:spLocks noGrp="1"/>
          </p:cNvSpPr>
          <p:nvPr>
            <p:ph type="title"/>
          </p:nvPr>
        </p:nvSpPr>
        <p:spPr/>
        <p:txBody>
          <a:bodyPr/>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B69D1543-8069-E4C8-54AF-9E25B2AFE8B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518C1382-E8DF-6986-E4A5-AC9AE135C6A9}"/>
              </a:ext>
            </a:extLst>
          </p:cNvPr>
          <p:cNvSpPr>
            <a:spLocks noGrp="1"/>
          </p:cNvSpPr>
          <p:nvPr>
            <p:ph type="dt" sz="half" idx="10"/>
          </p:nvPr>
        </p:nvSpPr>
        <p:spPr/>
        <p:txBody>
          <a:bodyPr/>
          <a:lstStyle/>
          <a:p>
            <a:fld id="{656418B7-B60A-C64D-BA48-82FCCCD51863}" type="datetimeFigureOut">
              <a:rPr lang="en-DE" smtClean="0"/>
              <a:t>10.06.26</a:t>
            </a:fld>
            <a:endParaRPr lang="en-DE"/>
          </a:p>
        </p:txBody>
      </p:sp>
      <p:sp>
        <p:nvSpPr>
          <p:cNvPr id="5" name="Footer Placeholder 4">
            <a:extLst>
              <a:ext uri="{FF2B5EF4-FFF2-40B4-BE49-F238E27FC236}">
                <a16:creationId xmlns:a16="http://schemas.microsoft.com/office/drawing/2014/main" id="{7561E2B2-535F-7237-FAA5-5BC432CE7FA1}"/>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3366CB13-5541-AF36-C0F4-67BB34335ABD}"/>
              </a:ext>
            </a:extLst>
          </p:cNvPr>
          <p:cNvSpPr>
            <a:spLocks noGrp="1"/>
          </p:cNvSpPr>
          <p:nvPr>
            <p:ph type="sldNum" sz="quarter" idx="12"/>
          </p:nvPr>
        </p:nvSpPr>
        <p:spPr/>
        <p:txBody>
          <a:bodyPr/>
          <a:lstStyle/>
          <a:p>
            <a:fld id="{5227C297-40A4-7C44-90D9-713A33629DEF}" type="slidenum">
              <a:rPr lang="en-DE" smtClean="0"/>
              <a:t>‹#›</a:t>
            </a:fld>
            <a:endParaRPr lang="en-DE"/>
          </a:p>
        </p:txBody>
      </p:sp>
    </p:spTree>
    <p:extLst>
      <p:ext uri="{BB962C8B-B14F-4D97-AF65-F5344CB8AC3E}">
        <p14:creationId xmlns:p14="http://schemas.microsoft.com/office/powerpoint/2010/main" val="730113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9F6A-8F7F-A5AF-C45A-D93D4EA8DBF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DE"/>
          </a:p>
        </p:txBody>
      </p:sp>
      <p:sp>
        <p:nvSpPr>
          <p:cNvPr id="3" name="Vertical Text Placeholder 2">
            <a:extLst>
              <a:ext uri="{FF2B5EF4-FFF2-40B4-BE49-F238E27FC236}">
                <a16:creationId xmlns:a16="http://schemas.microsoft.com/office/drawing/2014/main" id="{741B6CC7-367F-689E-344E-B72F3EDD638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0924F8A8-61B0-34B3-5784-EF2E2D619DF0}"/>
              </a:ext>
            </a:extLst>
          </p:cNvPr>
          <p:cNvSpPr>
            <a:spLocks noGrp="1"/>
          </p:cNvSpPr>
          <p:nvPr>
            <p:ph type="dt" sz="half" idx="10"/>
          </p:nvPr>
        </p:nvSpPr>
        <p:spPr/>
        <p:txBody>
          <a:bodyPr/>
          <a:lstStyle/>
          <a:p>
            <a:fld id="{656418B7-B60A-C64D-BA48-82FCCCD51863}" type="datetimeFigureOut">
              <a:rPr lang="en-DE" smtClean="0"/>
              <a:t>10.06.26</a:t>
            </a:fld>
            <a:endParaRPr lang="en-DE"/>
          </a:p>
        </p:txBody>
      </p:sp>
      <p:sp>
        <p:nvSpPr>
          <p:cNvPr id="5" name="Footer Placeholder 4">
            <a:extLst>
              <a:ext uri="{FF2B5EF4-FFF2-40B4-BE49-F238E27FC236}">
                <a16:creationId xmlns:a16="http://schemas.microsoft.com/office/drawing/2014/main" id="{278B5AD1-8156-D1D6-6823-73DDF34D50BB}"/>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45206E1C-0914-2076-FFA6-67390A9A1BAB}"/>
              </a:ext>
            </a:extLst>
          </p:cNvPr>
          <p:cNvSpPr>
            <a:spLocks noGrp="1"/>
          </p:cNvSpPr>
          <p:nvPr>
            <p:ph type="sldNum" sz="quarter" idx="12"/>
          </p:nvPr>
        </p:nvSpPr>
        <p:spPr/>
        <p:txBody>
          <a:bodyPr/>
          <a:lstStyle/>
          <a:p>
            <a:fld id="{5227C297-40A4-7C44-90D9-713A33629DEF}" type="slidenum">
              <a:rPr lang="en-DE" smtClean="0"/>
              <a:t>‹#›</a:t>
            </a:fld>
            <a:endParaRPr lang="en-DE"/>
          </a:p>
        </p:txBody>
      </p:sp>
    </p:spTree>
    <p:extLst>
      <p:ext uri="{BB962C8B-B14F-4D97-AF65-F5344CB8AC3E}">
        <p14:creationId xmlns:p14="http://schemas.microsoft.com/office/powerpoint/2010/main" val="1423002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F5B663-4858-7244-39DB-80BD1EC63D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DE"/>
          </a:p>
        </p:txBody>
      </p:sp>
      <p:sp>
        <p:nvSpPr>
          <p:cNvPr id="3" name="Text Placeholder 2">
            <a:extLst>
              <a:ext uri="{FF2B5EF4-FFF2-40B4-BE49-F238E27FC236}">
                <a16:creationId xmlns:a16="http://schemas.microsoft.com/office/drawing/2014/main" id="{DAE990AC-D4C4-BE07-ECDD-2CB94AB414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4" name="Date Placeholder 3">
            <a:extLst>
              <a:ext uri="{FF2B5EF4-FFF2-40B4-BE49-F238E27FC236}">
                <a16:creationId xmlns:a16="http://schemas.microsoft.com/office/drawing/2014/main" id="{BAD1830C-6C1C-8222-DA79-A3E8F181E7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6418B7-B60A-C64D-BA48-82FCCCD51863}" type="datetimeFigureOut">
              <a:rPr lang="en-DE" smtClean="0"/>
              <a:t>10.06.26</a:t>
            </a:fld>
            <a:endParaRPr lang="en-DE"/>
          </a:p>
        </p:txBody>
      </p:sp>
      <p:sp>
        <p:nvSpPr>
          <p:cNvPr id="5" name="Footer Placeholder 4">
            <a:extLst>
              <a:ext uri="{FF2B5EF4-FFF2-40B4-BE49-F238E27FC236}">
                <a16:creationId xmlns:a16="http://schemas.microsoft.com/office/drawing/2014/main" id="{A4F2EC0C-5110-FDD3-5EA9-E3F0171F1B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DE"/>
          </a:p>
        </p:txBody>
      </p:sp>
      <p:sp>
        <p:nvSpPr>
          <p:cNvPr id="6" name="Slide Number Placeholder 5">
            <a:extLst>
              <a:ext uri="{FF2B5EF4-FFF2-40B4-BE49-F238E27FC236}">
                <a16:creationId xmlns:a16="http://schemas.microsoft.com/office/drawing/2014/main" id="{98F48564-4293-C55A-CE26-966E9A2D8C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27C297-40A4-7C44-90D9-713A33629DEF}" type="slidenum">
              <a:rPr lang="en-DE" smtClean="0"/>
              <a:t>‹#›</a:t>
            </a:fld>
            <a:endParaRPr lang="en-DE"/>
          </a:p>
        </p:txBody>
      </p:sp>
    </p:spTree>
    <p:extLst>
      <p:ext uri="{BB962C8B-B14F-4D97-AF65-F5344CB8AC3E}">
        <p14:creationId xmlns:p14="http://schemas.microsoft.com/office/powerpoint/2010/main" val="12431093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rpubs.com/camguild/803096" TargetMode="External"/><Relationship Id="rId2" Type="http://schemas.openxmlformats.org/officeDocument/2006/relationships/hyperlink" Target="https://medium.com/@alexroz/regression-trees-explained-the-most-intuitive-intoduction-dffca74252f4" TargetMode="External"/><Relationship Id="rId1" Type="http://schemas.openxmlformats.org/officeDocument/2006/relationships/slideLayout" Target="../slideLayouts/slideLayout2.xml"/><Relationship Id="rId5" Type="http://schemas.openxmlformats.org/officeDocument/2006/relationships/hyperlink" Target="https://datajobs.com/data-science-repo/CART-Guide-%5bCMU%5d.pdf" TargetMode="External"/><Relationship Id="rId4" Type="http://schemas.openxmlformats.org/officeDocument/2006/relationships/hyperlink" Target="https://www.geeksforgeeks.org/r-language/decision-tree-for-regression-in-r-programm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A239F-5F59-4677-6083-94A37D565079}"/>
              </a:ext>
            </a:extLst>
          </p:cNvPr>
          <p:cNvSpPr>
            <a:spLocks noGrp="1"/>
          </p:cNvSpPr>
          <p:nvPr>
            <p:ph type="ctrTitle"/>
          </p:nvPr>
        </p:nvSpPr>
        <p:spPr/>
        <p:txBody>
          <a:bodyPr/>
          <a:lstStyle/>
          <a:p>
            <a:r>
              <a:rPr lang="en-DE" dirty="0"/>
              <a:t>Regression Trees</a:t>
            </a:r>
          </a:p>
        </p:txBody>
      </p:sp>
      <p:sp>
        <p:nvSpPr>
          <p:cNvPr id="3" name="Subtitle 2">
            <a:extLst>
              <a:ext uri="{FF2B5EF4-FFF2-40B4-BE49-F238E27FC236}">
                <a16:creationId xmlns:a16="http://schemas.microsoft.com/office/drawing/2014/main" id="{4797F0B6-D6CC-A5A2-A126-C3F93C210487}"/>
              </a:ext>
            </a:extLst>
          </p:cNvPr>
          <p:cNvSpPr>
            <a:spLocks noGrp="1"/>
          </p:cNvSpPr>
          <p:nvPr>
            <p:ph type="subTitle" idx="1"/>
          </p:nvPr>
        </p:nvSpPr>
        <p:spPr/>
        <p:txBody>
          <a:bodyPr/>
          <a:lstStyle/>
          <a:p>
            <a:r>
              <a:rPr lang="en-DE" dirty="0"/>
              <a:t>Chhaya Chaudhary</a:t>
            </a:r>
          </a:p>
        </p:txBody>
      </p:sp>
    </p:spTree>
    <p:extLst>
      <p:ext uri="{BB962C8B-B14F-4D97-AF65-F5344CB8AC3E}">
        <p14:creationId xmlns:p14="http://schemas.microsoft.com/office/powerpoint/2010/main" val="2155111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44C46-8ECA-1AE0-5117-867EB5B24A3C}"/>
              </a:ext>
            </a:extLst>
          </p:cNvPr>
          <p:cNvSpPr>
            <a:spLocks noGrp="1"/>
          </p:cNvSpPr>
          <p:nvPr>
            <p:ph type="title"/>
          </p:nvPr>
        </p:nvSpPr>
        <p:spPr/>
        <p:txBody>
          <a:bodyPr/>
          <a:lstStyle/>
          <a:p>
            <a:r>
              <a:rPr lang="en-GB" dirty="0">
                <a:solidFill>
                  <a:srgbClr val="242424"/>
                </a:solidFill>
                <a:latin typeface="source-serif-pro"/>
              </a:rPr>
              <a:t>A</a:t>
            </a:r>
            <a:r>
              <a:rPr lang="en-GB" b="0" i="0" u="none" strike="noStrike" dirty="0">
                <a:solidFill>
                  <a:srgbClr val="242424"/>
                </a:solidFill>
                <a:effectLst/>
                <a:latin typeface="source-serif-pro"/>
              </a:rPr>
              <a:t> tree is a graph-based model where each node represents a decision split </a:t>
            </a:r>
            <a:endParaRPr lang="en-DE" dirty="0"/>
          </a:p>
        </p:txBody>
      </p:sp>
      <p:pic>
        <p:nvPicPr>
          <p:cNvPr id="5" name="Content Placeholder 4">
            <a:extLst>
              <a:ext uri="{FF2B5EF4-FFF2-40B4-BE49-F238E27FC236}">
                <a16:creationId xmlns:a16="http://schemas.microsoft.com/office/drawing/2014/main" id="{B70F9050-C570-BB85-64EF-0DF8A8F9AF89}"/>
              </a:ext>
            </a:extLst>
          </p:cNvPr>
          <p:cNvPicPr>
            <a:picLocks noGrp="1" noChangeAspect="1"/>
          </p:cNvPicPr>
          <p:nvPr>
            <p:ph idx="1"/>
          </p:nvPr>
        </p:nvPicPr>
        <p:blipFill>
          <a:blip r:embed="rId2"/>
          <a:stretch>
            <a:fillRect/>
          </a:stretch>
        </p:blipFill>
        <p:spPr>
          <a:xfrm>
            <a:off x="1573798" y="1825625"/>
            <a:ext cx="9044404" cy="4351338"/>
          </a:xfrm>
        </p:spPr>
      </p:pic>
      <p:sp>
        <p:nvSpPr>
          <p:cNvPr id="7" name="TextBox 6">
            <a:extLst>
              <a:ext uri="{FF2B5EF4-FFF2-40B4-BE49-F238E27FC236}">
                <a16:creationId xmlns:a16="http://schemas.microsoft.com/office/drawing/2014/main" id="{C6138C2A-4D01-2371-624C-A6A9F2C2D2B8}"/>
              </a:ext>
            </a:extLst>
          </p:cNvPr>
          <p:cNvSpPr txBox="1"/>
          <p:nvPr/>
        </p:nvSpPr>
        <p:spPr>
          <a:xfrm>
            <a:off x="6318607" y="6596390"/>
            <a:ext cx="5979559" cy="261610"/>
          </a:xfrm>
          <a:prstGeom prst="rect">
            <a:avLst/>
          </a:prstGeom>
          <a:noFill/>
        </p:spPr>
        <p:txBody>
          <a:bodyPr wrap="square">
            <a:spAutoFit/>
          </a:bodyPr>
          <a:lstStyle/>
          <a:p>
            <a:r>
              <a:rPr lang="en-DE" sz="1050" dirty="0"/>
              <a:t>https://medium.com/@alexroz/regression-trees-explained-the-most-intuitive-intoduction-dffca74252f4</a:t>
            </a:r>
          </a:p>
        </p:txBody>
      </p:sp>
    </p:spTree>
    <p:extLst>
      <p:ext uri="{BB962C8B-B14F-4D97-AF65-F5344CB8AC3E}">
        <p14:creationId xmlns:p14="http://schemas.microsoft.com/office/powerpoint/2010/main" val="4137265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B3FE6-52F6-F7B0-636E-093709D89808}"/>
              </a:ext>
            </a:extLst>
          </p:cNvPr>
          <p:cNvSpPr>
            <a:spLocks noGrp="1"/>
          </p:cNvSpPr>
          <p:nvPr>
            <p:ph type="title"/>
          </p:nvPr>
        </p:nvSpPr>
        <p:spPr/>
        <p:txBody>
          <a:bodyPr/>
          <a:lstStyle/>
          <a:p>
            <a:r>
              <a:rPr lang="en-DE" dirty="0"/>
              <a:t>Data representation</a:t>
            </a:r>
          </a:p>
        </p:txBody>
      </p:sp>
      <p:pic>
        <p:nvPicPr>
          <p:cNvPr id="5" name="Content Placeholder 4">
            <a:extLst>
              <a:ext uri="{FF2B5EF4-FFF2-40B4-BE49-F238E27FC236}">
                <a16:creationId xmlns:a16="http://schemas.microsoft.com/office/drawing/2014/main" id="{52218EA7-DA19-65E5-4A78-45E919C7D774}"/>
              </a:ext>
            </a:extLst>
          </p:cNvPr>
          <p:cNvPicPr>
            <a:picLocks noGrp="1" noChangeAspect="1"/>
          </p:cNvPicPr>
          <p:nvPr>
            <p:ph idx="1"/>
          </p:nvPr>
        </p:nvPicPr>
        <p:blipFill>
          <a:blip r:embed="rId2"/>
          <a:stretch>
            <a:fillRect/>
          </a:stretch>
        </p:blipFill>
        <p:spPr>
          <a:xfrm>
            <a:off x="5826790" y="1690688"/>
            <a:ext cx="5527010" cy="4351338"/>
          </a:xfrm>
        </p:spPr>
      </p:pic>
      <p:sp>
        <p:nvSpPr>
          <p:cNvPr id="7" name="TextBox 6">
            <a:extLst>
              <a:ext uri="{FF2B5EF4-FFF2-40B4-BE49-F238E27FC236}">
                <a16:creationId xmlns:a16="http://schemas.microsoft.com/office/drawing/2014/main" id="{5E760DF8-34B3-687C-70C2-B76E23BA93E2}"/>
              </a:ext>
            </a:extLst>
          </p:cNvPr>
          <p:cNvSpPr txBox="1"/>
          <p:nvPr/>
        </p:nvSpPr>
        <p:spPr>
          <a:xfrm>
            <a:off x="766281" y="3016251"/>
            <a:ext cx="6097712" cy="923330"/>
          </a:xfrm>
          <a:prstGeom prst="rect">
            <a:avLst/>
          </a:prstGeom>
          <a:noFill/>
        </p:spPr>
        <p:txBody>
          <a:bodyPr wrap="square">
            <a:spAutoFit/>
          </a:bodyPr>
          <a:lstStyle/>
          <a:p>
            <a:r>
              <a:rPr lang="en-GB" b="0" i="0" u="none" strike="noStrike" dirty="0">
                <a:solidFill>
                  <a:srgbClr val="242424"/>
                </a:solidFill>
                <a:effectLst/>
              </a:rPr>
              <a:t>We can represent it as a 2D plot, where the </a:t>
            </a:r>
            <a:r>
              <a:rPr lang="en-GB" b="0" i="1" u="none" strike="noStrike" dirty="0">
                <a:solidFill>
                  <a:srgbClr val="242424"/>
                </a:solidFill>
                <a:effectLst/>
              </a:rPr>
              <a:t>x</a:t>
            </a:r>
            <a:r>
              <a:rPr lang="en-GB" b="0" i="0" u="none" strike="noStrike" dirty="0">
                <a:solidFill>
                  <a:srgbClr val="242424"/>
                </a:solidFill>
                <a:effectLst/>
              </a:rPr>
              <a:t> and </a:t>
            </a:r>
            <a:r>
              <a:rPr lang="en-GB" b="0" i="1" u="none" strike="noStrike" dirty="0">
                <a:solidFill>
                  <a:srgbClr val="242424"/>
                </a:solidFill>
                <a:effectLst/>
              </a:rPr>
              <a:t>y </a:t>
            </a:r>
            <a:r>
              <a:rPr lang="en-GB" b="0" i="0" u="none" strike="noStrike" dirty="0">
                <a:solidFill>
                  <a:srgbClr val="242424"/>
                </a:solidFill>
                <a:effectLst/>
              </a:rPr>
              <a:t>axis represent X₁ and X₂, and the </a:t>
            </a:r>
            <a:r>
              <a:rPr lang="en-GB" b="0" i="0" u="none" strike="noStrike" dirty="0" err="1">
                <a:solidFill>
                  <a:srgbClr val="242424"/>
                </a:solidFill>
                <a:effectLst/>
              </a:rPr>
              <a:t>color</a:t>
            </a:r>
            <a:r>
              <a:rPr lang="en-GB" b="0" i="0" u="none" strike="noStrike" dirty="0">
                <a:solidFill>
                  <a:srgbClr val="242424"/>
                </a:solidFill>
                <a:effectLst/>
              </a:rPr>
              <a:t> of the objects represents their value of Y.</a:t>
            </a:r>
            <a:endParaRPr lang="en-DE" dirty="0"/>
          </a:p>
        </p:txBody>
      </p:sp>
      <p:sp>
        <p:nvSpPr>
          <p:cNvPr id="9" name="TextBox 8">
            <a:extLst>
              <a:ext uri="{FF2B5EF4-FFF2-40B4-BE49-F238E27FC236}">
                <a16:creationId xmlns:a16="http://schemas.microsoft.com/office/drawing/2014/main" id="{A61D8200-3D0A-83C4-22AB-7672DC8A1AEC}"/>
              </a:ext>
            </a:extLst>
          </p:cNvPr>
          <p:cNvSpPr txBox="1"/>
          <p:nvPr/>
        </p:nvSpPr>
        <p:spPr>
          <a:xfrm>
            <a:off x="838200" y="5949407"/>
            <a:ext cx="9352054" cy="646331"/>
          </a:xfrm>
          <a:prstGeom prst="rect">
            <a:avLst/>
          </a:prstGeom>
          <a:noFill/>
        </p:spPr>
        <p:txBody>
          <a:bodyPr wrap="square">
            <a:spAutoFit/>
          </a:bodyPr>
          <a:lstStyle/>
          <a:p>
            <a:r>
              <a:rPr lang="en-GB" b="0" i="0" u="none" strike="noStrike" dirty="0">
                <a:solidFill>
                  <a:srgbClr val="242424"/>
                </a:solidFill>
                <a:effectLst/>
                <a:latin typeface="Calibri" panose="020F0502020204030204" pitchFamily="34" charset="0"/>
                <a:cs typeface="Calibri" panose="020F0502020204030204" pitchFamily="34" charset="0"/>
              </a:rPr>
              <a:t>The goal of our decision tree is to split the feature space into a set of </a:t>
            </a:r>
            <a:r>
              <a:rPr lang="en-GB" b="1" i="0" u="none" strike="noStrike" dirty="0">
                <a:solidFill>
                  <a:srgbClr val="242424"/>
                </a:solidFill>
                <a:effectLst/>
                <a:latin typeface="Calibri" panose="020F0502020204030204" pitchFamily="34" charset="0"/>
                <a:cs typeface="Calibri" panose="020F0502020204030204" pitchFamily="34" charset="0"/>
              </a:rPr>
              <a:t>subspaces</a:t>
            </a:r>
            <a:r>
              <a:rPr lang="en-GB" b="0" i="0" u="none" strike="noStrike" dirty="0">
                <a:solidFill>
                  <a:srgbClr val="242424"/>
                </a:solidFill>
                <a:effectLst/>
                <a:latin typeface="Calibri" panose="020F0502020204030204" pitchFamily="34" charset="0"/>
                <a:cs typeface="Calibri" panose="020F0502020204030204" pitchFamily="34" charset="0"/>
              </a:rPr>
              <a:t> where the data points within each subspace are as similar to each other as possible</a:t>
            </a:r>
            <a:endParaRPr lang="en-DE" dirty="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B4A0CA55-D175-E7F9-3D78-9F227A6E2251}"/>
              </a:ext>
            </a:extLst>
          </p:cNvPr>
          <p:cNvSpPr txBox="1"/>
          <p:nvPr/>
        </p:nvSpPr>
        <p:spPr>
          <a:xfrm>
            <a:off x="6318607" y="6596390"/>
            <a:ext cx="5979559" cy="261610"/>
          </a:xfrm>
          <a:prstGeom prst="rect">
            <a:avLst/>
          </a:prstGeom>
          <a:noFill/>
        </p:spPr>
        <p:txBody>
          <a:bodyPr wrap="square">
            <a:spAutoFit/>
          </a:bodyPr>
          <a:lstStyle/>
          <a:p>
            <a:r>
              <a:rPr lang="en-DE" sz="1050" dirty="0"/>
              <a:t>https://medium.com/@alexroz/regression-trees-explained-the-most-intuitive-intoduction-dffca74252f4</a:t>
            </a:r>
          </a:p>
        </p:txBody>
      </p:sp>
    </p:spTree>
    <p:extLst>
      <p:ext uri="{BB962C8B-B14F-4D97-AF65-F5344CB8AC3E}">
        <p14:creationId xmlns:p14="http://schemas.microsoft.com/office/powerpoint/2010/main" val="3898481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467E7-75C4-B805-CD7E-34A1662C8462}"/>
              </a:ext>
            </a:extLst>
          </p:cNvPr>
          <p:cNvSpPr>
            <a:spLocks noGrp="1"/>
          </p:cNvSpPr>
          <p:nvPr>
            <p:ph type="title"/>
          </p:nvPr>
        </p:nvSpPr>
        <p:spPr/>
        <p:txBody>
          <a:bodyPr/>
          <a:lstStyle/>
          <a:p>
            <a:r>
              <a:rPr lang="en-DE" dirty="0"/>
              <a:t>Splitting the feature space</a:t>
            </a:r>
          </a:p>
        </p:txBody>
      </p:sp>
      <p:pic>
        <p:nvPicPr>
          <p:cNvPr id="5" name="Content Placeholder 4">
            <a:extLst>
              <a:ext uri="{FF2B5EF4-FFF2-40B4-BE49-F238E27FC236}">
                <a16:creationId xmlns:a16="http://schemas.microsoft.com/office/drawing/2014/main" id="{8A4286BB-A91B-F011-7BA2-4EB2CD9EAEEC}"/>
              </a:ext>
            </a:extLst>
          </p:cNvPr>
          <p:cNvPicPr>
            <a:picLocks noGrp="1" noChangeAspect="1"/>
          </p:cNvPicPr>
          <p:nvPr>
            <p:ph idx="1"/>
          </p:nvPr>
        </p:nvPicPr>
        <p:blipFill>
          <a:blip r:embed="rId2"/>
          <a:stretch>
            <a:fillRect/>
          </a:stretch>
        </p:blipFill>
        <p:spPr>
          <a:xfrm>
            <a:off x="1290491" y="1690688"/>
            <a:ext cx="7642033" cy="3795712"/>
          </a:xfrm>
        </p:spPr>
      </p:pic>
      <p:sp>
        <p:nvSpPr>
          <p:cNvPr id="7" name="TextBox 6">
            <a:extLst>
              <a:ext uri="{FF2B5EF4-FFF2-40B4-BE49-F238E27FC236}">
                <a16:creationId xmlns:a16="http://schemas.microsoft.com/office/drawing/2014/main" id="{C7B3C13C-3EC7-1F52-E029-197175290BCC}"/>
              </a:ext>
            </a:extLst>
          </p:cNvPr>
          <p:cNvSpPr txBox="1"/>
          <p:nvPr/>
        </p:nvSpPr>
        <p:spPr>
          <a:xfrm>
            <a:off x="838201" y="5888633"/>
            <a:ext cx="9703084" cy="646331"/>
          </a:xfrm>
          <a:prstGeom prst="rect">
            <a:avLst/>
          </a:prstGeom>
          <a:noFill/>
        </p:spPr>
        <p:txBody>
          <a:bodyPr wrap="square">
            <a:spAutoFit/>
          </a:bodyPr>
          <a:lstStyle/>
          <a:p>
            <a:r>
              <a:rPr lang="en-GB" b="1" i="0" u="none" strike="noStrike" dirty="0">
                <a:solidFill>
                  <a:srgbClr val="242424"/>
                </a:solidFill>
                <a:effectLst/>
              </a:rPr>
              <a:t>Step 1.</a:t>
            </a:r>
            <a:r>
              <a:rPr lang="en-GB" b="0" i="0" u="none" strike="noStrike" dirty="0">
                <a:solidFill>
                  <a:srgbClr val="242424"/>
                </a:solidFill>
                <a:effectLst/>
              </a:rPr>
              <a:t> We start with a </a:t>
            </a:r>
            <a:r>
              <a:rPr lang="en-GB" b="1" i="0" u="none" strike="noStrike" dirty="0">
                <a:solidFill>
                  <a:srgbClr val="242424"/>
                </a:solidFill>
                <a:effectLst/>
              </a:rPr>
              <a:t>root node</a:t>
            </a:r>
            <a:r>
              <a:rPr lang="en-GB" b="0" i="0" u="none" strike="noStrike" dirty="0">
                <a:solidFill>
                  <a:srgbClr val="242424"/>
                </a:solidFill>
                <a:effectLst/>
              </a:rPr>
              <a:t> and define our first condition: if the value of feature X₁ is greater than some threshold </a:t>
            </a:r>
            <a:r>
              <a:rPr lang="en-GB" b="0" i="1" u="none" strike="noStrike" dirty="0">
                <a:solidFill>
                  <a:srgbClr val="242424"/>
                </a:solidFill>
                <a:effectLst/>
              </a:rPr>
              <a:t>t₁</a:t>
            </a:r>
            <a:r>
              <a:rPr lang="en-GB" b="0" i="0" u="none" strike="noStrike" dirty="0">
                <a:solidFill>
                  <a:srgbClr val="242424"/>
                </a:solidFill>
                <a:effectLst/>
              </a:rPr>
              <a:t>.</a:t>
            </a:r>
            <a:endParaRPr lang="en-DE" dirty="0"/>
          </a:p>
        </p:txBody>
      </p:sp>
      <p:sp>
        <p:nvSpPr>
          <p:cNvPr id="8" name="TextBox 7">
            <a:extLst>
              <a:ext uri="{FF2B5EF4-FFF2-40B4-BE49-F238E27FC236}">
                <a16:creationId xmlns:a16="http://schemas.microsoft.com/office/drawing/2014/main" id="{B64ED9C0-FF58-D1B1-ADDD-E2000CB31C81}"/>
              </a:ext>
            </a:extLst>
          </p:cNvPr>
          <p:cNvSpPr txBox="1"/>
          <p:nvPr/>
        </p:nvSpPr>
        <p:spPr>
          <a:xfrm>
            <a:off x="6318607" y="6596390"/>
            <a:ext cx="5979559" cy="261610"/>
          </a:xfrm>
          <a:prstGeom prst="rect">
            <a:avLst/>
          </a:prstGeom>
          <a:noFill/>
        </p:spPr>
        <p:txBody>
          <a:bodyPr wrap="square">
            <a:spAutoFit/>
          </a:bodyPr>
          <a:lstStyle/>
          <a:p>
            <a:r>
              <a:rPr lang="en-DE" sz="1050" dirty="0"/>
              <a:t>https://medium.com/@alexroz/regression-trees-explained-the-most-intuitive-intoduction-dffca74252f4</a:t>
            </a:r>
          </a:p>
        </p:txBody>
      </p:sp>
    </p:spTree>
    <p:extLst>
      <p:ext uri="{BB962C8B-B14F-4D97-AF65-F5344CB8AC3E}">
        <p14:creationId xmlns:p14="http://schemas.microsoft.com/office/powerpoint/2010/main" val="1842472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0697F21-6754-0CE2-0C55-760D46B61BF6}"/>
              </a:ext>
            </a:extLst>
          </p:cNvPr>
          <p:cNvPicPr>
            <a:picLocks noGrp="1" noChangeAspect="1"/>
          </p:cNvPicPr>
          <p:nvPr>
            <p:ph idx="1"/>
          </p:nvPr>
        </p:nvPicPr>
        <p:blipFill>
          <a:blip r:embed="rId2"/>
          <a:stretch>
            <a:fillRect/>
          </a:stretch>
        </p:blipFill>
        <p:spPr>
          <a:xfrm>
            <a:off x="1102627" y="1253331"/>
            <a:ext cx="9699069" cy="4351338"/>
          </a:xfrm>
        </p:spPr>
      </p:pic>
      <p:sp>
        <p:nvSpPr>
          <p:cNvPr id="4" name="Title 1">
            <a:extLst>
              <a:ext uri="{FF2B5EF4-FFF2-40B4-BE49-F238E27FC236}">
                <a16:creationId xmlns:a16="http://schemas.microsoft.com/office/drawing/2014/main" id="{36A557B7-2923-036E-DC84-5ACB94613674}"/>
              </a:ext>
            </a:extLst>
          </p:cNvPr>
          <p:cNvSpPr>
            <a:spLocks noGrp="1"/>
          </p:cNvSpPr>
          <p:nvPr>
            <p:ph type="title"/>
          </p:nvPr>
        </p:nvSpPr>
        <p:spPr/>
        <p:txBody>
          <a:bodyPr/>
          <a:lstStyle/>
          <a:p>
            <a:r>
              <a:rPr lang="en-DE" dirty="0"/>
              <a:t>Splitting the feature space</a:t>
            </a:r>
          </a:p>
        </p:txBody>
      </p:sp>
      <p:sp>
        <p:nvSpPr>
          <p:cNvPr id="8" name="TextBox 7">
            <a:extLst>
              <a:ext uri="{FF2B5EF4-FFF2-40B4-BE49-F238E27FC236}">
                <a16:creationId xmlns:a16="http://schemas.microsoft.com/office/drawing/2014/main" id="{4B37E0AD-18CA-C1BA-3D4F-D9C9385CD20D}"/>
              </a:ext>
            </a:extLst>
          </p:cNvPr>
          <p:cNvSpPr txBox="1"/>
          <p:nvPr/>
        </p:nvSpPr>
        <p:spPr>
          <a:xfrm>
            <a:off x="1390304" y="6021608"/>
            <a:ext cx="9411392" cy="646331"/>
          </a:xfrm>
          <a:prstGeom prst="rect">
            <a:avLst/>
          </a:prstGeom>
          <a:noFill/>
        </p:spPr>
        <p:txBody>
          <a:bodyPr wrap="square">
            <a:spAutoFit/>
          </a:bodyPr>
          <a:lstStyle/>
          <a:p>
            <a:r>
              <a:rPr lang="en-GB" b="1" i="0" u="none" strike="noStrike" dirty="0">
                <a:solidFill>
                  <a:srgbClr val="242424"/>
                </a:solidFill>
                <a:effectLst/>
              </a:rPr>
              <a:t>Step 2.</a:t>
            </a:r>
            <a:r>
              <a:rPr lang="en-GB" b="0" i="0" u="none" strike="noStrike" dirty="0">
                <a:solidFill>
                  <a:srgbClr val="242424"/>
                </a:solidFill>
                <a:effectLst/>
              </a:rPr>
              <a:t> Now let’s zoom into region left region. Within this subspace, we introduce a new condition — this time for feature X₂ with threshold </a:t>
            </a:r>
            <a:r>
              <a:rPr lang="en-GB" b="0" i="1" u="none" strike="noStrike" dirty="0">
                <a:solidFill>
                  <a:srgbClr val="242424"/>
                </a:solidFill>
                <a:effectLst/>
              </a:rPr>
              <a:t>t₂</a:t>
            </a:r>
            <a:r>
              <a:rPr lang="en-GB" b="0" i="0" u="none" strike="noStrike" dirty="0">
                <a:solidFill>
                  <a:srgbClr val="242424"/>
                </a:solidFill>
                <a:effectLst/>
              </a:rPr>
              <a:t>.</a:t>
            </a:r>
            <a:endParaRPr lang="en-DE" dirty="0"/>
          </a:p>
        </p:txBody>
      </p:sp>
      <p:sp>
        <p:nvSpPr>
          <p:cNvPr id="9" name="TextBox 8">
            <a:extLst>
              <a:ext uri="{FF2B5EF4-FFF2-40B4-BE49-F238E27FC236}">
                <a16:creationId xmlns:a16="http://schemas.microsoft.com/office/drawing/2014/main" id="{9F31B59B-F65F-AFB7-BB66-813B1EA91C32}"/>
              </a:ext>
            </a:extLst>
          </p:cNvPr>
          <p:cNvSpPr txBox="1"/>
          <p:nvPr/>
        </p:nvSpPr>
        <p:spPr>
          <a:xfrm>
            <a:off x="6318607" y="6596390"/>
            <a:ext cx="5979559" cy="261610"/>
          </a:xfrm>
          <a:prstGeom prst="rect">
            <a:avLst/>
          </a:prstGeom>
          <a:noFill/>
        </p:spPr>
        <p:txBody>
          <a:bodyPr wrap="square">
            <a:spAutoFit/>
          </a:bodyPr>
          <a:lstStyle/>
          <a:p>
            <a:r>
              <a:rPr lang="en-DE" sz="1050" dirty="0"/>
              <a:t>https://medium.com/@alexroz/regression-trees-explained-the-most-intuitive-intoduction-dffca74252f4</a:t>
            </a:r>
          </a:p>
        </p:txBody>
      </p:sp>
    </p:spTree>
    <p:extLst>
      <p:ext uri="{BB962C8B-B14F-4D97-AF65-F5344CB8AC3E}">
        <p14:creationId xmlns:p14="http://schemas.microsoft.com/office/powerpoint/2010/main" val="3403914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307102C-D6AF-D79C-BB37-F6608A7025CD}"/>
              </a:ext>
            </a:extLst>
          </p:cNvPr>
          <p:cNvPicPr>
            <a:picLocks noGrp="1" noChangeAspect="1"/>
          </p:cNvPicPr>
          <p:nvPr>
            <p:ph idx="1"/>
          </p:nvPr>
        </p:nvPicPr>
        <p:blipFill>
          <a:blip r:embed="rId2"/>
          <a:stretch>
            <a:fillRect/>
          </a:stretch>
        </p:blipFill>
        <p:spPr>
          <a:xfrm>
            <a:off x="1565416" y="1445482"/>
            <a:ext cx="9061166" cy="4351338"/>
          </a:xfrm>
        </p:spPr>
      </p:pic>
      <p:sp>
        <p:nvSpPr>
          <p:cNvPr id="6" name="Title 1">
            <a:extLst>
              <a:ext uri="{FF2B5EF4-FFF2-40B4-BE49-F238E27FC236}">
                <a16:creationId xmlns:a16="http://schemas.microsoft.com/office/drawing/2014/main" id="{34E904CC-805D-10DA-43BD-36B7A1B5592B}"/>
              </a:ext>
            </a:extLst>
          </p:cNvPr>
          <p:cNvSpPr>
            <a:spLocks noGrp="1"/>
          </p:cNvSpPr>
          <p:nvPr>
            <p:ph type="title"/>
          </p:nvPr>
        </p:nvSpPr>
        <p:spPr/>
        <p:txBody>
          <a:bodyPr/>
          <a:lstStyle/>
          <a:p>
            <a:r>
              <a:rPr lang="en-DE" dirty="0"/>
              <a:t>Splitting the feature space</a:t>
            </a:r>
          </a:p>
        </p:txBody>
      </p:sp>
      <p:sp>
        <p:nvSpPr>
          <p:cNvPr id="8" name="TextBox 7">
            <a:extLst>
              <a:ext uri="{FF2B5EF4-FFF2-40B4-BE49-F238E27FC236}">
                <a16:creationId xmlns:a16="http://schemas.microsoft.com/office/drawing/2014/main" id="{EFFD577B-DC36-65C9-10F1-6E50BB4B9E86}"/>
              </a:ext>
            </a:extLst>
          </p:cNvPr>
          <p:cNvSpPr txBox="1"/>
          <p:nvPr/>
        </p:nvSpPr>
        <p:spPr>
          <a:xfrm>
            <a:off x="598040" y="5676848"/>
            <a:ext cx="10995917" cy="923330"/>
          </a:xfrm>
          <a:prstGeom prst="rect">
            <a:avLst/>
          </a:prstGeom>
          <a:noFill/>
        </p:spPr>
        <p:txBody>
          <a:bodyPr wrap="square">
            <a:spAutoFit/>
          </a:bodyPr>
          <a:lstStyle/>
          <a:p>
            <a:r>
              <a:rPr lang="en-GB" b="1" i="0" u="none" strike="noStrike" dirty="0">
                <a:solidFill>
                  <a:srgbClr val="242424"/>
                </a:solidFill>
                <a:effectLst/>
              </a:rPr>
              <a:t>Step 3.</a:t>
            </a:r>
            <a:r>
              <a:rPr lang="en-GB" b="0" i="0" u="none" strike="noStrike" dirty="0">
                <a:solidFill>
                  <a:srgbClr val="242424"/>
                </a:solidFill>
                <a:effectLst/>
              </a:rPr>
              <a:t> By applying this process recursively, i.e. splitting each region using simple threshold-based conditions , we keep dividing the space into smaller and more </a:t>
            </a:r>
            <a:r>
              <a:rPr lang="en-GB" b="1" i="0" u="none" strike="noStrike" dirty="0">
                <a:solidFill>
                  <a:srgbClr val="242424"/>
                </a:solidFill>
                <a:effectLst/>
              </a:rPr>
              <a:t>homogeneous</a:t>
            </a:r>
            <a:r>
              <a:rPr lang="en-GB" b="0" i="0" u="none" strike="noStrike" dirty="0">
                <a:solidFill>
                  <a:srgbClr val="242424"/>
                </a:solidFill>
                <a:effectLst/>
              </a:rPr>
              <a:t> subregions (resulting in R₁-R₅). The number of such splits is governed by the tree’s </a:t>
            </a:r>
            <a:r>
              <a:rPr lang="en-GB" b="1" i="0" u="none" strike="noStrike" dirty="0">
                <a:solidFill>
                  <a:srgbClr val="242424"/>
                </a:solidFill>
                <a:effectLst/>
              </a:rPr>
              <a:t>depth</a:t>
            </a:r>
            <a:r>
              <a:rPr lang="en-GB" b="0" i="0" u="none" strike="noStrike" dirty="0">
                <a:solidFill>
                  <a:srgbClr val="242424"/>
                </a:solidFill>
                <a:effectLst/>
              </a:rPr>
              <a:t>, which corresponds to how many levels of decisions we make from root to leaf.</a:t>
            </a:r>
            <a:endParaRPr lang="en-DE" dirty="0"/>
          </a:p>
        </p:txBody>
      </p:sp>
      <p:sp>
        <p:nvSpPr>
          <p:cNvPr id="9" name="TextBox 8">
            <a:extLst>
              <a:ext uri="{FF2B5EF4-FFF2-40B4-BE49-F238E27FC236}">
                <a16:creationId xmlns:a16="http://schemas.microsoft.com/office/drawing/2014/main" id="{E1231E9D-3221-47D2-B521-C7A7ED13742A}"/>
              </a:ext>
            </a:extLst>
          </p:cNvPr>
          <p:cNvSpPr txBox="1"/>
          <p:nvPr/>
        </p:nvSpPr>
        <p:spPr>
          <a:xfrm>
            <a:off x="6318607" y="6596390"/>
            <a:ext cx="5979559" cy="261610"/>
          </a:xfrm>
          <a:prstGeom prst="rect">
            <a:avLst/>
          </a:prstGeom>
          <a:noFill/>
        </p:spPr>
        <p:txBody>
          <a:bodyPr wrap="square">
            <a:spAutoFit/>
          </a:bodyPr>
          <a:lstStyle/>
          <a:p>
            <a:r>
              <a:rPr lang="en-DE" sz="1050" dirty="0"/>
              <a:t>https://medium.com/@alexroz/regression-trees-explained-the-most-intuitive-intoduction-dffca74252f4</a:t>
            </a:r>
          </a:p>
        </p:txBody>
      </p:sp>
    </p:spTree>
    <p:extLst>
      <p:ext uri="{BB962C8B-B14F-4D97-AF65-F5344CB8AC3E}">
        <p14:creationId xmlns:p14="http://schemas.microsoft.com/office/powerpoint/2010/main" val="2727186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5BB1C-D515-20DE-2737-88177D41FFF5}"/>
              </a:ext>
            </a:extLst>
          </p:cNvPr>
          <p:cNvSpPr>
            <a:spLocks noGrp="1"/>
          </p:cNvSpPr>
          <p:nvPr>
            <p:ph type="title"/>
          </p:nvPr>
        </p:nvSpPr>
        <p:spPr>
          <a:xfrm>
            <a:off x="575352" y="-107434"/>
            <a:ext cx="10515600" cy="1325563"/>
          </a:xfrm>
        </p:spPr>
        <p:txBody>
          <a:bodyPr/>
          <a:lstStyle/>
          <a:p>
            <a:r>
              <a:rPr lang="en-DE" dirty="0"/>
              <a:t>Data splitting</a:t>
            </a:r>
          </a:p>
        </p:txBody>
      </p:sp>
      <p:sp>
        <p:nvSpPr>
          <p:cNvPr id="3" name="Content Placeholder 2">
            <a:extLst>
              <a:ext uri="{FF2B5EF4-FFF2-40B4-BE49-F238E27FC236}">
                <a16:creationId xmlns:a16="http://schemas.microsoft.com/office/drawing/2014/main" id="{B8184F95-C7DC-3B08-603E-91430EB5210A}"/>
              </a:ext>
            </a:extLst>
          </p:cNvPr>
          <p:cNvSpPr>
            <a:spLocks noGrp="1"/>
          </p:cNvSpPr>
          <p:nvPr>
            <p:ph idx="1"/>
          </p:nvPr>
        </p:nvSpPr>
        <p:spPr>
          <a:xfrm>
            <a:off x="267129" y="350552"/>
            <a:ext cx="9714214" cy="3310330"/>
          </a:xfrm>
        </p:spPr>
        <p:txBody>
          <a:bodyPr/>
          <a:lstStyle/>
          <a:p>
            <a:pPr marL="0" indent="0">
              <a:buNone/>
            </a:pPr>
            <a:endParaRPr lang="en-DE" dirty="0"/>
          </a:p>
          <a:p>
            <a:pPr marL="0" indent="0">
              <a:buNone/>
            </a:pPr>
            <a:endParaRPr lang="en-DE" dirty="0"/>
          </a:p>
          <a:p>
            <a:pPr marL="0" indent="0">
              <a:buNone/>
            </a:pPr>
            <a:r>
              <a:rPr lang="en-GB" dirty="0"/>
              <a:t> </a:t>
            </a:r>
          </a:p>
          <a:p>
            <a:pPr marL="0" indent="0">
              <a:buNone/>
            </a:pPr>
            <a:r>
              <a:rPr lang="en-DE" dirty="0"/>
              <a:t>Original dataset </a:t>
            </a:r>
          </a:p>
        </p:txBody>
      </p:sp>
      <p:grpSp>
        <p:nvGrpSpPr>
          <p:cNvPr id="12" name="Group 11">
            <a:extLst>
              <a:ext uri="{FF2B5EF4-FFF2-40B4-BE49-F238E27FC236}">
                <a16:creationId xmlns:a16="http://schemas.microsoft.com/office/drawing/2014/main" id="{4929E75E-C777-AEBB-438B-07B372145FC5}"/>
              </a:ext>
            </a:extLst>
          </p:cNvPr>
          <p:cNvGrpSpPr/>
          <p:nvPr/>
        </p:nvGrpSpPr>
        <p:grpSpPr>
          <a:xfrm>
            <a:off x="2836524" y="1404551"/>
            <a:ext cx="8691937" cy="2442753"/>
            <a:chOff x="3215811" y="2802651"/>
            <a:chExt cx="8691937" cy="2442753"/>
          </a:xfrm>
        </p:grpSpPr>
        <p:cxnSp>
          <p:nvCxnSpPr>
            <p:cNvPr id="5" name="Straight Arrow Connector 4">
              <a:extLst>
                <a:ext uri="{FF2B5EF4-FFF2-40B4-BE49-F238E27FC236}">
                  <a16:creationId xmlns:a16="http://schemas.microsoft.com/office/drawing/2014/main" id="{3E637C97-7387-25B8-8485-FC89767ED358}"/>
                </a:ext>
              </a:extLst>
            </p:cNvPr>
            <p:cNvCxnSpPr>
              <a:cxnSpLocks/>
              <a:endCxn id="10" idx="1"/>
            </p:cNvCxnSpPr>
            <p:nvPr/>
          </p:nvCxnSpPr>
          <p:spPr>
            <a:xfrm>
              <a:off x="3215811" y="3534310"/>
              <a:ext cx="1633911" cy="1526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C8D46FB7-253D-5B6C-F5DE-31B0FD786EFA}"/>
                </a:ext>
              </a:extLst>
            </p:cNvPr>
            <p:cNvCxnSpPr>
              <a:cxnSpLocks/>
            </p:cNvCxnSpPr>
            <p:nvPr/>
          </p:nvCxnSpPr>
          <p:spPr>
            <a:xfrm flipV="1">
              <a:off x="3215811" y="3073685"/>
              <a:ext cx="1398998" cy="460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DDDD65B-123F-0325-54E5-F553CA97AB8A}"/>
                </a:ext>
              </a:extLst>
            </p:cNvPr>
            <p:cNvSpPr txBox="1"/>
            <p:nvPr/>
          </p:nvSpPr>
          <p:spPr>
            <a:xfrm>
              <a:off x="4705564" y="2802651"/>
              <a:ext cx="7202184" cy="1754326"/>
            </a:xfrm>
            <a:prstGeom prst="rect">
              <a:avLst/>
            </a:prstGeom>
            <a:noFill/>
          </p:spPr>
          <p:txBody>
            <a:bodyPr wrap="square" rtlCol="0">
              <a:spAutoFit/>
            </a:bodyPr>
            <a:lstStyle/>
            <a:p>
              <a:r>
                <a:rPr lang="en-DE" dirty="0"/>
                <a:t>Training data- </a:t>
              </a:r>
              <a:r>
                <a:rPr lang="en-GB" sz="1800" dirty="0"/>
                <a:t>those regions define the model’s predictions.</a:t>
              </a:r>
            </a:p>
            <a:p>
              <a:endParaRPr lang="en-GB" dirty="0"/>
            </a:p>
            <a:p>
              <a:r>
                <a:rPr lang="en-GB" b="0" i="0" u="none" strike="noStrike" dirty="0">
                  <a:solidFill>
                    <a:srgbClr val="242424"/>
                  </a:solidFill>
                  <a:effectLst/>
                  <a:latin typeface="source-serif-pro"/>
                </a:rPr>
                <a:t>- contains training points with known values of the target variable </a:t>
              </a:r>
              <a:r>
                <a:rPr lang="en-GB" b="0" i="1" u="none" strike="noStrike" dirty="0">
                  <a:solidFill>
                    <a:srgbClr val="242424"/>
                  </a:solidFill>
                  <a:effectLst/>
                  <a:latin typeface="source-serif-pro"/>
                </a:rPr>
                <a:t>Y</a:t>
              </a:r>
              <a:r>
                <a:rPr lang="en-GB" b="0" i="0" u="none" strike="noStrike" dirty="0">
                  <a:solidFill>
                    <a:srgbClr val="242424"/>
                  </a:solidFill>
                  <a:effectLst/>
                  <a:latin typeface="source-serif-pro"/>
                </a:rPr>
                <a:t>. So when a new test point falls into one of those regions, the tree predicts its value as the </a:t>
              </a:r>
              <a:r>
                <a:rPr lang="en-GB" b="1" i="0" u="none" strike="noStrike" dirty="0">
                  <a:solidFill>
                    <a:srgbClr val="242424"/>
                  </a:solidFill>
                  <a:effectLst/>
                  <a:latin typeface="source-serif-pro"/>
                </a:rPr>
                <a:t>average of Y values</a:t>
              </a:r>
              <a:r>
                <a:rPr lang="en-GB" b="0" i="0" u="none" strike="noStrike" dirty="0">
                  <a:solidFill>
                    <a:srgbClr val="242424"/>
                  </a:solidFill>
                  <a:effectLst/>
                  <a:latin typeface="source-serif-pro"/>
                </a:rPr>
                <a:t> from the training points in that same region </a:t>
              </a:r>
              <a:endParaRPr lang="en-DE" sz="1800" dirty="0"/>
            </a:p>
          </p:txBody>
        </p:sp>
        <p:sp>
          <p:nvSpPr>
            <p:cNvPr id="10" name="TextBox 9">
              <a:extLst>
                <a:ext uri="{FF2B5EF4-FFF2-40B4-BE49-F238E27FC236}">
                  <a16:creationId xmlns:a16="http://schemas.microsoft.com/office/drawing/2014/main" id="{1457710D-8D43-8545-D92E-DD64AD05BD2A}"/>
                </a:ext>
              </a:extLst>
            </p:cNvPr>
            <p:cNvSpPr txBox="1"/>
            <p:nvPr/>
          </p:nvSpPr>
          <p:spPr>
            <a:xfrm>
              <a:off x="4849722" y="4876072"/>
              <a:ext cx="1307602" cy="369332"/>
            </a:xfrm>
            <a:prstGeom prst="rect">
              <a:avLst/>
            </a:prstGeom>
            <a:noFill/>
          </p:spPr>
          <p:txBody>
            <a:bodyPr wrap="none" rtlCol="0">
              <a:spAutoFit/>
            </a:bodyPr>
            <a:lstStyle/>
            <a:p>
              <a:r>
                <a:rPr lang="en-DE" dirty="0"/>
                <a:t>Testing data</a:t>
              </a:r>
            </a:p>
          </p:txBody>
        </p:sp>
      </p:grpSp>
      <p:pic>
        <p:nvPicPr>
          <p:cNvPr id="16" name="Picture 15">
            <a:extLst>
              <a:ext uri="{FF2B5EF4-FFF2-40B4-BE49-F238E27FC236}">
                <a16:creationId xmlns:a16="http://schemas.microsoft.com/office/drawing/2014/main" id="{F8706031-9854-3934-D6D8-D137D47AE93B}"/>
              </a:ext>
            </a:extLst>
          </p:cNvPr>
          <p:cNvPicPr>
            <a:picLocks noChangeAspect="1"/>
          </p:cNvPicPr>
          <p:nvPr/>
        </p:nvPicPr>
        <p:blipFill>
          <a:blip r:embed="rId2"/>
          <a:stretch>
            <a:fillRect/>
          </a:stretch>
        </p:blipFill>
        <p:spPr>
          <a:xfrm>
            <a:off x="2200383" y="3946147"/>
            <a:ext cx="6193604" cy="2784203"/>
          </a:xfrm>
          <a:prstGeom prst="rect">
            <a:avLst/>
          </a:prstGeom>
        </p:spPr>
      </p:pic>
      <p:sp>
        <p:nvSpPr>
          <p:cNvPr id="18" name="TextBox 17">
            <a:extLst>
              <a:ext uri="{FF2B5EF4-FFF2-40B4-BE49-F238E27FC236}">
                <a16:creationId xmlns:a16="http://schemas.microsoft.com/office/drawing/2014/main" id="{0F623803-37AE-1014-1A17-A9CA6DD9526E}"/>
              </a:ext>
            </a:extLst>
          </p:cNvPr>
          <p:cNvSpPr txBox="1"/>
          <p:nvPr/>
        </p:nvSpPr>
        <p:spPr>
          <a:xfrm>
            <a:off x="6318607" y="6596390"/>
            <a:ext cx="5979559" cy="261610"/>
          </a:xfrm>
          <a:prstGeom prst="rect">
            <a:avLst/>
          </a:prstGeom>
          <a:noFill/>
        </p:spPr>
        <p:txBody>
          <a:bodyPr wrap="square">
            <a:spAutoFit/>
          </a:bodyPr>
          <a:lstStyle/>
          <a:p>
            <a:r>
              <a:rPr lang="en-DE" sz="1050" dirty="0"/>
              <a:t>https://medium.com/@alexroz/regression-trees-explained-the-most-intuitive-intoduction-dffca74252f4</a:t>
            </a:r>
          </a:p>
        </p:txBody>
      </p:sp>
    </p:spTree>
    <p:extLst>
      <p:ext uri="{BB962C8B-B14F-4D97-AF65-F5344CB8AC3E}">
        <p14:creationId xmlns:p14="http://schemas.microsoft.com/office/powerpoint/2010/main" val="2311519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A6380-4747-16C9-2F4C-281E5272C0B7}"/>
              </a:ext>
            </a:extLst>
          </p:cNvPr>
          <p:cNvSpPr>
            <a:spLocks noGrp="1"/>
          </p:cNvSpPr>
          <p:nvPr>
            <p:ph type="title"/>
          </p:nvPr>
        </p:nvSpPr>
        <p:spPr/>
        <p:txBody>
          <a:bodyPr/>
          <a:lstStyle/>
          <a:p>
            <a:r>
              <a:rPr lang="en-DE" dirty="0"/>
              <a:t>Core concept behind Regression trees</a:t>
            </a:r>
          </a:p>
        </p:txBody>
      </p:sp>
      <p:sp>
        <p:nvSpPr>
          <p:cNvPr id="4" name="Content Placeholder 3">
            <a:extLst>
              <a:ext uri="{FF2B5EF4-FFF2-40B4-BE49-F238E27FC236}">
                <a16:creationId xmlns:a16="http://schemas.microsoft.com/office/drawing/2014/main" id="{44E93245-02FF-5CF8-4D01-01D134B9FC35}"/>
              </a:ext>
            </a:extLst>
          </p:cNvPr>
          <p:cNvSpPr txBox="1">
            <a:spLocks noGrp="1"/>
          </p:cNvSpPr>
          <p:nvPr>
            <p:ph idx="1"/>
          </p:nvPr>
        </p:nvSpPr>
        <p:spPr>
          <a:xfrm>
            <a:off x="838200" y="2380430"/>
            <a:ext cx="10515600" cy="1643527"/>
          </a:xfrm>
          <a:prstGeom prst="rect">
            <a:avLst/>
          </a:prstGeom>
          <a:noFill/>
        </p:spPr>
        <p:txBody>
          <a:bodyPr wrap="square">
            <a:spAutoFit/>
          </a:bodyPr>
          <a:lstStyle/>
          <a:p>
            <a:pPr marL="0" indent="0">
              <a:buNone/>
            </a:pPr>
            <a:r>
              <a:rPr lang="en-GB" dirty="0">
                <a:solidFill>
                  <a:srgbClr val="242424"/>
                </a:solidFill>
                <a:latin typeface="source-serif-pro"/>
              </a:rPr>
              <a:t>I</a:t>
            </a:r>
            <a:r>
              <a:rPr lang="en-GB" b="0" i="0" u="none" strike="noStrike" dirty="0">
                <a:solidFill>
                  <a:srgbClr val="242424"/>
                </a:solidFill>
                <a:effectLst/>
                <a:latin typeface="source-serif-pro"/>
              </a:rPr>
              <a:t>nstead of fitting a smooth curve, we’re carving up the feature space into chunks where the target values are as </a:t>
            </a:r>
            <a:r>
              <a:rPr lang="en-GB" b="1" i="0" u="none" strike="noStrike" dirty="0">
                <a:solidFill>
                  <a:srgbClr val="242424"/>
                </a:solidFill>
                <a:effectLst/>
                <a:latin typeface="source-serif-pro"/>
              </a:rPr>
              <a:t>homogeneous</a:t>
            </a:r>
            <a:r>
              <a:rPr lang="en-GB" b="0" i="0" u="none" strike="noStrike" dirty="0">
                <a:solidFill>
                  <a:srgbClr val="242424"/>
                </a:solidFill>
                <a:effectLst/>
                <a:latin typeface="source-serif-pro"/>
              </a:rPr>
              <a:t> as possible. The tree learns to </a:t>
            </a:r>
            <a:r>
              <a:rPr lang="en-GB" b="1" i="0" u="none" strike="noStrike" dirty="0">
                <a:solidFill>
                  <a:srgbClr val="242424"/>
                </a:solidFill>
                <a:effectLst/>
                <a:latin typeface="source-serif-pro"/>
              </a:rPr>
              <a:t>minimize variance </a:t>
            </a:r>
            <a:r>
              <a:rPr lang="en-GB" b="0" i="0" u="none" strike="noStrike" dirty="0">
                <a:solidFill>
                  <a:srgbClr val="242424"/>
                </a:solidFill>
                <a:effectLst/>
                <a:latin typeface="source-serif-pro"/>
              </a:rPr>
              <a:t>within each region, making sure that the points grouped together are similar in value.</a:t>
            </a:r>
            <a:endParaRPr lang="en-DE" dirty="0"/>
          </a:p>
        </p:txBody>
      </p:sp>
      <p:sp>
        <p:nvSpPr>
          <p:cNvPr id="5" name="TextBox 4">
            <a:extLst>
              <a:ext uri="{FF2B5EF4-FFF2-40B4-BE49-F238E27FC236}">
                <a16:creationId xmlns:a16="http://schemas.microsoft.com/office/drawing/2014/main" id="{BD3CA579-4BA8-2C6B-9298-EF95D074B073}"/>
              </a:ext>
            </a:extLst>
          </p:cNvPr>
          <p:cNvSpPr txBox="1"/>
          <p:nvPr/>
        </p:nvSpPr>
        <p:spPr>
          <a:xfrm>
            <a:off x="6318607" y="6596390"/>
            <a:ext cx="5979559" cy="261610"/>
          </a:xfrm>
          <a:prstGeom prst="rect">
            <a:avLst/>
          </a:prstGeom>
          <a:noFill/>
        </p:spPr>
        <p:txBody>
          <a:bodyPr wrap="square">
            <a:spAutoFit/>
          </a:bodyPr>
          <a:lstStyle/>
          <a:p>
            <a:r>
              <a:rPr lang="en-DE" sz="1050" dirty="0"/>
              <a:t>https://medium.com/@alexroz/regression-trees-explained-the-most-intuitive-intoduction-dffca74252f4</a:t>
            </a:r>
          </a:p>
        </p:txBody>
      </p:sp>
    </p:spTree>
    <p:extLst>
      <p:ext uri="{BB962C8B-B14F-4D97-AF65-F5344CB8AC3E}">
        <p14:creationId xmlns:p14="http://schemas.microsoft.com/office/powerpoint/2010/main" val="1257327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646DC-0A12-F5F3-4F52-409F17D35E7A}"/>
              </a:ext>
            </a:extLst>
          </p:cNvPr>
          <p:cNvSpPr>
            <a:spLocks noGrp="1"/>
          </p:cNvSpPr>
          <p:nvPr>
            <p:ph type="title"/>
          </p:nvPr>
        </p:nvSpPr>
        <p:spPr/>
        <p:txBody>
          <a:bodyPr/>
          <a:lstStyle/>
          <a:p>
            <a:r>
              <a:rPr lang="en-DE" dirty="0"/>
              <a:t>Three things to keep in mind</a:t>
            </a:r>
          </a:p>
        </p:txBody>
      </p:sp>
      <p:sp>
        <p:nvSpPr>
          <p:cNvPr id="3" name="Content Placeholder 2">
            <a:extLst>
              <a:ext uri="{FF2B5EF4-FFF2-40B4-BE49-F238E27FC236}">
                <a16:creationId xmlns:a16="http://schemas.microsoft.com/office/drawing/2014/main" id="{2860F745-5114-1CE1-6D53-2BA2C48DE233}"/>
              </a:ext>
            </a:extLst>
          </p:cNvPr>
          <p:cNvSpPr>
            <a:spLocks noGrp="1"/>
          </p:cNvSpPr>
          <p:nvPr>
            <p:ph idx="1"/>
          </p:nvPr>
        </p:nvSpPr>
        <p:spPr/>
        <p:txBody>
          <a:bodyPr/>
          <a:lstStyle/>
          <a:p>
            <a:pPr algn="l">
              <a:buFont typeface="Arial" panose="020B0604020202020204" pitchFamily="34" charset="0"/>
              <a:buChar char="•"/>
            </a:pPr>
            <a:r>
              <a:rPr lang="en-GB" b="0" i="1" u="none" strike="noStrike" dirty="0">
                <a:effectLst/>
                <a:latin typeface="source-serif-pro"/>
              </a:rPr>
              <a:t>How do we choose the variable to split by, and where exactly to place the threshold?</a:t>
            </a:r>
            <a:endParaRPr lang="en-GB" b="0" i="0" u="none" strike="noStrike" dirty="0">
              <a:effectLst/>
              <a:latin typeface="source-serif-pro"/>
            </a:endParaRPr>
          </a:p>
          <a:p>
            <a:pPr algn="l">
              <a:buFont typeface="Arial" panose="020B0604020202020204" pitchFamily="34" charset="0"/>
              <a:buChar char="•"/>
            </a:pPr>
            <a:r>
              <a:rPr lang="en-GB" b="0" i="1" u="none" strike="noStrike" dirty="0">
                <a:effectLst/>
                <a:latin typeface="source-serif-pro"/>
              </a:rPr>
              <a:t>When should the tree stop growing?</a:t>
            </a:r>
            <a:endParaRPr lang="en-GB" b="0" i="0" u="none" strike="noStrike" dirty="0">
              <a:effectLst/>
              <a:latin typeface="source-serif-pro"/>
            </a:endParaRPr>
          </a:p>
          <a:p>
            <a:pPr algn="l">
              <a:buFont typeface="Arial" panose="020B0604020202020204" pitchFamily="34" charset="0"/>
              <a:buChar char="•"/>
            </a:pPr>
            <a:r>
              <a:rPr lang="en-GB" b="0" i="1" u="none" strike="noStrike" dirty="0">
                <a:effectLst/>
                <a:latin typeface="source-serif-pro"/>
              </a:rPr>
              <a:t>What are the limitations of this architecture? Can a tree really approximate complex, non-linear functions?</a:t>
            </a:r>
            <a:endParaRPr lang="en-GB" b="0" i="0" u="none" strike="noStrike" dirty="0">
              <a:effectLst/>
              <a:latin typeface="source-serif-pro"/>
            </a:endParaRPr>
          </a:p>
          <a:p>
            <a:pPr marL="0" indent="0">
              <a:buNone/>
            </a:pPr>
            <a:br>
              <a:rPr lang="en-GB" dirty="0"/>
            </a:br>
            <a:endParaRPr lang="en-DE" dirty="0"/>
          </a:p>
        </p:txBody>
      </p:sp>
      <p:sp>
        <p:nvSpPr>
          <p:cNvPr id="4" name="TextBox 3">
            <a:extLst>
              <a:ext uri="{FF2B5EF4-FFF2-40B4-BE49-F238E27FC236}">
                <a16:creationId xmlns:a16="http://schemas.microsoft.com/office/drawing/2014/main" id="{A46033AB-B26C-C2FA-5D7B-4D4039638761}"/>
              </a:ext>
            </a:extLst>
          </p:cNvPr>
          <p:cNvSpPr txBox="1"/>
          <p:nvPr/>
        </p:nvSpPr>
        <p:spPr>
          <a:xfrm>
            <a:off x="6318607" y="6596390"/>
            <a:ext cx="5979559" cy="261610"/>
          </a:xfrm>
          <a:prstGeom prst="rect">
            <a:avLst/>
          </a:prstGeom>
          <a:noFill/>
        </p:spPr>
        <p:txBody>
          <a:bodyPr wrap="square">
            <a:spAutoFit/>
          </a:bodyPr>
          <a:lstStyle/>
          <a:p>
            <a:r>
              <a:rPr lang="en-DE" sz="1050" dirty="0"/>
              <a:t>https://medium.com/@alexroz/regression-trees-explained-the-most-intuitive-intoduction-dffca74252f4</a:t>
            </a:r>
          </a:p>
        </p:txBody>
      </p:sp>
    </p:spTree>
    <p:extLst>
      <p:ext uri="{BB962C8B-B14F-4D97-AF65-F5344CB8AC3E}">
        <p14:creationId xmlns:p14="http://schemas.microsoft.com/office/powerpoint/2010/main" val="3061717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856ED-7C92-A8F9-9333-1269F62A61E8}"/>
              </a:ext>
            </a:extLst>
          </p:cNvPr>
          <p:cNvSpPr>
            <a:spLocks noGrp="1"/>
          </p:cNvSpPr>
          <p:nvPr>
            <p:ph type="title"/>
          </p:nvPr>
        </p:nvSpPr>
        <p:spPr/>
        <p:txBody>
          <a:bodyPr/>
          <a:lstStyle/>
          <a:p>
            <a:r>
              <a:rPr lang="en-GB" dirty="0"/>
              <a:t>Splitting</a:t>
            </a:r>
            <a:br>
              <a:rPr lang="en-GB" dirty="0"/>
            </a:br>
            <a:endParaRPr lang="en-DE" dirty="0"/>
          </a:p>
        </p:txBody>
      </p:sp>
      <p:sp>
        <p:nvSpPr>
          <p:cNvPr id="3" name="Content Placeholder 2">
            <a:extLst>
              <a:ext uri="{FF2B5EF4-FFF2-40B4-BE49-F238E27FC236}">
                <a16:creationId xmlns:a16="http://schemas.microsoft.com/office/drawing/2014/main" id="{DF9C1B4F-6D3A-4E5C-ABA7-B4BDDCD56BF4}"/>
              </a:ext>
            </a:extLst>
          </p:cNvPr>
          <p:cNvSpPr>
            <a:spLocks noGrp="1"/>
          </p:cNvSpPr>
          <p:nvPr>
            <p:ph idx="1"/>
          </p:nvPr>
        </p:nvSpPr>
        <p:spPr/>
        <p:txBody>
          <a:bodyPr>
            <a:normAutofit/>
          </a:bodyPr>
          <a:lstStyle/>
          <a:p>
            <a:r>
              <a:rPr lang="en-GB" dirty="0"/>
              <a:t>Mean Squared Error (MSE)</a:t>
            </a:r>
          </a:p>
          <a:p>
            <a:endParaRPr lang="en-GB" dirty="0"/>
          </a:p>
          <a:p>
            <a:r>
              <a:rPr lang="en-GB" dirty="0"/>
              <a:t>At each step in building a regression tree, the model asks a simple question: If we split the data at this point, will the overall MSE decrease? In other words, does dividing the data create a better, more informative structure , or are we better off stopping here and turning this node into a leaf?</a:t>
            </a:r>
          </a:p>
          <a:p>
            <a:endParaRPr lang="en-DE" dirty="0"/>
          </a:p>
        </p:txBody>
      </p:sp>
      <p:sp>
        <p:nvSpPr>
          <p:cNvPr id="4" name="TextBox 3">
            <a:extLst>
              <a:ext uri="{FF2B5EF4-FFF2-40B4-BE49-F238E27FC236}">
                <a16:creationId xmlns:a16="http://schemas.microsoft.com/office/drawing/2014/main" id="{B877DAEE-F23A-01AA-FD26-343BCFFC14A7}"/>
              </a:ext>
            </a:extLst>
          </p:cNvPr>
          <p:cNvSpPr txBox="1"/>
          <p:nvPr/>
        </p:nvSpPr>
        <p:spPr>
          <a:xfrm>
            <a:off x="6318607" y="6596390"/>
            <a:ext cx="5979559" cy="261610"/>
          </a:xfrm>
          <a:prstGeom prst="rect">
            <a:avLst/>
          </a:prstGeom>
          <a:noFill/>
        </p:spPr>
        <p:txBody>
          <a:bodyPr wrap="square">
            <a:spAutoFit/>
          </a:bodyPr>
          <a:lstStyle/>
          <a:p>
            <a:r>
              <a:rPr lang="en-DE" sz="1050" dirty="0"/>
              <a:t>https://medium.com/@alexroz/regression-trees-explained-the-most-intuitive-intoduction-dffca74252f4</a:t>
            </a:r>
          </a:p>
        </p:txBody>
      </p:sp>
    </p:spTree>
    <p:extLst>
      <p:ext uri="{BB962C8B-B14F-4D97-AF65-F5344CB8AC3E}">
        <p14:creationId xmlns:p14="http://schemas.microsoft.com/office/powerpoint/2010/main" val="2467697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561A8-B7F0-4CCE-DF4E-24A630BDEBCA}"/>
              </a:ext>
            </a:extLst>
          </p:cNvPr>
          <p:cNvSpPr>
            <a:spLocks noGrp="1"/>
          </p:cNvSpPr>
          <p:nvPr>
            <p:ph type="title"/>
          </p:nvPr>
        </p:nvSpPr>
        <p:spPr/>
        <p:txBody>
          <a:bodyPr/>
          <a:lstStyle/>
          <a:p>
            <a:r>
              <a:rPr lang="en-DE" dirty="0"/>
              <a:t>Regularization</a:t>
            </a:r>
          </a:p>
        </p:txBody>
      </p:sp>
      <p:sp>
        <p:nvSpPr>
          <p:cNvPr id="3" name="Content Placeholder 2">
            <a:extLst>
              <a:ext uri="{FF2B5EF4-FFF2-40B4-BE49-F238E27FC236}">
                <a16:creationId xmlns:a16="http://schemas.microsoft.com/office/drawing/2014/main" id="{4FEA823D-212F-E783-E835-CA3FA3EA3615}"/>
              </a:ext>
            </a:extLst>
          </p:cNvPr>
          <p:cNvSpPr>
            <a:spLocks noGrp="1"/>
          </p:cNvSpPr>
          <p:nvPr>
            <p:ph idx="1"/>
          </p:nvPr>
        </p:nvSpPr>
        <p:spPr/>
        <p:txBody>
          <a:bodyPr>
            <a:normAutofit/>
          </a:bodyPr>
          <a:lstStyle/>
          <a:p>
            <a:r>
              <a:rPr lang="en-GB" sz="2000" dirty="0"/>
              <a:t>To keep our tree in check, we introduce a set of parameters that control its growth and complexity:</a:t>
            </a:r>
          </a:p>
          <a:p>
            <a:r>
              <a:rPr lang="en-GB" sz="2000" dirty="0"/>
              <a:t>Maximum Tree Depth: Limits how deep the tree can go. Deeper trees can model more complex patterns but are more likely to overfit.</a:t>
            </a:r>
          </a:p>
          <a:p>
            <a:r>
              <a:rPr lang="en-GB" sz="2000" dirty="0"/>
              <a:t>Minimum Samples per Leaf: Specifies the minimum number of training samples required for a node to become a leaf. This prevents the tree from creating tiny, overly specific leaves.</a:t>
            </a:r>
          </a:p>
          <a:p>
            <a:r>
              <a:rPr lang="en-GB" sz="2000" dirty="0"/>
              <a:t>Minimum Samples per Split: Ensures that a node must have a certain number of training samples before it’s even considered for splitting.</a:t>
            </a:r>
          </a:p>
          <a:p>
            <a:r>
              <a:rPr lang="en-GB" sz="2000" dirty="0"/>
              <a:t>Minimum Information Gain: Sets a threshold for how much the MSE must decrease to justify a split. If the improvement is negligible (say, just 1e10−101) we skip the split to avoid unnecessary complexity.</a:t>
            </a:r>
          </a:p>
          <a:p>
            <a:endParaRPr lang="en-DE" sz="2000" dirty="0"/>
          </a:p>
        </p:txBody>
      </p:sp>
      <p:sp>
        <p:nvSpPr>
          <p:cNvPr id="6" name="TextBox 5">
            <a:extLst>
              <a:ext uri="{FF2B5EF4-FFF2-40B4-BE49-F238E27FC236}">
                <a16:creationId xmlns:a16="http://schemas.microsoft.com/office/drawing/2014/main" id="{FEAE79AC-6103-0126-4D1D-5B4C572FD11B}"/>
              </a:ext>
            </a:extLst>
          </p:cNvPr>
          <p:cNvSpPr txBox="1"/>
          <p:nvPr/>
        </p:nvSpPr>
        <p:spPr>
          <a:xfrm>
            <a:off x="6318607" y="6596390"/>
            <a:ext cx="5979559" cy="261610"/>
          </a:xfrm>
          <a:prstGeom prst="rect">
            <a:avLst/>
          </a:prstGeom>
          <a:noFill/>
        </p:spPr>
        <p:txBody>
          <a:bodyPr wrap="square">
            <a:spAutoFit/>
          </a:bodyPr>
          <a:lstStyle/>
          <a:p>
            <a:r>
              <a:rPr lang="en-DE" sz="1050" dirty="0"/>
              <a:t>https://medium.com/@alexroz/regression-trees-explained-the-most-intuitive-intoduction-dffca74252f4</a:t>
            </a:r>
          </a:p>
        </p:txBody>
      </p:sp>
    </p:spTree>
    <p:extLst>
      <p:ext uri="{BB962C8B-B14F-4D97-AF65-F5344CB8AC3E}">
        <p14:creationId xmlns:p14="http://schemas.microsoft.com/office/powerpoint/2010/main" val="2895695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4D4B1-580E-EC9F-BCB2-C2D3BE96AFA1}"/>
              </a:ext>
            </a:extLst>
          </p:cNvPr>
          <p:cNvSpPr>
            <a:spLocks noGrp="1"/>
          </p:cNvSpPr>
          <p:nvPr>
            <p:ph type="title"/>
          </p:nvPr>
        </p:nvSpPr>
        <p:spPr/>
        <p:txBody>
          <a:bodyPr>
            <a:normAutofit/>
          </a:bodyPr>
          <a:lstStyle/>
          <a:p>
            <a:r>
              <a:rPr lang="en-DE" sz="4000" dirty="0"/>
              <a:t>Methods for splitting in R</a:t>
            </a:r>
          </a:p>
        </p:txBody>
      </p:sp>
      <p:sp>
        <p:nvSpPr>
          <p:cNvPr id="3" name="Content Placeholder 2">
            <a:extLst>
              <a:ext uri="{FF2B5EF4-FFF2-40B4-BE49-F238E27FC236}">
                <a16:creationId xmlns:a16="http://schemas.microsoft.com/office/drawing/2014/main" id="{7ECE60E0-AE3B-E0B1-A400-F87111CC179A}"/>
              </a:ext>
            </a:extLst>
          </p:cNvPr>
          <p:cNvSpPr>
            <a:spLocks noGrp="1"/>
          </p:cNvSpPr>
          <p:nvPr>
            <p:ph idx="1"/>
          </p:nvPr>
        </p:nvSpPr>
        <p:spPr/>
        <p:txBody>
          <a:bodyPr>
            <a:normAutofit/>
          </a:bodyPr>
          <a:lstStyle/>
          <a:p>
            <a:r>
              <a:rPr lang="en-GB" sz="2400" b="0" i="0" u="none" strike="noStrike" dirty="0">
                <a:solidFill>
                  <a:srgbClr val="333333"/>
                </a:solidFill>
                <a:effectLst/>
                <a:latin typeface="Calibri" panose="020F0502020204030204" pitchFamily="34" charset="0"/>
                <a:cs typeface="Calibri" panose="020F0502020204030204" pitchFamily="34" charset="0"/>
              </a:rPr>
              <a:t>method = “argument” can be modified and selection depends on the type of response variable. It is </a:t>
            </a:r>
          </a:p>
          <a:p>
            <a:r>
              <a:rPr lang="en-GB" sz="2400" b="1" i="1" u="none" strike="noStrike" dirty="0">
                <a:solidFill>
                  <a:srgbClr val="333333"/>
                </a:solidFill>
                <a:effectLst/>
                <a:latin typeface="Calibri" panose="020F0502020204030204" pitchFamily="34" charset="0"/>
                <a:cs typeface="Calibri" panose="020F0502020204030204" pitchFamily="34" charset="0"/>
              </a:rPr>
              <a:t>class</a:t>
            </a:r>
            <a:r>
              <a:rPr lang="en-GB" sz="2400" b="0" i="0" u="none" strike="noStrike" dirty="0">
                <a:solidFill>
                  <a:srgbClr val="333333"/>
                </a:solidFill>
                <a:effectLst/>
                <a:latin typeface="Calibri" panose="020F0502020204030204" pitchFamily="34" charset="0"/>
                <a:cs typeface="Calibri" panose="020F0502020204030204" pitchFamily="34" charset="0"/>
              </a:rPr>
              <a:t> for categorical/factor </a:t>
            </a:r>
          </a:p>
          <a:p>
            <a:r>
              <a:rPr lang="en-GB" sz="2400" b="1" i="1" dirty="0" err="1">
                <a:solidFill>
                  <a:srgbClr val="333333"/>
                </a:solidFill>
                <a:latin typeface="Calibri" panose="020F0502020204030204" pitchFamily="34" charset="0"/>
                <a:cs typeface="Calibri" panose="020F0502020204030204" pitchFamily="34" charset="0"/>
              </a:rPr>
              <a:t>a</a:t>
            </a:r>
            <a:r>
              <a:rPr lang="en-GB" sz="2400" b="1" i="1" u="none" strike="noStrike" dirty="0" err="1">
                <a:solidFill>
                  <a:srgbClr val="333333"/>
                </a:solidFill>
                <a:effectLst/>
                <a:latin typeface="Calibri" panose="020F0502020204030204" pitchFamily="34" charset="0"/>
                <a:cs typeface="Calibri" panose="020F0502020204030204" pitchFamily="34" charset="0"/>
              </a:rPr>
              <a:t>nova</a:t>
            </a:r>
            <a:r>
              <a:rPr lang="en-GB" sz="2400" b="1" i="1" u="none" strike="noStrike" dirty="0">
                <a:solidFill>
                  <a:srgbClr val="333333"/>
                </a:solidFill>
                <a:effectLst/>
                <a:latin typeface="Calibri" panose="020F0502020204030204" pitchFamily="34" charset="0"/>
                <a:cs typeface="Calibri" panose="020F0502020204030204" pitchFamily="34" charset="0"/>
              </a:rPr>
              <a:t> </a:t>
            </a:r>
            <a:r>
              <a:rPr lang="en-GB" sz="2400" b="0" i="0" u="none" strike="noStrike" dirty="0">
                <a:solidFill>
                  <a:srgbClr val="333333"/>
                </a:solidFill>
                <a:effectLst/>
                <a:latin typeface="Calibri" panose="020F0502020204030204" pitchFamily="34" charset="0"/>
                <a:cs typeface="Calibri" panose="020F0502020204030204" pitchFamily="34" charset="0"/>
              </a:rPr>
              <a:t>for numerical </a:t>
            </a:r>
          </a:p>
          <a:p>
            <a:r>
              <a:rPr lang="en-GB" sz="2400" b="1" i="1" u="none" strike="noStrike" dirty="0" err="1">
                <a:solidFill>
                  <a:srgbClr val="333333"/>
                </a:solidFill>
                <a:effectLst/>
                <a:latin typeface="Calibri" panose="020F0502020204030204" pitchFamily="34" charset="0"/>
                <a:cs typeface="Calibri" panose="020F0502020204030204" pitchFamily="34" charset="0"/>
              </a:rPr>
              <a:t>poisson</a:t>
            </a:r>
            <a:r>
              <a:rPr lang="en-GB" sz="2400" b="0" i="0" u="none" strike="noStrike" dirty="0">
                <a:solidFill>
                  <a:srgbClr val="333333"/>
                </a:solidFill>
                <a:effectLst/>
                <a:latin typeface="Calibri" panose="020F0502020204030204" pitchFamily="34" charset="0"/>
                <a:cs typeface="Calibri" panose="020F0502020204030204" pitchFamily="34" charset="0"/>
              </a:rPr>
              <a:t> for count </a:t>
            </a:r>
          </a:p>
          <a:p>
            <a:r>
              <a:rPr lang="en-GB" sz="2400" b="1" i="1" u="none" strike="noStrike" dirty="0">
                <a:solidFill>
                  <a:srgbClr val="333333"/>
                </a:solidFill>
                <a:effectLst/>
                <a:latin typeface="Calibri" panose="020F0502020204030204" pitchFamily="34" charset="0"/>
                <a:cs typeface="Calibri" panose="020F0502020204030204" pitchFamily="34" charset="0"/>
              </a:rPr>
              <a:t>exp</a:t>
            </a:r>
            <a:r>
              <a:rPr lang="en-GB" sz="2400" b="0" i="0" u="none" strike="noStrike" dirty="0">
                <a:solidFill>
                  <a:srgbClr val="333333"/>
                </a:solidFill>
                <a:effectLst/>
                <a:latin typeface="Calibri" panose="020F0502020204030204" pitchFamily="34" charset="0"/>
                <a:cs typeface="Calibri" panose="020F0502020204030204" pitchFamily="34" charset="0"/>
              </a:rPr>
              <a:t> for survival data </a:t>
            </a:r>
          </a:p>
          <a:p>
            <a:r>
              <a:rPr lang="en-GB" sz="2400" b="1" i="1" u="none" strike="noStrike" dirty="0">
                <a:solidFill>
                  <a:srgbClr val="333333"/>
                </a:solidFill>
                <a:effectLst/>
                <a:latin typeface="Calibri" panose="020F0502020204030204" pitchFamily="34" charset="0"/>
                <a:cs typeface="Calibri" panose="020F0502020204030204" pitchFamily="34" charset="0"/>
              </a:rPr>
              <a:t>cp</a:t>
            </a:r>
            <a:r>
              <a:rPr lang="en-GB" sz="2400" b="0" i="0" u="none" strike="noStrike" dirty="0">
                <a:solidFill>
                  <a:srgbClr val="333333"/>
                </a:solidFill>
                <a:effectLst/>
                <a:latin typeface="Calibri" panose="020F0502020204030204" pitchFamily="34" charset="0"/>
                <a:cs typeface="Calibri" panose="020F0502020204030204" pitchFamily="34" charset="0"/>
              </a:rPr>
              <a:t> = “value” is the assigned a numeric value that will determine how deep you want your tree to grow. The smaller the value (closer to 0), the larger the tree. The default value is 0.01, which will render a very </a:t>
            </a:r>
            <a:r>
              <a:rPr lang="en-GB" sz="2400" b="0" i="0" u="none" strike="noStrike">
                <a:solidFill>
                  <a:srgbClr val="333333"/>
                </a:solidFill>
                <a:effectLst/>
                <a:latin typeface="Calibri" panose="020F0502020204030204" pitchFamily="34" charset="0"/>
                <a:cs typeface="Calibri" panose="020F0502020204030204" pitchFamily="34" charset="0"/>
              </a:rPr>
              <a:t>pruned tree</a:t>
            </a:r>
            <a:endParaRPr lang="en-DE" sz="24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09E81B7-8063-6B28-B2B7-7DDD011AFDD9}"/>
              </a:ext>
            </a:extLst>
          </p:cNvPr>
          <p:cNvSpPr txBox="1"/>
          <p:nvPr/>
        </p:nvSpPr>
        <p:spPr>
          <a:xfrm>
            <a:off x="8432514" y="6492875"/>
            <a:ext cx="6097712" cy="307777"/>
          </a:xfrm>
          <a:prstGeom prst="rect">
            <a:avLst/>
          </a:prstGeom>
          <a:noFill/>
        </p:spPr>
        <p:txBody>
          <a:bodyPr wrap="square">
            <a:spAutoFit/>
          </a:bodyPr>
          <a:lstStyle/>
          <a:p>
            <a:r>
              <a:rPr lang="en-DE" sz="1400" dirty="0"/>
              <a:t>https://rpubs.com/camguild/803096</a:t>
            </a:r>
          </a:p>
        </p:txBody>
      </p:sp>
    </p:spTree>
    <p:extLst>
      <p:ext uri="{BB962C8B-B14F-4D97-AF65-F5344CB8AC3E}">
        <p14:creationId xmlns:p14="http://schemas.microsoft.com/office/powerpoint/2010/main" val="2446177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71BAB-248A-AF33-A6A7-F4425B7514C9}"/>
              </a:ext>
            </a:extLst>
          </p:cNvPr>
          <p:cNvSpPr>
            <a:spLocks noGrp="1"/>
          </p:cNvSpPr>
          <p:nvPr>
            <p:ph type="title"/>
          </p:nvPr>
        </p:nvSpPr>
        <p:spPr/>
        <p:txBody>
          <a:bodyPr/>
          <a:lstStyle/>
          <a:p>
            <a:r>
              <a:rPr lang="en-GB" dirty="0">
                <a:effectLst/>
              </a:rPr>
              <a:t>Decision Tree terminology and output items in R</a:t>
            </a:r>
            <a:endParaRPr lang="en-DE" dirty="0"/>
          </a:p>
        </p:txBody>
      </p:sp>
      <p:sp>
        <p:nvSpPr>
          <p:cNvPr id="3" name="Content Placeholder 2">
            <a:extLst>
              <a:ext uri="{FF2B5EF4-FFF2-40B4-BE49-F238E27FC236}">
                <a16:creationId xmlns:a16="http://schemas.microsoft.com/office/drawing/2014/main" id="{A3128AC5-2967-F4B2-88D7-CDFD453B61DF}"/>
              </a:ext>
            </a:extLst>
          </p:cNvPr>
          <p:cNvSpPr>
            <a:spLocks noGrp="1"/>
          </p:cNvSpPr>
          <p:nvPr>
            <p:ph idx="1"/>
          </p:nvPr>
        </p:nvSpPr>
        <p:spPr/>
        <p:txBody>
          <a:bodyPr>
            <a:normAutofit fontScale="62500" lnSpcReduction="20000"/>
          </a:bodyPr>
          <a:lstStyle/>
          <a:p>
            <a:pPr>
              <a:buFont typeface="Arial" panose="020B0604020202020204" pitchFamily="34" charset="0"/>
              <a:buChar char="•"/>
            </a:pPr>
            <a:r>
              <a:rPr lang="en-GB" b="1" dirty="0">
                <a:effectLst/>
              </a:rPr>
              <a:t>Root Node</a:t>
            </a:r>
            <a:r>
              <a:rPr lang="en-GB" dirty="0">
                <a:effectLst/>
              </a:rPr>
              <a:t>: Represents the entire sample population and is further divided into two or more homogenous groups.</a:t>
            </a:r>
          </a:p>
          <a:p>
            <a:pPr>
              <a:buFont typeface="Arial" panose="020B0604020202020204" pitchFamily="34" charset="0"/>
              <a:buChar char="•"/>
            </a:pPr>
            <a:r>
              <a:rPr lang="en-GB" b="1" dirty="0">
                <a:effectLst/>
              </a:rPr>
              <a:t>split</a:t>
            </a:r>
            <a:r>
              <a:rPr lang="en-GB" dirty="0">
                <a:effectLst/>
              </a:rPr>
              <a:t>: The criterion used to divide a node into two or more sub-nodes.</a:t>
            </a:r>
          </a:p>
          <a:p>
            <a:pPr>
              <a:buFont typeface="Arial" panose="020B0604020202020204" pitchFamily="34" charset="0"/>
              <a:buChar char="•"/>
            </a:pPr>
            <a:r>
              <a:rPr lang="en-GB" b="1" dirty="0">
                <a:effectLst/>
              </a:rPr>
              <a:t>n</a:t>
            </a:r>
            <a:r>
              <a:rPr lang="en-GB" dirty="0">
                <a:effectLst/>
              </a:rPr>
              <a:t>: The number of observations in a node.</a:t>
            </a:r>
          </a:p>
          <a:p>
            <a:pPr>
              <a:buFont typeface="Arial" panose="020B0604020202020204" pitchFamily="34" charset="0"/>
              <a:buChar char="•"/>
            </a:pPr>
            <a:r>
              <a:rPr lang="en-GB" b="1" dirty="0">
                <a:effectLst/>
              </a:rPr>
              <a:t>loss</a:t>
            </a:r>
            <a:r>
              <a:rPr lang="en-GB" dirty="0">
                <a:effectLst/>
              </a:rPr>
              <a:t>: This is the total number of rows that will be misclassified if the predicted class for the node is applied to all rows.</a:t>
            </a:r>
          </a:p>
          <a:p>
            <a:pPr>
              <a:buFont typeface="Arial" panose="020B0604020202020204" pitchFamily="34" charset="0"/>
              <a:buChar char="•"/>
            </a:pPr>
            <a:r>
              <a:rPr lang="en-GB" b="1" dirty="0" err="1">
                <a:effectLst/>
              </a:rPr>
              <a:t>yval</a:t>
            </a:r>
            <a:r>
              <a:rPr lang="en-GB" dirty="0">
                <a:effectLst/>
              </a:rPr>
              <a:t>: The overall prediction for the branch (Yes or No). In general, this is the mean response value for that subset.</a:t>
            </a:r>
          </a:p>
          <a:p>
            <a:pPr>
              <a:buFont typeface="Arial" panose="020B0604020202020204" pitchFamily="34" charset="0"/>
              <a:buChar char="•"/>
            </a:pPr>
            <a:r>
              <a:rPr lang="en-GB" b="1" dirty="0" err="1">
                <a:effectLst/>
              </a:rPr>
              <a:t>yprob</a:t>
            </a:r>
            <a:r>
              <a:rPr lang="en-GB" dirty="0">
                <a:effectLst/>
              </a:rPr>
              <a:t>: The fraction of </a:t>
            </a:r>
            <a:r>
              <a:rPr lang="en-GB" dirty="0" err="1">
                <a:effectLst/>
              </a:rPr>
              <a:t>obervations</a:t>
            </a:r>
            <a:r>
              <a:rPr lang="en-GB" dirty="0">
                <a:effectLst/>
              </a:rPr>
              <a:t> in that branch that take on values of Yes and No.</a:t>
            </a:r>
          </a:p>
          <a:p>
            <a:pPr>
              <a:buFont typeface="Arial" panose="020B0604020202020204" pitchFamily="34" charset="0"/>
              <a:buChar char="•"/>
            </a:pPr>
            <a:r>
              <a:rPr lang="en-GB" b="1" dirty="0">
                <a:effectLst/>
              </a:rPr>
              <a:t>Pruning</a:t>
            </a:r>
            <a:r>
              <a:rPr lang="en-GB" dirty="0">
                <a:effectLst/>
              </a:rPr>
              <a:t>: The process of removing sub-nodes from a decision node. Pruning is a fix for the problem of overfitting.</a:t>
            </a:r>
          </a:p>
          <a:p>
            <a:pPr>
              <a:buFont typeface="Arial" panose="020B0604020202020204" pitchFamily="34" charset="0"/>
              <a:buChar char="•"/>
            </a:pPr>
            <a:r>
              <a:rPr lang="en-GB" b="1" dirty="0">
                <a:effectLst/>
              </a:rPr>
              <a:t>Complexity</a:t>
            </a:r>
            <a:r>
              <a:rPr lang="en-GB" dirty="0">
                <a:effectLst/>
              </a:rPr>
              <a:t>: The complexity parameter is used to establish a control level that determines whether a split contributes to a better model fit. Any split that increases the model fit by a factor greater than the defined complexity factor is attempted. The best cp value has the lowest cross-</a:t>
            </a:r>
            <a:r>
              <a:rPr lang="en-GB" dirty="0" err="1">
                <a:effectLst/>
              </a:rPr>
              <a:t>validtion</a:t>
            </a:r>
            <a:r>
              <a:rPr lang="en-GB" dirty="0">
                <a:effectLst/>
              </a:rPr>
              <a:t> error (</a:t>
            </a:r>
            <a:r>
              <a:rPr lang="en-GB" dirty="0" err="1">
                <a:effectLst/>
              </a:rPr>
              <a:t>xerror</a:t>
            </a:r>
            <a:r>
              <a:rPr lang="en-GB" dirty="0">
                <a:effectLst/>
              </a:rPr>
              <a:t>).</a:t>
            </a:r>
          </a:p>
          <a:p>
            <a:pPr marL="0" indent="0">
              <a:buNone/>
            </a:pPr>
            <a:br>
              <a:rPr lang="en-GB" dirty="0">
                <a:effectLst/>
              </a:rPr>
            </a:br>
            <a:endParaRPr lang="en-GB" dirty="0">
              <a:effectLst/>
            </a:endParaRPr>
          </a:p>
          <a:p>
            <a:endParaRPr lang="en-DE" dirty="0"/>
          </a:p>
        </p:txBody>
      </p:sp>
      <p:sp>
        <p:nvSpPr>
          <p:cNvPr id="5" name="TextBox 4">
            <a:extLst>
              <a:ext uri="{FF2B5EF4-FFF2-40B4-BE49-F238E27FC236}">
                <a16:creationId xmlns:a16="http://schemas.microsoft.com/office/drawing/2014/main" id="{6A312D1A-3392-29E8-2BAE-369F8EB8D9B5}"/>
              </a:ext>
            </a:extLst>
          </p:cNvPr>
          <p:cNvSpPr txBox="1"/>
          <p:nvPr/>
        </p:nvSpPr>
        <p:spPr>
          <a:xfrm>
            <a:off x="9415837" y="6550223"/>
            <a:ext cx="3875925" cy="307777"/>
          </a:xfrm>
          <a:prstGeom prst="rect">
            <a:avLst/>
          </a:prstGeom>
          <a:noFill/>
        </p:spPr>
        <p:txBody>
          <a:bodyPr wrap="square">
            <a:spAutoFit/>
          </a:bodyPr>
          <a:lstStyle/>
          <a:p>
            <a:r>
              <a:rPr lang="en-DE" sz="1400" dirty="0"/>
              <a:t>https://rpubs.com/camguild/803096</a:t>
            </a:r>
          </a:p>
        </p:txBody>
      </p:sp>
    </p:spTree>
    <p:extLst>
      <p:ext uri="{BB962C8B-B14F-4D97-AF65-F5344CB8AC3E}">
        <p14:creationId xmlns:p14="http://schemas.microsoft.com/office/powerpoint/2010/main" val="1049353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A432C-FEE3-6FC3-C8D2-C55A11A97441}"/>
              </a:ext>
            </a:extLst>
          </p:cNvPr>
          <p:cNvSpPr>
            <a:spLocks noGrp="1"/>
          </p:cNvSpPr>
          <p:nvPr>
            <p:ph type="title"/>
          </p:nvPr>
        </p:nvSpPr>
        <p:spPr/>
        <p:txBody>
          <a:bodyPr/>
          <a:lstStyle/>
          <a:p>
            <a:r>
              <a:rPr lang="en-GB" dirty="0"/>
              <a:t>Advantages of Decision Trees</a:t>
            </a:r>
            <a:endParaRPr lang="en-DE" dirty="0"/>
          </a:p>
        </p:txBody>
      </p:sp>
      <p:sp>
        <p:nvSpPr>
          <p:cNvPr id="3" name="Content Placeholder 2">
            <a:extLst>
              <a:ext uri="{FF2B5EF4-FFF2-40B4-BE49-F238E27FC236}">
                <a16:creationId xmlns:a16="http://schemas.microsoft.com/office/drawing/2014/main" id="{34C14F9D-B7C8-AC3E-898A-AE05AC9D0F26}"/>
              </a:ext>
            </a:extLst>
          </p:cNvPr>
          <p:cNvSpPr>
            <a:spLocks noGrp="1"/>
          </p:cNvSpPr>
          <p:nvPr>
            <p:ph idx="1"/>
          </p:nvPr>
        </p:nvSpPr>
        <p:spPr/>
        <p:txBody>
          <a:bodyPr>
            <a:normAutofit/>
          </a:bodyPr>
          <a:lstStyle/>
          <a:p>
            <a:r>
              <a:rPr lang="en-GB" dirty="0"/>
              <a:t>Consider All Possible Decisions: Decision trees evaluate all potential decisions and create a comprehensive model for predictions.</a:t>
            </a:r>
          </a:p>
          <a:p>
            <a:r>
              <a:rPr lang="en-GB" dirty="0"/>
              <a:t>Easy to Use: Simple to implement and interpret for both classification and regression tasks.</a:t>
            </a:r>
          </a:p>
          <a:p>
            <a:r>
              <a:rPr lang="en-GB" dirty="0"/>
              <a:t>Handles Missing Values: Decision trees can manage datasets with missing values without requiring special </a:t>
            </a:r>
            <a:r>
              <a:rPr lang="en-GB" dirty="0" err="1"/>
              <a:t>preprocessing</a:t>
            </a:r>
            <a:r>
              <a:rPr lang="en-GB" dirty="0"/>
              <a:t>.</a:t>
            </a:r>
          </a:p>
          <a:p>
            <a:endParaRPr lang="en-DE" dirty="0"/>
          </a:p>
        </p:txBody>
      </p:sp>
    </p:spTree>
    <p:extLst>
      <p:ext uri="{BB962C8B-B14F-4D97-AF65-F5344CB8AC3E}">
        <p14:creationId xmlns:p14="http://schemas.microsoft.com/office/powerpoint/2010/main" val="4118653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83251-8E15-7BD2-9A4A-CC5905BFB662}"/>
              </a:ext>
            </a:extLst>
          </p:cNvPr>
          <p:cNvSpPr>
            <a:spLocks noGrp="1"/>
          </p:cNvSpPr>
          <p:nvPr>
            <p:ph type="title"/>
          </p:nvPr>
        </p:nvSpPr>
        <p:spPr/>
        <p:txBody>
          <a:bodyPr/>
          <a:lstStyle/>
          <a:p>
            <a:r>
              <a:rPr lang="en-GB" dirty="0"/>
              <a:t>Disadvantages of Decision Trees</a:t>
            </a:r>
            <a:br>
              <a:rPr lang="en-GB" dirty="0"/>
            </a:br>
            <a:endParaRPr lang="en-DE" dirty="0"/>
          </a:p>
        </p:txBody>
      </p:sp>
      <p:sp>
        <p:nvSpPr>
          <p:cNvPr id="3" name="Content Placeholder 2">
            <a:extLst>
              <a:ext uri="{FF2B5EF4-FFF2-40B4-BE49-F238E27FC236}">
                <a16:creationId xmlns:a16="http://schemas.microsoft.com/office/drawing/2014/main" id="{8EF2B6E8-C5DA-D2F7-1DF6-41823FE17664}"/>
              </a:ext>
            </a:extLst>
          </p:cNvPr>
          <p:cNvSpPr>
            <a:spLocks noGrp="1"/>
          </p:cNvSpPr>
          <p:nvPr>
            <p:ph idx="1"/>
          </p:nvPr>
        </p:nvSpPr>
        <p:spPr/>
        <p:txBody>
          <a:bodyPr>
            <a:normAutofit/>
          </a:bodyPr>
          <a:lstStyle/>
          <a:p>
            <a:r>
              <a:rPr lang="en-GB" sz="2400" dirty="0"/>
              <a:t>No extrapolation: Decision trees can’t predict beyond the range of the training data. </a:t>
            </a:r>
          </a:p>
          <a:p>
            <a:r>
              <a:rPr lang="en-GB" sz="2400" dirty="0"/>
              <a:t>Step-wise approximation: The output of a regression tree isn’t smooth — it looks more like a staircase. That’s because the tree partitions the space into rectangular regions and assigns the average target value within each region. This step-wise prediction can be a poor fit for underlying continuous or smooth trends.</a:t>
            </a:r>
          </a:p>
          <a:p>
            <a:r>
              <a:rPr lang="en-GB" sz="2400" dirty="0"/>
              <a:t>Overfitting risk: Without regularization, a decision tree can easily overfit. </a:t>
            </a:r>
          </a:p>
          <a:p>
            <a:r>
              <a:rPr lang="en-GB" sz="2400" dirty="0"/>
              <a:t>Computationally Intensive: For large datasets, decision trees can be slow to compute.</a:t>
            </a:r>
          </a:p>
          <a:p>
            <a:r>
              <a:rPr lang="en-GB" sz="2400" dirty="0"/>
              <a:t>Limited Learning Capability: Decision trees may not perform well with complex data. Techniques like Random Forests can be used for improved performance.</a:t>
            </a:r>
          </a:p>
          <a:p>
            <a:endParaRPr lang="en-DE" sz="2400" dirty="0"/>
          </a:p>
        </p:txBody>
      </p:sp>
    </p:spTree>
    <p:extLst>
      <p:ext uri="{BB962C8B-B14F-4D97-AF65-F5344CB8AC3E}">
        <p14:creationId xmlns:p14="http://schemas.microsoft.com/office/powerpoint/2010/main" val="3079379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58591-3AEF-26CD-1D28-BE83111A2683}"/>
              </a:ext>
            </a:extLst>
          </p:cNvPr>
          <p:cNvSpPr>
            <a:spLocks noGrp="1"/>
          </p:cNvSpPr>
          <p:nvPr>
            <p:ph type="title"/>
          </p:nvPr>
        </p:nvSpPr>
        <p:spPr>
          <a:xfrm>
            <a:off x="838200" y="365126"/>
            <a:ext cx="10515600" cy="734210"/>
          </a:xfrm>
        </p:spPr>
        <p:txBody>
          <a:bodyPr>
            <a:normAutofit fontScale="90000"/>
          </a:bodyPr>
          <a:lstStyle/>
          <a:p>
            <a:r>
              <a:rPr lang="en-DE" dirty="0"/>
              <a:t>References-</a:t>
            </a:r>
            <a:br>
              <a:rPr lang="en-GB" dirty="0"/>
            </a:br>
            <a:endParaRPr lang="en-DE" dirty="0"/>
          </a:p>
        </p:txBody>
      </p:sp>
      <p:sp>
        <p:nvSpPr>
          <p:cNvPr id="3" name="Content Placeholder 2">
            <a:extLst>
              <a:ext uri="{FF2B5EF4-FFF2-40B4-BE49-F238E27FC236}">
                <a16:creationId xmlns:a16="http://schemas.microsoft.com/office/drawing/2014/main" id="{10044AE2-8E66-6846-E5A5-7EF349983406}"/>
              </a:ext>
            </a:extLst>
          </p:cNvPr>
          <p:cNvSpPr>
            <a:spLocks noGrp="1"/>
          </p:cNvSpPr>
          <p:nvPr>
            <p:ph idx="1"/>
          </p:nvPr>
        </p:nvSpPr>
        <p:spPr/>
        <p:txBody>
          <a:bodyPr/>
          <a:lstStyle/>
          <a:p>
            <a:r>
              <a:rPr lang="en-GB" dirty="0">
                <a:solidFill>
                  <a:srgbClr val="0563C1"/>
                </a:solidFill>
                <a:hlinkClick r:id="rId2">
                  <a:extLst>
                    <a:ext uri="{A12FA001-AC4F-418D-AE19-62706E023703}">
                      <ahyp:hlinkClr xmlns:ahyp="http://schemas.microsoft.com/office/drawing/2018/hyperlinkcolor" val="tx"/>
                    </a:ext>
                  </a:extLst>
                </a:hlinkClick>
              </a:rPr>
              <a:t>https://medium.com/@alexroz/regression-trees-explained-the-most-intuitive-intoduction-dffca74252f4</a:t>
            </a:r>
            <a:endParaRPr lang="en-GB" dirty="0"/>
          </a:p>
          <a:p>
            <a:r>
              <a:rPr lang="en-GB" dirty="0">
                <a:hlinkClick r:id="rId3"/>
              </a:rPr>
              <a:t>https://rpubs.com/camguild/803096</a:t>
            </a:r>
            <a:endParaRPr lang="en-GB" dirty="0"/>
          </a:p>
          <a:p>
            <a:r>
              <a:rPr lang="en-GB" dirty="0">
                <a:hlinkClick r:id="rId4"/>
              </a:rPr>
              <a:t>https://www.geeksforgeeks.org/r-language/decision-tree-for-regression-in-r-programming/</a:t>
            </a:r>
            <a:endParaRPr lang="en-GB" dirty="0"/>
          </a:p>
          <a:p>
            <a:r>
              <a:rPr lang="en-GB" dirty="0">
                <a:hlinkClick r:id="rId5"/>
              </a:rPr>
              <a:t>https://datajobs.com/data-science-repo/CART-Guide-[CMU].pdf</a:t>
            </a:r>
            <a:endParaRPr lang="en-GB" dirty="0"/>
          </a:p>
          <a:p>
            <a:endParaRPr lang="en-DE" dirty="0"/>
          </a:p>
        </p:txBody>
      </p:sp>
    </p:spTree>
    <p:extLst>
      <p:ext uri="{BB962C8B-B14F-4D97-AF65-F5344CB8AC3E}">
        <p14:creationId xmlns:p14="http://schemas.microsoft.com/office/powerpoint/2010/main" val="29620551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284</TotalTime>
  <Words>1231</Words>
  <Application>Microsoft Macintosh PowerPoint</Application>
  <PresentationFormat>Widescreen</PresentationFormat>
  <Paragraphs>82</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source-serif-pro</vt:lpstr>
      <vt:lpstr>Office Theme</vt:lpstr>
      <vt:lpstr>Regression Trees</vt:lpstr>
      <vt:lpstr>A tree is a graph-based model where each node represents a decision split </vt:lpstr>
      <vt:lpstr>Data representation</vt:lpstr>
      <vt:lpstr>Splitting the feature space</vt:lpstr>
      <vt:lpstr>Splitting the feature space</vt:lpstr>
      <vt:lpstr>Splitting the feature space</vt:lpstr>
      <vt:lpstr>Data splitting</vt:lpstr>
      <vt:lpstr>Core concept behind Regression trees</vt:lpstr>
      <vt:lpstr>Three things to keep in mind</vt:lpstr>
      <vt:lpstr>Splitting </vt:lpstr>
      <vt:lpstr>Regularization</vt:lpstr>
      <vt:lpstr>Methods for splitting in R</vt:lpstr>
      <vt:lpstr>Decision Tree terminology and output items in R</vt:lpstr>
      <vt:lpstr>Advantages of Decision Trees</vt:lpstr>
      <vt:lpstr>Disadvantages of Decision Trees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Regression Trees</dc:title>
  <dc:creator>Chhaya Chaudhary</dc:creator>
  <cp:lastModifiedBy>Chhaya Chaudhary</cp:lastModifiedBy>
  <cp:revision>2</cp:revision>
  <dcterms:created xsi:type="dcterms:W3CDTF">2026-06-10T03:55:29Z</dcterms:created>
  <dcterms:modified xsi:type="dcterms:W3CDTF">2026-06-10T08:40:13Z</dcterms:modified>
</cp:coreProperties>
</file>