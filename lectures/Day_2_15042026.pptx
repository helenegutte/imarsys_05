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60" r:id="rId2"/>
    <p:sldId id="262" r:id="rId3"/>
    <p:sldId id="268" r:id="rId4"/>
    <p:sldId id="284" r:id="rId5"/>
    <p:sldId id="263" r:id="rId6"/>
    <p:sldId id="269" r:id="rId7"/>
    <p:sldId id="270" r:id="rId8"/>
    <p:sldId id="281" r:id="rId9"/>
    <p:sldId id="271" r:id="rId10"/>
    <p:sldId id="283" r:id="rId11"/>
    <p:sldId id="264" r:id="rId12"/>
    <p:sldId id="265" r:id="rId13"/>
    <p:sldId id="272" r:id="rId14"/>
    <p:sldId id="273" r:id="rId15"/>
    <p:sldId id="274" r:id="rId16"/>
    <p:sldId id="287" r:id="rId17"/>
    <p:sldId id="285" r:id="rId18"/>
    <p:sldId id="286" r:id="rId19"/>
    <p:sldId id="256" r:id="rId20"/>
    <p:sldId id="257" r:id="rId21"/>
    <p:sldId id="258" r:id="rId22"/>
    <p:sldId id="259" r:id="rId23"/>
    <p:sldId id="282" r:id="rId24"/>
    <p:sldId id="276" r:id="rId25"/>
    <p:sldId id="277" r:id="rId26"/>
    <p:sldId id="266" r:id="rId27"/>
    <p:sldId id="288" r:id="rId28"/>
    <p:sldId id="267" r:id="rId29"/>
    <p:sldId id="278" r:id="rId30"/>
    <p:sldId id="279" r:id="rId31"/>
    <p:sldId id="280" r:id="rId3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608"/>
  </p:normalViewPr>
  <p:slideViewPr>
    <p:cSldViewPr snapToGrid="0" showGuides="1">
      <p:cViewPr>
        <p:scale>
          <a:sx n="91" d="100"/>
          <a:sy n="91" d="100"/>
        </p:scale>
        <p:origin x="360" y="992"/>
      </p:cViewPr>
      <p:guideLst>
        <p:guide orient="horz" pos="11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04:10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4173 24575,'41'-78'0,"-1"1"0,-1 13 0,-4 2 0,6-12 0,0 9-3506,-1 13 0,-1 6 3506,-3 1 0,0 0 0,7-7 0,2-2 200,1-4 0,0 0-200,-3 6 0,1-2 0,13-17 0,-1 1 0,-17 23 0,-1 2 528,0 0 0,-1 2-528,27-26 0,2 2 0,6 3 0,-11 13 0,-7 11 0,1 6 3479,-3 5-3479,-10 8 1590,-4 6-1590,-14 11 487,0 2-487,2 1 0,0 1 0,1 0 0,17 1 0,7 0 0,22 0 0,9-1-427,-32-1 1,2 0 426,3-2 0,2-1 0,4-2 0,2 0 0,-1-2 0,-1-1 0,0-1 0,0-1 0,5-1 0,1-2-643,-1 1 1,1-2 642,3-2 0,1-2 0,6-4 0,1-1-884,0-4 0,1-2 884,0 0 0,-1 0 0,4-3 0,-2 0 0,-13 4 0,-3 0-456,-4 2 1,-1-2 455,0-3 0,-2-1 0,-2 0 0,-2 0 0,-1-2 0,0-1 0,1-2 0,0-1 0,-1-4 0,-1-1 0,0-2 0,0-1 0,3-5 0,-3 1 0,-7 6 0,-2 1 113,-5 4 0,-1 1-113,0 0 0,0 0 0,-2 1 0,0 1 0,29-36 0,-3 2 0,-10 4 0,1-2 0,0-5 0,-4 4 0,-3 1 0,1-8 0,-1-2 0,-2 5 0,0 3 0,-1 7 1113,-3 4-1113,-1 4 1814,-10 13-1814,-5 8 1094,-3 6-1094,-3 3 570,-6 8-570,-2 5 0,-6 10 0,-1 1 0,-1 1 0,1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04:12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4848 24575,'6'-2'0,"15"-11"0,5-6 0,20-16 0,-2 3 0,-3 2 0,2 1 0,23-9 0,-14 8 0,3-1-675,-4 6 1,0 1 674,6-1 0,0-1 0,7-1 0,1-1-838,9-2 0,3 0 838,4-1 0,1 0 0,10-3 0,2 0 0,1-1 0,-2 1 0,-13 6 0,-1 1 0,0 0 0,0 0 0,-2 0 0,-1 0 0,-2 1 0,-1 1-591,-2-1 1,-1 1 590,-2 1 0,-1 1 0,-2 1 0,-1-1 0,1-2 0,0 0 0,1 0 0,-2 0-204,-14 4 0,-2 1 204,0 0 0,-1 0 0,-1-1 0,0-1 0,-1 0 0,1-2 0,-1 0 0,0-3 0,6-7 0,0-3-89,2-3 0,-1-2 89,0-4 0,0-1 0,0 0 0,-4 1 686,-11 9 1,-2 1-687,-1-2 0,1 0 0,-2-2 0,1-2 0,1-3 0,0-2 34,7-11 1,-1-1-35,-3 2 0,-3-1 0,0 1 0,-1-2 0,-5-4 0,-2-1 0,-3 3 0,-2 1 0,-2-4 0,0 0 0,0-5 0,-2 0 0,-2 2 0,-2-1 0,1-5 0,-2-2 0,1-8 0,-2 0 0,-2 11 0,-1 1 0,-1 1 0,0 0 0,0 2 0,1 1 0,-2 2 0,2 0 0,0 1 0,0 1 19,-1 2 1,-1 3-20,3-32 0,-3 8 0,-4 12 1105,-1 14-1105,-1 10 458,1 4-458,1 3 1278,0-2-1278,2 0 470,3 2-470,2 3 0,2 1 0,0 9 0,-3 6 0,0 7 0,-2 2 0,-2 5 0,0 1 0,-1 1 0,-1 2 0,-1 0 0,-1 2 0,0-2 0,0 2 0,0-2 0,-1 0 0,1 0 0,1 1 0,-1-1 0,0-1 0,0 0 0,0 1 0,-1 0 0,1 0 0,-1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5:04:25.656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1 3627,'76'22,"-1"2,-20-2,6 0,3-1,14 0,-2-1,-1 0,2 0,0 1,10 1,6 1,-14-5,-3-1,-5-3,-3-1,-3-1,0-2,1 0,-1 0,2-1,-9-1,0 0,19 0,0-1,8-1,4-2,2 0,3 0,3-1,-20 0,-2 1,2 1,0-1,0 1,-3-1,-6-1,-8-1,-5 0,-21-1,-4-1,2 1,0 0,3 0,-1 0,-2-1,-5 1,-3-1,-13-1,-32-26,-3 7,-49-34,-4 6,29 21,-2-1,-5-2,-4-1,-17-4,-4 0,0 0,-1 1,-8 0,-1 0,28 11,-1 0,0 1,-2 0,-1 0,1 0,-1 0,0 0,1-1,-3 0,0 0,3 1,-8-4,4 0,3 3,2-1,9 1,1 0,1 0,1 0,4 1,0-1,3 2,-1 0,-39-19,10 5,4 1,28 14,8 3,18 7,4 3,74 9,2 3,16 2,10 0,-6-1,4 1,-18-2,3 0,1 0,4 0,2 0,3 1,14 1,4 0,1 0,-26-1,0-2,0 1,1 0,4-1,0 0,1 0,-1 0,-2-1,0 0,-1 0,0 0,23 1,-2-1,1 0,-24-1,0 0,1 1,-1-1,1 0,0 0,0 1,-2-1,19 1,-2 0,-1 0,-2 0,0-1,-3 1,-9 0,-3 0,0 0,28 1,-4 0,-20-2,-5 0,-11 0,-5-1,27 0,-28-1,-16 0,-22 0,-7 0,-96-29,-4 1,22 8,-13-4,1 2,6 2,0 0,-3 0,-15-5,-3-1,0 0,-1 1,0-1,0 0,22 7,-1-1,0 0,0 0,-3 0,-1 0,-1 0,0 0,-3 0,-1 0,-1 0,1-1,3 1,1 0,-1-1,1 0,0 1,0-1,1 0,3 1,-6-3,3 1,2 1,6 0,1 2,9 1,8 2,6 2,-20-6,54 16,7 2,70 3,7 1,-5 0,8 0,10 2,4 1,-23-2,3 1,2 0,16 0,4 1,0 0,0-1,0 0,1 0,2-1,0 0,3 1,-15 0,3 1,2 0,0 1,7 0,1 1,1 0,-1-1,-3 0,0 0,-1-1,0 1,0-1,0 1,-2 0,-2-2,14-3,-4 0,-1-2,-2 2,0-1,0 0,7-1,0 1,-1-1,-5 1,-1-1,-2 1,-5-1,-1 1,-3-1,-13 1,-3 0,-1 0,24 0,-8 0,17 0,-21 0,-52-1,-9 0,-53-17,-16-7,-3 2,-7-1,-7-1,-5-2,0 4,-5-1,-1 0,1 0,0 0,-2 0,-7-4,-2 1,1 0,5 2,0 1,1 0,5 3,1-1,1 2,5 2,0 0,1 2,3 0,0 1,5 1,-7-3,6 1,4 1,7 1,8 0,13 3,36 3,29-31,8-4,-6 9,4-1,39-25,-23 23,3 1,4 0,4 1,13-3,2 2,-4 3,-2 4,-2 4,-1 2,-2 1,-1 1,0 1,-3 1,-11 3,-3 1,0 0,-6 2,3-4,-12 4,-20 7,-8 3,-49-6,-21-1,-5-2,7 1,-12-2,0 1,-21-1,-4 0,18 2,-4-1,-2 1,-6 1,-2-1,2 2,7 0,1 0,2 2,5 0,1 0,4 1,-20-1,4 1,7 0,7 2,-4-1,22 1,68 3,81-2,-23 0,8 0,6 0,-26 1,0-1,27-1,5-1,4-1,3 0,-27 0,2 0,0-1,1 1,2-1,-4-1,17-2,-3-1,-3 1,-4-2,-17 0,-4-2,-5 2,-3 0,31-11,-26 6,-22 3,-15 6,-6 1,-26-15,-3 5,-17-17,-5 4,-7-1,6 4,2 2,19 14,3 2,12-4,33-14,9-2,47-9,9 9,-29 16,5 2,5-1,3 2,10-1,3 2,7 1,2 0,-31 4,2-1,-4 2,16-1,-4 2,-1 0,-15 0,-35 2,-87 5,11-2,-7 1,-34 2,-7 0,6 0,-4 1,12-1,-6 1,2-1,4 1,1-1,1 1,2 0,1 0,2 0,-24 2,4-1,15-1,4 0,6 1,2-1,0 0,8 0,8 1,16-2,40-1,32 22,17 6,16 3,9 2,-8-6,3 0,-10-5,4 1,-1 0,23 9,-1 1,-25-12,1 1,0-1,27 12,-1-1,-2-2,-4-2,-21-8,-6-3,24 7,-44-16,-19-7,-49 13,-29 3,1-2,-8 1,-4-2,-3-2,-10 2,-1-1,15-4,-3 0,-8 1,-7 0,4 0,-6 1,0 1,0-1,-6 1,5 1,-9 3,6 0,4 1,5 1,9 0,6 1,-23 12,40-10,33-10,12-8,23 17,19 1,6 7,13-7,6-2,10 6,-12-8,-1-1,6 4,-13-4,-23-9,-8-3,-48 9,10-9,-32 7,-13 2,10-7,-5-1,-8 1,-7-1,3-1,-9 3,-4-3,7-3,-11-1,-2-1,6 0,-3 1,4-1,-7-1,13 0,-5 0,-3 0,-1 0,1 1,-1-1,1 1,-1-1,-1 1,-1 0,-11 0,-2 1,-1 0,2-1,2 1,13-1,2 0,1-1,1 1,0 0,-21 0,-1 1,6 0,14-1,5-1,9 0,-8 0,14 1,31 2,-10 8,56 2,44 28,-17-15,41 12,9 0,-44-20,4-1,27 6,13 3,-11-4,-24-8,2-2,10 0,13 2,4-2,-8-1,-3-2,-4-2,6 0,9 2,7 1,1 0,-5-2,0 0,-5-3,9 2,-6-2,10 1,3 0,-4-1,-13 0,-8-2,-9 0,9 1,8 1,13 1,3 0,-8-1,-19-1,-16 0,-4-1,49 5,-10 0,-51-4,13 2,-56-5,-90 27,13-13,0 2,-10-1,25-9,-2-3,-3 0,-16 1,-3 1,1-1,9-2,2 0,-7 0,-8 0,-9 0,1-1,12 0,-7-1,-1 0,10 0,-10-1,-4 1,2 1,3 2,-1 1,3 0,4-1,-3 0,4-1,-4 1,-3 3,-8 1,7 0,21-1,-12 5,19-5,13 2,42-2,23 12,20-7,48 8,12-1,-42-10,4-1,18 1,17 1,2 0,-10-2,8-1,4-1,-11-2,14 2,6-1,-3-1,-12 0,-3-2,-8 0,11-1,-1 1,14 0,7 0,1 0,-5-1,-12 0,-8-2,-10 0,1-1,11 0,3 1,11-1,7 1,3-1,-4 1,-6-1,-13 0,16-1,-13-1,10 1,-17 0,10-1,5 1,-2 0,-10-1,-14 1,3 0,-6-1,19 1,9-1,-14 1,10-1,-12 0,-6 0,-21 0,6-1,-42 2,-8 0,-76-10,2 5,3 0,-7 0,-10 4,0 1,16 0,-1 0,-1 0,-5 0,3 0,-12 1,-3 0,0-2,-6-1,3 1,18 0,4 1,-3-1,-17 0,-2-1,3 0,-15 1,4 1,26 1,-1-1,1 1,1 0,0 0,0 0,-34 1,7 0,28 1,6 0,4-1,9 2,10 4,4-1,8 0,6 0,7-1,3-1,0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30E6F-0040-4942-9F69-210A540F34BF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9E07FD-B883-E44A-B649-61E2B4D43E2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6104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 histogram overlaid with a normal distribution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E07FD-B883-E44A-B649-61E2B4D43E24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707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Central limit theorem?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E07FD-B883-E44A-B649-61E2B4D43E24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3104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Log likelihood because calculating likelihood means multiplying many values, which leads to very small numbers, by using the log we are calculating the sum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E07FD-B883-E44A-B649-61E2B4D43E24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2479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C1EDA1-81A6-81F6-3D42-DBFD6116E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C05B2E-6C19-EEEE-9372-12EC7916F6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F9EE1A-495E-0883-4155-7EF8FA97B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05E33-E083-8148-A935-58064E7C40E0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C7995C-A786-B26A-5FD6-CF677C3E3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C8FAD2-BDA7-0122-E6E6-D69675C34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A802-696E-F74B-B29C-41F75A14906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7143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D194A0-FA71-3D5F-36D4-EA652E97E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1DCE2E-E355-EDE7-DD36-EF0885F42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AD58C9-BC17-8C75-EF7A-D67738AA2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05E33-E083-8148-A935-58064E7C40E0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A35A91-AF5F-FF94-B9A1-4529A10A8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D245A1-93B5-7807-2173-38CBA37BC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A802-696E-F74B-B29C-41F75A14906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780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07EF2F-AE9C-59B9-2A63-8E04772D9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6F5043-4DD9-7E97-6B5D-6C416755F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511C2F-F8C9-078F-6F18-D4F1C35DA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05E33-E083-8148-A935-58064E7C40E0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4843C3-9610-48D5-0A1D-62BB77169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68E5B7-81A7-B60A-D77C-D25D9576F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A802-696E-F74B-B29C-41F75A14906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4643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053A30-0584-FC50-0EC9-CE687F4FA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21FBCB-70ED-5849-937B-3C0CFEE23E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38849AA-52ED-F599-D963-A3B9E06D9B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853F1BA-CE8F-CF8C-FBE7-92EB4EC59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05E33-E083-8148-A935-58064E7C40E0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19B6EBD-5A1C-220A-D8E5-AE68660E6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48C2C47-055F-BF7B-28D2-69BF0EBD8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A802-696E-F74B-B29C-41F75A14906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510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39CBAF-C837-7820-7CC2-A998866B7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F9AB07-6703-11BF-EA11-DBB07386F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5CB4362-D679-106D-02CE-BD2032B628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F540126-280B-C37D-AE13-5EDE6F625B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0CF2059-4643-2C35-24CC-C1E3001B0D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8AB8F3B-888E-49C2-6679-6A3551BAE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05E33-E083-8148-A935-58064E7C40E0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9B79E44-0DDD-389F-78C8-9D67FA5E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0D54748-46CF-9866-8ED7-59B830860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A802-696E-F74B-B29C-41F75A14906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7496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5EC60C-95B5-FBA8-7BA3-59777D32C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3B25D0C-249D-9BFF-B13B-8437F60CB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05E33-E083-8148-A935-58064E7C40E0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1A9E2BC-7147-9DFB-614B-C474470F6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17549BA-7183-B5E7-90F9-C117790EF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A802-696E-F74B-B29C-41F75A14906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073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E999C13-93E7-9AD9-AD2A-00CE39CF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05E33-E083-8148-A935-58064E7C40E0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0308915-9E28-114F-1875-6888F5E7A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7690D7-8DC7-D351-8A81-A84763562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A802-696E-F74B-B29C-41F75A14906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368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8BD44E-8FFD-585A-5004-805F4B813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B85DAA-D42B-B00C-361E-7EBFD358F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697B722-7BC3-8570-5C5C-3DF199464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3426135-EC8D-F43C-8A93-C8EDED8F8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05E33-E083-8148-A935-58064E7C40E0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F39027B-60C6-0D7F-CCDD-6BE001622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390559-2B7B-C41D-A5FF-AA589D5EB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A802-696E-F74B-B29C-41F75A14906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6605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1C4540-C8A5-6BF0-E77B-A231B28F0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11BF6BB-C3A0-0202-CD77-7D429ED61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0A07D1F-9A27-B9B8-F61A-217568A49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A85F5F9-FAF8-A491-AC99-52597B06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05E33-E083-8148-A935-58064E7C40E0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B1C2082-5A1C-BB64-6E0E-F6CC3920B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CB8B490-E74E-9F93-A49C-128074C48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A802-696E-F74B-B29C-41F75A14906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470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16B283-25D0-9F59-9389-10B84C662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07DAB56-164F-147A-9EFA-BFC5732D7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06406A-E07E-24D9-E372-A429CC3B2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05E33-E083-8148-A935-58064E7C40E0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FEBBBA-645E-CA54-209D-0F65C3E69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365EB2-C8D9-B55F-4B33-819F153BB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A802-696E-F74B-B29C-41F75A14906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208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2A4841C-A44B-80DC-2858-0D60892954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F1BFEA6-7B33-7C1F-7EC3-B2E620661B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AC0CE9-36A8-6A4E-B043-84535C5A7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05E33-E083-8148-A935-58064E7C40E0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727CB0-DF28-F4C4-E271-20DC89208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13D317-AD7F-B273-6689-ED3838CAC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A802-696E-F74B-B29C-41F75A14906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3492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D66E410-CC14-7051-08E1-1BD68ABE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47B5CB4-778B-FD2E-FB38-8C4700774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D2EAEF-924C-C9FF-0214-8F1E05609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805E33-E083-8148-A935-58064E7C40E0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540D05-6F08-B5A4-B536-E4095EBE9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2F3CE2-635F-359A-5094-BE2C4C3EE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7A802-696E-F74B-B29C-41F75A14906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3075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book/10.1007/978-3-030-55020-2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25.svg"/><Relationship Id="rId5" Type="http://schemas.openxmlformats.org/officeDocument/2006/relationships/image" Target="../media/image20.png"/><Relationship Id="rId10" Type="http://schemas.openxmlformats.org/officeDocument/2006/relationships/image" Target="../media/image24.svg"/><Relationship Id="rId4" Type="http://schemas.openxmlformats.org/officeDocument/2006/relationships/customXml" Target="../ink/ink2.xml"/><Relationship Id="rId9" Type="http://schemas.openxmlformats.org/officeDocument/2006/relationships/image" Target="../media/image23.sv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a9u2yZvsqHA?feature=oembed" TargetMode="External"/><Relationship Id="rId4" Type="http://schemas.openxmlformats.org/officeDocument/2006/relationships/hyperlink" Target="https://www.youtube.com/watch?v=a9u2yZvsqHA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happygitwithr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F305BFF-9916-F4D2-348E-7F76172CC7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22580"/>
            <a:ext cx="9144000" cy="2387600"/>
          </a:xfrm>
        </p:spPr>
        <p:txBody>
          <a:bodyPr/>
          <a:lstStyle/>
          <a:p>
            <a:r>
              <a:rPr lang="en-GB" dirty="0"/>
              <a:t>Data Analysis and Modelling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A5B3C4FC-34E7-61BA-A83A-A18A8F3EF5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502255"/>
            <a:ext cx="9144000" cy="1655762"/>
          </a:xfrm>
        </p:spPr>
        <p:txBody>
          <a:bodyPr/>
          <a:lstStyle/>
          <a:p>
            <a:r>
              <a:rPr lang="en-GB" dirty="0"/>
              <a:t>iMARSYS-05; 15.04.2025</a:t>
            </a:r>
          </a:p>
        </p:txBody>
      </p:sp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72333EAE-03F1-0CF2-5E66-F35353279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" y="0"/>
            <a:ext cx="12212526" cy="549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484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533A7C-7A08-0176-01B1-CE51E4195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 for this semester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20351FD2-7144-A521-4F8C-48D41555A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72709" cy="46672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/>
              <a:t>Week 1 – 2</a:t>
            </a:r>
          </a:p>
          <a:p>
            <a:pPr>
              <a:lnSpc>
                <a:spcPct val="100000"/>
              </a:lnSpc>
            </a:pPr>
            <a:r>
              <a:rPr lang="en-GB" sz="1800" dirty="0" err="1"/>
              <a:t>Github</a:t>
            </a:r>
            <a:endParaRPr lang="en-GB" sz="1800" dirty="0"/>
          </a:p>
          <a:p>
            <a:pPr>
              <a:lnSpc>
                <a:spcPct val="100000"/>
              </a:lnSpc>
            </a:pPr>
            <a:r>
              <a:rPr lang="en-GB" sz="1800" dirty="0"/>
              <a:t>Recap descriptive stats</a:t>
            </a:r>
          </a:p>
          <a:p>
            <a:pPr>
              <a:lnSpc>
                <a:spcPct val="100000"/>
              </a:lnSpc>
            </a:pPr>
            <a:r>
              <a:rPr lang="en-GB" sz="1800" dirty="0"/>
              <a:t>Distributions</a:t>
            </a:r>
          </a:p>
          <a:p>
            <a:pPr>
              <a:lnSpc>
                <a:spcPct val="100000"/>
              </a:lnSpc>
            </a:pPr>
            <a:r>
              <a:rPr lang="en-GB" sz="1800" dirty="0"/>
              <a:t>Hypothesis building</a:t>
            </a:r>
          </a:p>
          <a:p>
            <a:pPr>
              <a:lnSpc>
                <a:spcPct val="100000"/>
              </a:lnSpc>
            </a:pPr>
            <a:r>
              <a:rPr lang="en-GB" sz="1800" dirty="0"/>
              <a:t>Significance testing</a:t>
            </a:r>
          </a:p>
          <a:p>
            <a:pPr>
              <a:lnSpc>
                <a:spcPct val="100000"/>
              </a:lnSpc>
            </a:pPr>
            <a:r>
              <a:rPr lang="en-GB" sz="1800" dirty="0"/>
              <a:t>Correlation</a:t>
            </a:r>
          </a:p>
          <a:p>
            <a:pPr>
              <a:lnSpc>
                <a:spcPct val="100000"/>
              </a:lnSpc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Week 3 + 4</a:t>
            </a:r>
          </a:p>
          <a:p>
            <a:r>
              <a:rPr lang="en-GB" sz="1800" dirty="0"/>
              <a:t>Linear models</a:t>
            </a:r>
          </a:p>
          <a:p>
            <a:r>
              <a:rPr lang="en-GB" sz="1800" dirty="0"/>
              <a:t>Generalized linear models</a:t>
            </a:r>
          </a:p>
          <a:p>
            <a:pPr marL="0" indent="0">
              <a:buNone/>
            </a:pPr>
            <a:endParaRPr lang="en-GB" sz="2000" dirty="0"/>
          </a:p>
        </p:txBody>
      </p:sp>
      <p:sp>
        <p:nvSpPr>
          <p:cNvPr id="8" name="Inhaltsplatzhalter 6">
            <a:extLst>
              <a:ext uri="{FF2B5EF4-FFF2-40B4-BE49-F238E27FC236}">
                <a16:creationId xmlns:a16="http://schemas.microsoft.com/office/drawing/2014/main" id="{55BA7911-C95B-1EE4-200C-228FAD984879}"/>
              </a:ext>
            </a:extLst>
          </p:cNvPr>
          <p:cNvSpPr txBox="1">
            <a:spLocks/>
          </p:cNvSpPr>
          <p:nvPr/>
        </p:nvSpPr>
        <p:spPr>
          <a:xfrm>
            <a:off x="4764811" y="1859395"/>
            <a:ext cx="4674753" cy="476841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600" dirty="0"/>
              <a:t>Week 5 Holiday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600" dirty="0"/>
              <a:t>Week 6 – 7</a:t>
            </a:r>
          </a:p>
          <a:p>
            <a:pPr>
              <a:lnSpc>
                <a:spcPct val="100000"/>
              </a:lnSpc>
            </a:pPr>
            <a:r>
              <a:rPr lang="en-GB" sz="2300" dirty="0"/>
              <a:t>Analysis of variance</a:t>
            </a:r>
          </a:p>
          <a:p>
            <a:pPr>
              <a:lnSpc>
                <a:spcPct val="100000"/>
              </a:lnSpc>
            </a:pPr>
            <a:r>
              <a:rPr lang="en-GB" sz="2300" dirty="0"/>
              <a:t>Multiple linear regression</a:t>
            </a:r>
          </a:p>
          <a:p>
            <a:pPr>
              <a:lnSpc>
                <a:spcPct val="100000"/>
              </a:lnSpc>
            </a:pPr>
            <a:endParaRPr lang="en-GB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600" dirty="0"/>
              <a:t>Week 8 + 9</a:t>
            </a:r>
          </a:p>
          <a:p>
            <a:r>
              <a:rPr lang="en-GB" sz="2300" dirty="0"/>
              <a:t>Mixed effect models</a:t>
            </a:r>
          </a:p>
          <a:p>
            <a:r>
              <a:rPr lang="en-GB" sz="2300" dirty="0"/>
              <a:t>Regression trees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600" dirty="0"/>
              <a:t>Week 10 + 11</a:t>
            </a:r>
          </a:p>
          <a:p>
            <a:r>
              <a:rPr lang="en-GB" sz="2300" dirty="0"/>
              <a:t>Generalized additive models</a:t>
            </a:r>
          </a:p>
          <a:p>
            <a:r>
              <a:rPr lang="en-GB" sz="2300" dirty="0"/>
              <a:t>Functions and loops</a:t>
            </a:r>
          </a:p>
          <a:p>
            <a:r>
              <a:rPr lang="en-GB" sz="2300" dirty="0"/>
              <a:t>Intro case studies</a:t>
            </a:r>
          </a:p>
          <a:p>
            <a:endParaRPr lang="en-GB" dirty="0"/>
          </a:p>
          <a:p>
            <a:endParaRPr lang="en-GB" sz="2000" dirty="0"/>
          </a:p>
        </p:txBody>
      </p:sp>
      <p:sp>
        <p:nvSpPr>
          <p:cNvPr id="9" name="Inhaltsplatzhalter 6">
            <a:extLst>
              <a:ext uri="{FF2B5EF4-FFF2-40B4-BE49-F238E27FC236}">
                <a16:creationId xmlns:a16="http://schemas.microsoft.com/office/drawing/2014/main" id="{57D4E40A-3310-BEF2-A376-6D2AF52FCAF6}"/>
              </a:ext>
            </a:extLst>
          </p:cNvPr>
          <p:cNvSpPr txBox="1">
            <a:spLocks/>
          </p:cNvSpPr>
          <p:nvPr/>
        </p:nvSpPr>
        <p:spPr>
          <a:xfrm>
            <a:off x="8375072" y="1808163"/>
            <a:ext cx="417714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Week 12 + 13</a:t>
            </a:r>
          </a:p>
          <a:p>
            <a:pPr>
              <a:lnSpc>
                <a:spcPct val="100000"/>
              </a:lnSpc>
            </a:pPr>
            <a:r>
              <a:rPr lang="en-GB" sz="1800" dirty="0"/>
              <a:t>Work on case studies</a:t>
            </a:r>
          </a:p>
          <a:p>
            <a:pPr>
              <a:lnSpc>
                <a:spcPct val="100000"/>
              </a:lnSpc>
            </a:pPr>
            <a:endParaRPr lang="en-GB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Week 14</a:t>
            </a:r>
          </a:p>
          <a:p>
            <a:r>
              <a:rPr lang="en-GB" sz="1800" dirty="0"/>
              <a:t>Presentations (20% of Grade)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Exam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Any wishes / ideas?</a:t>
            </a:r>
          </a:p>
        </p:txBody>
      </p:sp>
    </p:spTree>
    <p:extLst>
      <p:ext uri="{BB962C8B-B14F-4D97-AF65-F5344CB8AC3E}">
        <p14:creationId xmlns:p14="http://schemas.microsoft.com/office/powerpoint/2010/main" val="2384472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7489A4-D389-074B-0E06-61A678FFB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589781C8-2C5B-2306-F355-B5333EDDE6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4"/>
            <a:ext cx="4481945" cy="5971331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0CB8F8B2-B5D2-B178-AA40-206FFF77E0A9}"/>
              </a:ext>
            </a:extLst>
          </p:cNvPr>
          <p:cNvSpPr txBox="1"/>
          <p:nvPr/>
        </p:nvSpPr>
        <p:spPr>
          <a:xfrm>
            <a:off x="5652654" y="1808163"/>
            <a:ext cx="61883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E-book available for free via UHH:</a:t>
            </a:r>
          </a:p>
          <a:p>
            <a:r>
              <a:rPr lang="en-GB" dirty="0">
                <a:hlinkClick r:id="rId3"/>
              </a:rPr>
              <a:t>https://link.springer.com/book/10.1007/978-3-030-55020-2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Todays topics: Chapter 1, 3 and 13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Practice in Chapter 2, 4 and 14</a:t>
            </a:r>
          </a:p>
        </p:txBody>
      </p:sp>
    </p:spTree>
    <p:extLst>
      <p:ext uri="{BB962C8B-B14F-4D97-AF65-F5344CB8AC3E}">
        <p14:creationId xmlns:p14="http://schemas.microsoft.com/office/powerpoint/2010/main" val="953868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21380E-10A1-AC7A-AEB5-D80A6A89E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DFB0CEC-C22F-D355-4B17-E171B5F734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588716"/>
            <a:ext cx="3976396" cy="5680567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2816F8F-D1EA-753E-2138-05BCFDA70788}"/>
              </a:ext>
            </a:extLst>
          </p:cNvPr>
          <p:cNvSpPr txBox="1"/>
          <p:nvPr/>
        </p:nvSpPr>
        <p:spPr>
          <a:xfrm>
            <a:off x="5652654" y="1808163"/>
            <a:ext cx="61883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Linear regression, ANOVA, Mixed-effect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Chhaya has a copy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Second hand copy ~25€ (e.g., </a:t>
            </a:r>
            <a:r>
              <a:rPr lang="en-GB" dirty="0" err="1"/>
              <a:t>medimops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54569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89ED86-3D92-3BFD-C953-5011BBDBD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Recap descriptive stats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E3A87D-3448-7298-0A28-672FC6ADA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Measures of</a:t>
            </a:r>
          </a:p>
          <a:p>
            <a:pPr lvl="1"/>
            <a:r>
              <a:rPr lang="en-GB" dirty="0"/>
              <a:t>Location </a:t>
            </a:r>
            <a:r>
              <a:rPr lang="en-GB" dirty="0">
                <a:sym typeface="Wingdings" pitchFamily="2" charset="2"/>
              </a:rPr>
              <a:t> </a:t>
            </a:r>
            <a:r>
              <a:rPr lang="en-GB" dirty="0" err="1">
                <a:sym typeface="Wingdings" pitchFamily="2" charset="2"/>
              </a:rPr>
              <a:t>center</a:t>
            </a:r>
            <a:r>
              <a:rPr lang="en-GB" dirty="0">
                <a:sym typeface="Wingdings" pitchFamily="2" charset="2"/>
              </a:rPr>
              <a:t> of the data</a:t>
            </a:r>
          </a:p>
          <a:p>
            <a:pPr lvl="1"/>
            <a:r>
              <a:rPr lang="en-GB" dirty="0">
                <a:sym typeface="Wingdings" pitchFamily="2" charset="2"/>
              </a:rPr>
              <a:t>Spread  variation of the data</a:t>
            </a:r>
          </a:p>
          <a:p>
            <a:pPr lvl="1"/>
            <a:r>
              <a:rPr lang="en-GB" dirty="0">
                <a:sym typeface="Wingdings" pitchFamily="2" charset="2"/>
              </a:rPr>
              <a:t>Shape  how is the data distributed around the </a:t>
            </a:r>
            <a:r>
              <a:rPr lang="en-GB" dirty="0" err="1">
                <a:sym typeface="Wingdings" pitchFamily="2" charset="2"/>
              </a:rPr>
              <a:t>center</a:t>
            </a:r>
            <a:endParaRPr lang="en-GB" dirty="0">
              <a:sym typeface="Wingdings" pitchFamily="2" charset="2"/>
            </a:endParaRPr>
          </a:p>
          <a:p>
            <a:pPr lvl="1"/>
            <a:endParaRPr lang="en-GB" dirty="0">
              <a:sym typeface="Wingdings" pitchFamily="2" charset="2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1047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5315A8-B50C-4055-E1CA-964B9DA87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E474E3-306F-9022-E6EF-AEFA9B760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Mean = average value of the data</a:t>
            </a:r>
          </a:p>
          <a:p>
            <a:endParaRPr lang="en-GB" dirty="0"/>
          </a:p>
          <a:p>
            <a:r>
              <a:rPr lang="en-GB" dirty="0"/>
              <a:t>Median = value in the middle of the data </a:t>
            </a:r>
          </a:p>
          <a:p>
            <a:r>
              <a:rPr lang="en-GB" dirty="0"/>
              <a:t>Mode = most often occurring value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41CA8D9-631A-4B5B-B2FF-B996A33FD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500" y="1390281"/>
            <a:ext cx="2707173" cy="103563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181C1D3-5D96-F579-8EDA-257227A3BA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28"/>
          <a:stretch>
            <a:fillRect/>
          </a:stretch>
        </p:blipFill>
        <p:spPr>
          <a:xfrm>
            <a:off x="7540170" y="2517309"/>
            <a:ext cx="4651830" cy="10795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6CB337A9-B63B-FF92-4AF3-BC6AF8F8E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9188" y="4061148"/>
            <a:ext cx="6773807" cy="2550631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29076450-13E4-712E-EE85-1933031DFA14}"/>
              </a:ext>
            </a:extLst>
          </p:cNvPr>
          <p:cNvSpPr txBox="1"/>
          <p:nvPr/>
        </p:nvSpPr>
        <p:spPr>
          <a:xfrm>
            <a:off x="4994210" y="6611779"/>
            <a:ext cx="726621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https://</a:t>
            </a:r>
            <a:r>
              <a:rPr lang="en-GB" sz="1000" dirty="0" err="1"/>
              <a:t>en.wikipedia.org</a:t>
            </a:r>
            <a:r>
              <a:rPr lang="en-GB" sz="1000" dirty="0"/>
              <a:t>/wiki/Skewness#/media/File:Relationship_between_mean_and_median_under_different_skewness.png</a:t>
            </a:r>
          </a:p>
        </p:txBody>
      </p:sp>
    </p:spTree>
    <p:extLst>
      <p:ext uri="{BB962C8B-B14F-4D97-AF65-F5344CB8AC3E}">
        <p14:creationId xmlns:p14="http://schemas.microsoft.com/office/powerpoint/2010/main" val="161246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A19B12-5BA9-B504-076C-C29EC7E17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60E803-C7EA-A6D3-E135-2A34ECCFD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Standard deviation = spread around the mean</a:t>
            </a:r>
          </a:p>
          <a:p>
            <a:endParaRPr lang="en-GB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A667AD2-EDFA-07AE-415D-3A3D5A867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040" y="2374665"/>
            <a:ext cx="2768600" cy="93980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CED457DC-05E0-F826-95E4-A63F77889633}"/>
              </a:ext>
            </a:extLst>
          </p:cNvPr>
          <p:cNvSpPr txBox="1"/>
          <p:nvPr/>
        </p:nvSpPr>
        <p:spPr>
          <a:xfrm>
            <a:off x="7490150" y="6492875"/>
            <a:ext cx="60975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https://</a:t>
            </a:r>
            <a:r>
              <a:rPr lang="en-GB" sz="1000" dirty="0" err="1"/>
              <a:t>en.wikipedia.org</a:t>
            </a:r>
            <a:r>
              <a:rPr lang="en-GB" sz="1000" dirty="0"/>
              <a:t>/wiki/</a:t>
            </a:r>
            <a:r>
              <a:rPr lang="en-GB" sz="1000" dirty="0" err="1"/>
              <a:t>Interquartile_range</a:t>
            </a:r>
            <a:r>
              <a:rPr lang="en-GB" sz="1000" dirty="0"/>
              <a:t>#/media/</a:t>
            </a:r>
            <a:r>
              <a:rPr lang="en-GB" sz="1000" dirty="0" err="1"/>
              <a:t>File:Boxplot_vs_PDF.svg</a:t>
            </a:r>
            <a:endParaRPr lang="en-GB" sz="1000" dirty="0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DB13554D-2CE4-C740-7665-CE8FCFEE66E5}"/>
              </a:ext>
            </a:extLst>
          </p:cNvPr>
          <p:cNvGrpSpPr/>
          <p:nvPr/>
        </p:nvGrpSpPr>
        <p:grpSpPr>
          <a:xfrm>
            <a:off x="3066854" y="3314464"/>
            <a:ext cx="7094183" cy="2713111"/>
            <a:chOff x="4546792" y="3736456"/>
            <a:chExt cx="6294149" cy="2030938"/>
          </a:xfrm>
        </p:grpSpPr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341F3525-2026-E190-746E-DB3A228E1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0386"/>
            <a:stretch>
              <a:fillRect/>
            </a:stretch>
          </p:blipFill>
          <p:spPr>
            <a:xfrm>
              <a:off x="4546792" y="3736456"/>
              <a:ext cx="6294149" cy="2030938"/>
            </a:xfrm>
            <a:prstGeom prst="rect">
              <a:avLst/>
            </a:prstGeom>
          </p:spPr>
        </p:pic>
        <p:cxnSp>
          <p:nvCxnSpPr>
            <p:cNvPr id="14" name="Gerade Verbindung 13">
              <a:extLst>
                <a:ext uri="{FF2B5EF4-FFF2-40B4-BE49-F238E27FC236}">
                  <a16:creationId xmlns:a16="http://schemas.microsoft.com/office/drawing/2014/main" id="{F5266EC0-51B7-B288-E5C4-2586EAE0FD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7755" y="3853543"/>
              <a:ext cx="0" cy="155821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9568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9B12B9-ACD5-5B43-CCCC-B114299FF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B31817-0C89-A382-1B9B-BD6A6F427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70714" cy="4351338"/>
          </a:xfrm>
        </p:spPr>
        <p:txBody>
          <a:bodyPr/>
          <a:lstStyle/>
          <a:p>
            <a:r>
              <a:rPr lang="en-GB" dirty="0"/>
              <a:t>Range = from lowest to highest value</a:t>
            </a:r>
          </a:p>
          <a:p>
            <a:r>
              <a:rPr lang="en-GB" dirty="0"/>
              <a:t>Quartiles = separate the data into four equal parts</a:t>
            </a:r>
          </a:p>
          <a:p>
            <a:r>
              <a:rPr lang="en-GB" dirty="0"/>
              <a:t>Interquartile range (IQR) = range between Q1 and Q3</a:t>
            </a:r>
          </a:p>
          <a:p>
            <a:r>
              <a:rPr lang="en-GB" dirty="0"/>
              <a:t>Percentiles = separate the data into 100 equal parts</a:t>
            </a:r>
          </a:p>
          <a:p>
            <a:r>
              <a:rPr lang="en-GB" dirty="0"/>
              <a:t>P25 = Q1</a:t>
            </a:r>
          </a:p>
          <a:p>
            <a:endParaRPr lang="en-GB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4263A3E-20FC-E67E-90EC-E9479AFECF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998"/>
          <a:stretch>
            <a:fillRect/>
          </a:stretch>
        </p:blipFill>
        <p:spPr>
          <a:xfrm>
            <a:off x="5759447" y="1883845"/>
            <a:ext cx="6294149" cy="473214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26220EC-50BC-CDF7-487F-D149205BFBC3}"/>
              </a:ext>
            </a:extLst>
          </p:cNvPr>
          <p:cNvSpPr txBox="1"/>
          <p:nvPr/>
        </p:nvSpPr>
        <p:spPr>
          <a:xfrm>
            <a:off x="7490150" y="6492875"/>
            <a:ext cx="60975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https://</a:t>
            </a:r>
            <a:r>
              <a:rPr lang="en-GB" sz="1000" dirty="0" err="1"/>
              <a:t>en.wikipedia.org</a:t>
            </a:r>
            <a:r>
              <a:rPr lang="en-GB" sz="1000" dirty="0"/>
              <a:t>/wiki/</a:t>
            </a:r>
            <a:r>
              <a:rPr lang="en-GB" sz="1000" dirty="0" err="1"/>
              <a:t>Interquartile_range</a:t>
            </a:r>
            <a:r>
              <a:rPr lang="en-GB" sz="1000" dirty="0"/>
              <a:t>#/media/</a:t>
            </a:r>
            <a:r>
              <a:rPr lang="en-GB" sz="1000" dirty="0" err="1"/>
              <a:t>File:Boxplot_vs_PDF.svg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2582901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545217-5C67-D082-B3B5-A0C95B81C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Shape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F980FB-4D9D-D2F3-34F3-2805DEDC6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935825" cy="4351338"/>
          </a:xfrm>
        </p:spPr>
        <p:txBody>
          <a:bodyPr/>
          <a:lstStyle/>
          <a:p>
            <a:r>
              <a:rPr lang="en-GB" dirty="0"/>
              <a:t>Skew = how asymmetrical are the values distributed?</a:t>
            </a:r>
          </a:p>
          <a:p>
            <a:pPr lvl="1"/>
            <a:r>
              <a:rPr lang="en-GB" dirty="0"/>
              <a:t>Positive skew = right skewed</a:t>
            </a:r>
          </a:p>
          <a:p>
            <a:pPr lvl="1"/>
            <a:r>
              <a:rPr lang="en-GB" dirty="0"/>
              <a:t>Negative skew = left skewed </a:t>
            </a:r>
          </a:p>
          <a:p>
            <a:r>
              <a:rPr lang="en-GB" dirty="0"/>
              <a:t>Kurtosis = how pointy is the peak?</a:t>
            </a:r>
          </a:p>
          <a:p>
            <a:r>
              <a:rPr lang="en-GB" dirty="0"/>
              <a:t>Values close to 0 indicate a normal distribution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AD52361-4BDD-DB55-7D92-5E12073494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844"/>
          <a:stretch>
            <a:fillRect/>
          </a:stretch>
        </p:blipFill>
        <p:spPr>
          <a:xfrm>
            <a:off x="7366520" y="957143"/>
            <a:ext cx="3987280" cy="2754657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BD958ABC-C39A-EEA8-FB93-B211AA10923A}"/>
              </a:ext>
            </a:extLst>
          </p:cNvPr>
          <p:cNvSpPr txBox="1"/>
          <p:nvPr/>
        </p:nvSpPr>
        <p:spPr>
          <a:xfrm>
            <a:off x="6363972" y="6629209"/>
            <a:ext cx="60975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https://</a:t>
            </a:r>
            <a:r>
              <a:rPr lang="en-GB" sz="1000" dirty="0" err="1"/>
              <a:t>ars.els-cdn.com</a:t>
            </a:r>
            <a:r>
              <a:rPr lang="en-GB" sz="1000" dirty="0"/>
              <a:t>/content/image/3-s2.0-B9780128207178000087-f05-03-9780128207178.jpg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7D742D78-9514-C4C3-9047-8F94902F67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844"/>
          <a:stretch>
            <a:fillRect/>
          </a:stretch>
        </p:blipFill>
        <p:spPr>
          <a:xfrm>
            <a:off x="7366520" y="3711800"/>
            <a:ext cx="3987280" cy="275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217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6F3661-C238-FFE9-7877-2CA60D080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Distributions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7643E10-7D3C-D113-5A4C-7C4BFF9F3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373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01B150-49D3-560D-95F6-F08A8B92F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Distributions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E1F479-7FC0-1D89-9513-59972D8B9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Every sample comes from an underlying distribution</a:t>
            </a:r>
          </a:p>
          <a:p>
            <a:r>
              <a:rPr lang="en-GB" dirty="0"/>
              <a:t>Histograms are frequency distributions and we can describe them with theoretical probability distributions</a:t>
            </a:r>
          </a:p>
          <a:p>
            <a:r>
              <a:rPr lang="en-GB" dirty="0"/>
              <a:t>All probability distributions have some common features</a:t>
            </a:r>
          </a:p>
          <a:p>
            <a:pPr lvl="1"/>
            <a:r>
              <a:rPr lang="en-GB" dirty="0"/>
              <a:t>Each can be described with a density function (also referred to as distribution function)</a:t>
            </a:r>
          </a:p>
          <a:p>
            <a:pPr lvl="1"/>
            <a:r>
              <a:rPr lang="en-GB" dirty="0"/>
              <a:t>Each distribution describes the probability of independent events (each value is independent from the others)</a:t>
            </a:r>
          </a:p>
          <a:p>
            <a:pPr lvl="1"/>
            <a:r>
              <a:rPr lang="en-GB" dirty="0"/>
              <a:t>The area under the curve is 1</a:t>
            </a:r>
          </a:p>
          <a:p>
            <a:pPr lvl="1"/>
            <a:r>
              <a:rPr lang="en-GB" dirty="0"/>
              <a:t>They are continuous or discrete</a:t>
            </a:r>
          </a:p>
          <a:p>
            <a:r>
              <a:rPr lang="en-GB" dirty="0"/>
              <a:t>Many, many distributions…</a:t>
            </a:r>
          </a:p>
          <a:p>
            <a:r>
              <a:rPr lang="en-GB" dirty="0"/>
              <a:t>Some examples: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280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140C9D76-E6A4-3CFF-1664-E7ECD54C1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54" y="1825625"/>
            <a:ext cx="5435491" cy="460302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B10FE6C-AE8B-5EA4-7AC9-C7E51FCFF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Normal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8B2F8BE3-7C77-E146-BA20-36212A7A711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=165,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8B2F8BE3-7C77-E146-BA20-36212A7A71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EDA8061B-E0A7-603A-4102-D4AA02C049A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GB" dirty="0"/>
                  <a:t>Continuous</a:t>
                </a:r>
              </a:p>
              <a:p>
                <a:r>
                  <a:rPr lang="en-GB" dirty="0"/>
                  <a:t>Parameters: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dirty="0"/>
                  <a:t> = where is the mean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= how large is the variance</a:t>
                </a:r>
              </a:p>
              <a:p>
                <a:r>
                  <a:rPr lang="en-GB" dirty="0"/>
                  <a:t>Examples: Body mass and height</a:t>
                </a:r>
              </a:p>
            </p:txBody>
          </p:sp>
        </mc:Choice>
        <mc:Fallback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EDA8061B-E0A7-603A-4102-D4AA02C049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5"/>
                <a:stretch>
                  <a:fillRect l="-2200" t="-23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9104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26E4CB5E-5D21-F0FA-C87D-668C4138D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13" y="1616075"/>
            <a:ext cx="5758774" cy="48768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24830EF-703B-0642-6312-0286EC56D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Poisson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ACAF5A58-A704-4532-E503-EB2AB208C2D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ACAF5A58-A704-4532-E503-EB2AB208C2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30D34ADD-3045-56F8-A6D0-73F4E7F628B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GB" dirty="0"/>
                  <a:t>Discrete</a:t>
                </a:r>
              </a:p>
              <a:p>
                <a:r>
                  <a:rPr lang="en-GB" dirty="0"/>
                  <a:t>Parameters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dirty="0"/>
                  <a:t> = describes mean AND variance</a:t>
                </a:r>
              </a:p>
              <a:p>
                <a:pPr lvl="1"/>
                <a:r>
                  <a:rPr lang="en-GB" dirty="0"/>
                  <a:t>Mean and variance are not independent</a:t>
                </a:r>
              </a:p>
              <a:p>
                <a:r>
                  <a:rPr lang="en-GB" dirty="0"/>
                  <a:t>Count data how many events take place in a given time?</a:t>
                </a:r>
              </a:p>
              <a:p>
                <a:r>
                  <a:rPr lang="en-GB" dirty="0"/>
                  <a:t>Examples:  E-mails per day</a:t>
                </a:r>
              </a:p>
              <a:p>
                <a:endParaRPr lang="en-GB" dirty="0"/>
              </a:p>
            </p:txBody>
          </p:sp>
        </mc:Choice>
        <mc:Fallback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30D34ADD-3045-56F8-A6D0-73F4E7F628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4"/>
                <a:stretch>
                  <a:fillRect l="-2200" t="-23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8403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E27D02C4-1ECF-905A-581C-E06572800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56" y="1690688"/>
            <a:ext cx="5742244" cy="486280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0EC2F57-1053-5D03-2888-C06D50462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Binomial (red) / negative binomial (blue)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22CA5CD4-D927-1B59-B11B-F20222023A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GB" dirty="0"/>
              <a:t>N / R = 20, p = 0.9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DCC2BAF-EC38-CFB6-0B2C-F94541A0E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Discrete</a:t>
            </a:r>
          </a:p>
          <a:p>
            <a:r>
              <a:rPr lang="en-GB" dirty="0"/>
              <a:t>Binomial: How many successes will occur in n trials?</a:t>
            </a:r>
          </a:p>
          <a:p>
            <a:pPr lvl="1"/>
            <a:r>
              <a:rPr lang="en-GB" dirty="0"/>
              <a:t>N = number of trials</a:t>
            </a:r>
          </a:p>
          <a:p>
            <a:pPr lvl="1"/>
            <a:r>
              <a:rPr lang="en-GB" dirty="0"/>
              <a:t>P = probability of success [0,1]</a:t>
            </a:r>
          </a:p>
          <a:p>
            <a:pPr lvl="1"/>
            <a:r>
              <a:rPr lang="en-GB" dirty="0"/>
              <a:t>Example: how many rats survive the experiment given a specific survival rate?</a:t>
            </a:r>
          </a:p>
          <a:p>
            <a:r>
              <a:rPr lang="en-GB" dirty="0"/>
              <a:t>Negative binomial: How many trials until a n successes are reached?</a:t>
            </a:r>
          </a:p>
          <a:p>
            <a:pPr lvl="1"/>
            <a:r>
              <a:rPr lang="en-GB" dirty="0"/>
              <a:t>R = number of successes</a:t>
            </a:r>
          </a:p>
          <a:p>
            <a:pPr lvl="1"/>
            <a:r>
              <a:rPr lang="en-GB" dirty="0"/>
              <a:t>P = probability of success [0, 1]</a:t>
            </a:r>
          </a:p>
          <a:p>
            <a:pPr lvl="1"/>
            <a:r>
              <a:rPr lang="en-GB" dirty="0"/>
              <a:t>Example: How many experiments do I need until 20 rats survive?</a:t>
            </a:r>
          </a:p>
          <a:p>
            <a:r>
              <a:rPr lang="en-GB" dirty="0"/>
              <a:t>Bernoulli as special case with N = 1</a:t>
            </a:r>
          </a:p>
        </p:txBody>
      </p:sp>
    </p:spTree>
    <p:extLst>
      <p:ext uri="{BB962C8B-B14F-4D97-AF65-F5344CB8AC3E}">
        <p14:creationId xmlns:p14="http://schemas.microsoft.com/office/powerpoint/2010/main" val="3073675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AE9FFDA1-6DF2-1833-ABE5-131C512C1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66" y="1690688"/>
            <a:ext cx="5670668" cy="480218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07E1EB4-8523-9934-99E2-939EBC42B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Uniform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5A27999-2DC5-CD9D-4112-8D0CC5B6F7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/>
              <a:t>A = 10, B = 15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001D931-7F6E-9E7C-CEEC-CB99D7835A7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Continuous</a:t>
            </a:r>
          </a:p>
          <a:p>
            <a:r>
              <a:rPr lang="en-GB" dirty="0"/>
              <a:t>Parameters:</a:t>
            </a:r>
          </a:p>
          <a:p>
            <a:pPr lvl="1"/>
            <a:r>
              <a:rPr lang="en-GB" dirty="0"/>
              <a:t>A = lower limit</a:t>
            </a:r>
          </a:p>
          <a:p>
            <a:pPr lvl="1"/>
            <a:r>
              <a:rPr lang="en-GB" dirty="0"/>
              <a:t>B = upper limit</a:t>
            </a:r>
          </a:p>
          <a:p>
            <a:r>
              <a:rPr lang="en-GB" dirty="0"/>
              <a:t>All values in the interval have the same probability</a:t>
            </a:r>
          </a:p>
          <a:p>
            <a:r>
              <a:rPr lang="en-GB" dirty="0"/>
              <a:t>Example: duration of a bus ride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0424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5359699-0016-F85F-B0E9-E424C7C48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useful distributions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CB8486A-7023-472B-4864-A381945D1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Log-normal</a:t>
            </a:r>
          </a:p>
          <a:p>
            <a:r>
              <a:rPr lang="en-GB" dirty="0"/>
              <a:t>Beta</a:t>
            </a:r>
          </a:p>
          <a:p>
            <a:r>
              <a:rPr lang="en-GB" dirty="0"/>
              <a:t>Gamma</a:t>
            </a:r>
          </a:p>
          <a:p>
            <a:r>
              <a:rPr lang="en-GB" dirty="0"/>
              <a:t>Weibull</a:t>
            </a:r>
          </a:p>
          <a:p>
            <a:r>
              <a:rPr lang="en-GB" dirty="0"/>
              <a:t>Cauchy</a:t>
            </a:r>
          </a:p>
          <a:p>
            <a:r>
              <a:rPr lang="en-GB" dirty="0"/>
              <a:t>Geometric</a:t>
            </a:r>
          </a:p>
          <a:p>
            <a:endParaRPr lang="en-GB" dirty="0"/>
          </a:p>
          <a:p>
            <a:r>
              <a:rPr lang="en-GB" dirty="0"/>
              <a:t>See Chapter 3 &amp; 4 in Environmental Data Analysis</a:t>
            </a:r>
          </a:p>
        </p:txBody>
      </p:sp>
    </p:spTree>
    <p:extLst>
      <p:ext uri="{BB962C8B-B14F-4D97-AF65-F5344CB8AC3E}">
        <p14:creationId xmlns:p14="http://schemas.microsoft.com/office/powerpoint/2010/main" val="3204107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AC8268-39F4-C9A0-869E-257AFFF80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Fit a distribution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2D8702-6BEE-196D-2F81-699041DBC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Best combination of distribution parameters</a:t>
            </a:r>
          </a:p>
          <a:p>
            <a:r>
              <a:rPr lang="en-GB" dirty="0"/>
              <a:t>Maximum likelihood or log-likelihood to compare fit</a:t>
            </a:r>
          </a:p>
          <a:p>
            <a:pPr lvl="1"/>
            <a:r>
              <a:rPr lang="en-GB" dirty="0"/>
              <a:t>The higher the value the better the fit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5802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1">
            <a:extLst>
              <a:ext uri="{FF2B5EF4-FFF2-40B4-BE49-F238E27FC236}">
                <a16:creationId xmlns:a16="http://schemas.microsoft.com/office/drawing/2014/main" id="{7DA3C418-758E-4180-A5D0-8655D680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28C8EF06-5EC3-4883-AFAF-D74FF465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5135971" cy="687164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2EF3FB6-BD39-CA93-99DD-ADD85CD5DC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67" r="737" b="-1"/>
          <a:stretch>
            <a:fillRect/>
          </a:stretch>
        </p:blipFill>
        <p:spPr>
          <a:xfrm>
            <a:off x="2915455" y="10"/>
            <a:ext cx="9276545" cy="6857990"/>
          </a:xfrm>
          <a:custGeom>
            <a:avLst/>
            <a:gdLst/>
            <a:ahLst/>
            <a:cxnLst/>
            <a:rect l="l" t="t" r="r" b="b"/>
            <a:pathLst>
              <a:path w="9276545" h="6871647">
                <a:moveTo>
                  <a:pt x="9276545" y="0"/>
                </a:moveTo>
                <a:lnTo>
                  <a:pt x="9276545" y="6858000"/>
                </a:lnTo>
                <a:lnTo>
                  <a:pt x="1546051" y="6871647"/>
                </a:lnTo>
                <a:lnTo>
                  <a:pt x="1535751" y="6828910"/>
                </a:lnTo>
                <a:cubicBezTo>
                  <a:pt x="1530460" y="6775140"/>
                  <a:pt x="1515370" y="6618042"/>
                  <a:pt x="1514301" y="6549029"/>
                </a:cubicBezTo>
                <a:cubicBezTo>
                  <a:pt x="1518045" y="6491396"/>
                  <a:pt x="1528503" y="6450608"/>
                  <a:pt x="1529339" y="6414828"/>
                </a:cubicBezTo>
                <a:cubicBezTo>
                  <a:pt x="1525062" y="6359280"/>
                  <a:pt x="1502062" y="6307149"/>
                  <a:pt x="1493941" y="6268848"/>
                </a:cubicBezTo>
                <a:cubicBezTo>
                  <a:pt x="1502669" y="6254191"/>
                  <a:pt x="1469920" y="6200171"/>
                  <a:pt x="1480613" y="6185025"/>
                </a:cubicBezTo>
                <a:cubicBezTo>
                  <a:pt x="1481020" y="6164522"/>
                  <a:pt x="1458164" y="6060790"/>
                  <a:pt x="1443364" y="6018360"/>
                </a:cubicBezTo>
                <a:cubicBezTo>
                  <a:pt x="1426694" y="5970758"/>
                  <a:pt x="1390307" y="5920074"/>
                  <a:pt x="1380584" y="5899407"/>
                </a:cubicBezTo>
                <a:cubicBezTo>
                  <a:pt x="1370860" y="5878740"/>
                  <a:pt x="1392244" y="5920877"/>
                  <a:pt x="1385023" y="5894356"/>
                </a:cubicBezTo>
                <a:cubicBezTo>
                  <a:pt x="1377800" y="5867835"/>
                  <a:pt x="1345702" y="5770498"/>
                  <a:pt x="1337254" y="5740279"/>
                </a:cubicBezTo>
                <a:cubicBezTo>
                  <a:pt x="1353956" y="5738860"/>
                  <a:pt x="1323673" y="5722040"/>
                  <a:pt x="1334321" y="5713042"/>
                </a:cubicBezTo>
                <a:cubicBezTo>
                  <a:pt x="1343675" y="5706701"/>
                  <a:pt x="1336672" y="5700118"/>
                  <a:pt x="1335877" y="5692870"/>
                </a:cubicBezTo>
                <a:cubicBezTo>
                  <a:pt x="1343201" y="5683812"/>
                  <a:pt x="1329617" y="5652064"/>
                  <a:pt x="1319978" y="5643427"/>
                </a:cubicBezTo>
                <a:cubicBezTo>
                  <a:pt x="1286551" y="5622177"/>
                  <a:pt x="1310947" y="5579803"/>
                  <a:pt x="1285321" y="5562271"/>
                </a:cubicBezTo>
                <a:cubicBezTo>
                  <a:pt x="1281540" y="5556238"/>
                  <a:pt x="1279983" y="5550455"/>
                  <a:pt x="1279815" y="5544867"/>
                </a:cubicBezTo>
                <a:lnTo>
                  <a:pt x="1282507" y="5529404"/>
                </a:lnTo>
                <a:lnTo>
                  <a:pt x="1289604" y="5525378"/>
                </a:lnTo>
                <a:lnTo>
                  <a:pt x="1287766" y="5515726"/>
                </a:lnTo>
                <a:lnTo>
                  <a:pt x="1288829" y="5513051"/>
                </a:lnTo>
                <a:cubicBezTo>
                  <a:pt x="1290896" y="5507946"/>
                  <a:pt x="1292688" y="5502897"/>
                  <a:pt x="1293373" y="5497833"/>
                </a:cubicBezTo>
                <a:cubicBezTo>
                  <a:pt x="1288690" y="5483829"/>
                  <a:pt x="1272696" y="5459278"/>
                  <a:pt x="1260736" y="5429027"/>
                </a:cubicBezTo>
                <a:cubicBezTo>
                  <a:pt x="1238579" y="5396416"/>
                  <a:pt x="1238884" y="5351600"/>
                  <a:pt x="1221610" y="5316328"/>
                </a:cubicBezTo>
                <a:lnTo>
                  <a:pt x="1216099" y="5309330"/>
                </a:lnTo>
                <a:lnTo>
                  <a:pt x="1217278" y="5279477"/>
                </a:lnTo>
                <a:cubicBezTo>
                  <a:pt x="1221588" y="5274318"/>
                  <a:pt x="1222716" y="5266940"/>
                  <a:pt x="1218469" y="5260597"/>
                </a:cubicBezTo>
                <a:lnTo>
                  <a:pt x="1206220" y="5152555"/>
                </a:lnTo>
                <a:cubicBezTo>
                  <a:pt x="1205294" y="5116878"/>
                  <a:pt x="1196908" y="5101727"/>
                  <a:pt x="1212921" y="5046536"/>
                </a:cubicBezTo>
                <a:cubicBezTo>
                  <a:pt x="1234138" y="4987918"/>
                  <a:pt x="1204801" y="4903116"/>
                  <a:pt x="1212183" y="4837345"/>
                </a:cubicBezTo>
                <a:cubicBezTo>
                  <a:pt x="1183151" y="4802424"/>
                  <a:pt x="1209228" y="4821062"/>
                  <a:pt x="1202048" y="4784195"/>
                </a:cubicBezTo>
                <a:cubicBezTo>
                  <a:pt x="1202483" y="4760878"/>
                  <a:pt x="1202919" y="4737561"/>
                  <a:pt x="1203354" y="4714245"/>
                </a:cubicBezTo>
                <a:lnTo>
                  <a:pt x="1201502" y="4700836"/>
                </a:lnTo>
                <a:lnTo>
                  <a:pt x="1194919" y="4697224"/>
                </a:lnTo>
                <a:lnTo>
                  <a:pt x="1187792" y="4677162"/>
                </a:lnTo>
                <a:cubicBezTo>
                  <a:pt x="1186060" y="4669625"/>
                  <a:pt x="1185291" y="4661478"/>
                  <a:pt x="1186080" y="4652429"/>
                </a:cubicBezTo>
                <a:cubicBezTo>
                  <a:pt x="1199189" y="4622456"/>
                  <a:pt x="1167081" y="4571771"/>
                  <a:pt x="1184722" y="4534840"/>
                </a:cubicBezTo>
                <a:cubicBezTo>
                  <a:pt x="1182407" y="4499077"/>
                  <a:pt x="1175424" y="4460227"/>
                  <a:pt x="1172188" y="4437851"/>
                </a:cubicBezTo>
                <a:cubicBezTo>
                  <a:pt x="1161331" y="4428466"/>
                  <a:pt x="1178123" y="4398274"/>
                  <a:pt x="1165306" y="4400581"/>
                </a:cubicBezTo>
                <a:cubicBezTo>
                  <a:pt x="1171061" y="4389819"/>
                  <a:pt x="1173552" y="4346771"/>
                  <a:pt x="1168602" y="4335651"/>
                </a:cubicBezTo>
                <a:lnTo>
                  <a:pt x="1178384" y="4280215"/>
                </a:lnTo>
                <a:lnTo>
                  <a:pt x="1177294" y="4274660"/>
                </a:lnTo>
                <a:cubicBezTo>
                  <a:pt x="1177138" y="4268882"/>
                  <a:pt x="1177520" y="4251103"/>
                  <a:pt x="1177448" y="4245552"/>
                </a:cubicBezTo>
                <a:cubicBezTo>
                  <a:pt x="1177252" y="4244155"/>
                  <a:pt x="1177058" y="4242757"/>
                  <a:pt x="1176863" y="4241361"/>
                </a:cubicBezTo>
                <a:lnTo>
                  <a:pt x="1162386" y="4207167"/>
                </a:lnTo>
                <a:cubicBezTo>
                  <a:pt x="1162950" y="4202536"/>
                  <a:pt x="1174655" y="4199565"/>
                  <a:pt x="1174343" y="4192380"/>
                </a:cubicBezTo>
                <a:lnTo>
                  <a:pt x="1160516" y="4164062"/>
                </a:lnTo>
                <a:lnTo>
                  <a:pt x="1161365" y="4158623"/>
                </a:lnTo>
                <a:lnTo>
                  <a:pt x="1144878" y="4076261"/>
                </a:lnTo>
                <a:lnTo>
                  <a:pt x="1123687" y="4005692"/>
                </a:lnTo>
                <a:lnTo>
                  <a:pt x="1096720" y="3754257"/>
                </a:lnTo>
                <a:cubicBezTo>
                  <a:pt x="1083618" y="3639924"/>
                  <a:pt x="1064313" y="3636659"/>
                  <a:pt x="1047682" y="3517638"/>
                </a:cubicBezTo>
                <a:cubicBezTo>
                  <a:pt x="1048550" y="3477187"/>
                  <a:pt x="1049418" y="3436735"/>
                  <a:pt x="1050285" y="3396284"/>
                </a:cubicBezTo>
                <a:lnTo>
                  <a:pt x="1030166" y="3320814"/>
                </a:lnTo>
                <a:lnTo>
                  <a:pt x="1034128" y="3260443"/>
                </a:lnTo>
                <a:lnTo>
                  <a:pt x="1007751" y="3198916"/>
                </a:lnTo>
                <a:cubicBezTo>
                  <a:pt x="1003323" y="3193074"/>
                  <a:pt x="1001150" y="3187393"/>
                  <a:pt x="1000384" y="3181839"/>
                </a:cubicBezTo>
                <a:cubicBezTo>
                  <a:pt x="1000734" y="3176675"/>
                  <a:pt x="1001085" y="3171511"/>
                  <a:pt x="1001435" y="3166346"/>
                </a:cubicBezTo>
                <a:lnTo>
                  <a:pt x="968918" y="3112638"/>
                </a:lnTo>
                <a:cubicBezTo>
                  <a:pt x="957125" y="3092489"/>
                  <a:pt x="955617" y="3065232"/>
                  <a:pt x="934483" y="3031628"/>
                </a:cubicBezTo>
                <a:cubicBezTo>
                  <a:pt x="914631" y="2997037"/>
                  <a:pt x="908933" y="3005661"/>
                  <a:pt x="879229" y="2948196"/>
                </a:cubicBezTo>
                <a:cubicBezTo>
                  <a:pt x="850845" y="2897154"/>
                  <a:pt x="820829" y="2806798"/>
                  <a:pt x="798666" y="2761198"/>
                </a:cubicBezTo>
                <a:cubicBezTo>
                  <a:pt x="773970" y="2714562"/>
                  <a:pt x="758278" y="2715446"/>
                  <a:pt x="746962" y="2694939"/>
                </a:cubicBezTo>
                <a:lnTo>
                  <a:pt x="712796" y="2614779"/>
                </a:lnTo>
                <a:lnTo>
                  <a:pt x="697701" y="2600020"/>
                </a:lnTo>
                <a:cubicBezTo>
                  <a:pt x="697743" y="2598787"/>
                  <a:pt x="697784" y="2597555"/>
                  <a:pt x="697823" y="2596321"/>
                </a:cubicBezTo>
                <a:lnTo>
                  <a:pt x="679645" y="2572602"/>
                </a:lnTo>
                <a:lnTo>
                  <a:pt x="680789" y="2571831"/>
                </a:lnTo>
                <a:cubicBezTo>
                  <a:pt x="682946" y="2569560"/>
                  <a:pt x="683757" y="2566863"/>
                  <a:pt x="681771" y="2563200"/>
                </a:cubicBezTo>
                <a:cubicBezTo>
                  <a:pt x="705290" y="2562299"/>
                  <a:pt x="688388" y="2558438"/>
                  <a:pt x="680456" y="2547723"/>
                </a:cubicBezTo>
                <a:cubicBezTo>
                  <a:pt x="679482" y="2534148"/>
                  <a:pt x="677183" y="2493617"/>
                  <a:pt x="675922" y="2481749"/>
                </a:cubicBezTo>
                <a:lnTo>
                  <a:pt x="672894" y="2476509"/>
                </a:lnTo>
                <a:lnTo>
                  <a:pt x="673143" y="2476297"/>
                </a:lnTo>
                <a:cubicBezTo>
                  <a:pt x="673152" y="2474932"/>
                  <a:pt x="672405" y="2473126"/>
                  <a:pt x="670567" y="2470561"/>
                </a:cubicBezTo>
                <a:lnTo>
                  <a:pt x="667369" y="2466951"/>
                </a:lnTo>
                <a:lnTo>
                  <a:pt x="661495" y="2456785"/>
                </a:lnTo>
                <a:cubicBezTo>
                  <a:pt x="661510" y="2455387"/>
                  <a:pt x="661525" y="2453987"/>
                  <a:pt x="661540" y="2452588"/>
                </a:cubicBezTo>
                <a:lnTo>
                  <a:pt x="664540" y="2449913"/>
                </a:lnTo>
                <a:lnTo>
                  <a:pt x="663581" y="2449129"/>
                </a:lnTo>
                <a:cubicBezTo>
                  <a:pt x="653014" y="2444453"/>
                  <a:pt x="642406" y="2445872"/>
                  <a:pt x="663129" y="2426579"/>
                </a:cubicBezTo>
                <a:cubicBezTo>
                  <a:pt x="643271" y="2414167"/>
                  <a:pt x="657229" y="2404769"/>
                  <a:pt x="650205" y="2379928"/>
                </a:cubicBezTo>
                <a:cubicBezTo>
                  <a:pt x="634911" y="2374359"/>
                  <a:pt x="634260" y="2365346"/>
                  <a:pt x="638008" y="2354824"/>
                </a:cubicBezTo>
                <a:cubicBezTo>
                  <a:pt x="621083" y="2334576"/>
                  <a:pt x="620949" y="2310146"/>
                  <a:pt x="609851" y="2284299"/>
                </a:cubicBezTo>
                <a:lnTo>
                  <a:pt x="585585" y="2155739"/>
                </a:lnTo>
                <a:lnTo>
                  <a:pt x="581391" y="2152892"/>
                </a:lnTo>
                <a:cubicBezTo>
                  <a:pt x="578821" y="2150768"/>
                  <a:pt x="577525" y="2149149"/>
                  <a:pt x="577083" y="2147807"/>
                </a:cubicBezTo>
                <a:lnTo>
                  <a:pt x="577251" y="2147544"/>
                </a:lnTo>
                <a:lnTo>
                  <a:pt x="546845" y="2085601"/>
                </a:lnTo>
                <a:cubicBezTo>
                  <a:pt x="538270" y="2073917"/>
                  <a:pt x="486356" y="1955894"/>
                  <a:pt x="470837" y="1931362"/>
                </a:cubicBezTo>
                <a:lnTo>
                  <a:pt x="428154" y="1657167"/>
                </a:lnTo>
                <a:lnTo>
                  <a:pt x="392797" y="1510175"/>
                </a:lnTo>
                <a:cubicBezTo>
                  <a:pt x="380165" y="1504446"/>
                  <a:pt x="369910" y="1451095"/>
                  <a:pt x="372847" y="1440507"/>
                </a:cubicBezTo>
                <a:cubicBezTo>
                  <a:pt x="369015" y="1433783"/>
                  <a:pt x="338503" y="1376212"/>
                  <a:pt x="344479" y="1367690"/>
                </a:cubicBezTo>
                <a:cubicBezTo>
                  <a:pt x="332264" y="1342150"/>
                  <a:pt x="321736" y="1310521"/>
                  <a:pt x="299558" y="1287266"/>
                </a:cubicBezTo>
                <a:cubicBezTo>
                  <a:pt x="277380" y="1264010"/>
                  <a:pt x="259203" y="1269909"/>
                  <a:pt x="243216" y="1249403"/>
                </a:cubicBezTo>
                <a:cubicBezTo>
                  <a:pt x="227230" y="1228898"/>
                  <a:pt x="218454" y="1166841"/>
                  <a:pt x="203639" y="1164232"/>
                </a:cubicBezTo>
                <a:cubicBezTo>
                  <a:pt x="192352" y="1144923"/>
                  <a:pt x="198158" y="1133798"/>
                  <a:pt x="169195" y="1087898"/>
                </a:cubicBezTo>
                <a:cubicBezTo>
                  <a:pt x="139228" y="1002950"/>
                  <a:pt x="140891" y="969630"/>
                  <a:pt x="98775" y="910071"/>
                </a:cubicBezTo>
                <a:cubicBezTo>
                  <a:pt x="45025" y="831068"/>
                  <a:pt x="34038" y="817468"/>
                  <a:pt x="43820" y="712632"/>
                </a:cubicBezTo>
                <a:cubicBezTo>
                  <a:pt x="34816" y="659496"/>
                  <a:pt x="43273" y="613587"/>
                  <a:pt x="44748" y="591246"/>
                </a:cubicBezTo>
                <a:lnTo>
                  <a:pt x="36767" y="546725"/>
                </a:lnTo>
                <a:cubicBezTo>
                  <a:pt x="36093" y="528360"/>
                  <a:pt x="35418" y="509996"/>
                  <a:pt x="34744" y="491632"/>
                </a:cubicBezTo>
                <a:cubicBezTo>
                  <a:pt x="34670" y="458441"/>
                  <a:pt x="29296" y="473054"/>
                  <a:pt x="29222" y="439863"/>
                </a:cubicBezTo>
                <a:cubicBezTo>
                  <a:pt x="29152" y="439762"/>
                  <a:pt x="2578" y="397168"/>
                  <a:pt x="2507" y="397065"/>
                </a:cubicBezTo>
                <a:cubicBezTo>
                  <a:pt x="-7796" y="385479"/>
                  <a:pt x="17492" y="336832"/>
                  <a:pt x="9810" y="317232"/>
                </a:cubicBezTo>
                <a:lnTo>
                  <a:pt x="25323" y="268841"/>
                </a:lnTo>
                <a:cubicBezTo>
                  <a:pt x="20582" y="241406"/>
                  <a:pt x="55391" y="238509"/>
                  <a:pt x="50278" y="195107"/>
                </a:cubicBezTo>
                <a:cubicBezTo>
                  <a:pt x="49891" y="157638"/>
                  <a:pt x="41873" y="124837"/>
                  <a:pt x="47653" y="93413"/>
                </a:cubicBezTo>
                <a:cubicBezTo>
                  <a:pt x="41389" y="80245"/>
                  <a:pt x="38874" y="67990"/>
                  <a:pt x="48323" y="56668"/>
                </a:cubicBezTo>
                <a:cubicBezTo>
                  <a:pt x="46028" y="30349"/>
                  <a:pt x="37896" y="18658"/>
                  <a:pt x="38423" y="5323"/>
                </a:cubicBezTo>
                <a:lnTo>
                  <a:pt x="39875" y="1"/>
                </a:lnTo>
                <a:close/>
              </a:path>
            </a:pathLst>
          </a:cu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CE2D7163-71D1-1EDE-AFDA-4144AB9C7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6" y="2852381"/>
            <a:ext cx="3161940" cy="264024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15 minutes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4C9384F-7407-3859-678B-73F8826E1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915" y="5676901"/>
            <a:ext cx="3306089" cy="665802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332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F24FC6-A88D-92B3-91DA-1CE2F46574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Hypothesis building, significance testing, p-values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A9092E7-7A9E-A619-CF0E-7A5F4543F2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378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22D8A8-97A2-AFF8-36EA-E37584FCD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a hypothesis?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651AE0-C7FA-7A60-51C2-1ED318C91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test whether an idea is supported or not</a:t>
            </a:r>
          </a:p>
          <a:p>
            <a:endParaRPr lang="en-GB" dirty="0"/>
          </a:p>
          <a:p>
            <a:endParaRPr lang="en-GB" dirty="0"/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A6D0877B-5BD1-4914-AAAB-719ABE29202B}"/>
              </a:ext>
            </a:extLst>
          </p:cNvPr>
          <p:cNvGrpSpPr/>
          <p:nvPr/>
        </p:nvGrpSpPr>
        <p:grpSpPr>
          <a:xfrm>
            <a:off x="1043432" y="3154129"/>
            <a:ext cx="4228416" cy="2566716"/>
            <a:chOff x="1043432" y="3154129"/>
            <a:chExt cx="4228416" cy="2566716"/>
          </a:xfrm>
        </p:grpSpPr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1BD0029D-4328-DB01-AED4-EB7C4739CDC7}"/>
                </a:ext>
              </a:extLst>
            </p:cNvPr>
            <p:cNvGrpSpPr/>
            <p:nvPr/>
          </p:nvGrpSpPr>
          <p:grpSpPr>
            <a:xfrm>
              <a:off x="1772704" y="3851005"/>
              <a:ext cx="2628000" cy="1869840"/>
              <a:chOff x="1772704" y="3851005"/>
              <a:chExt cx="2628000" cy="186984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2">
                <p14:nvContentPartPr>
                  <p14:cNvPr id="5" name="Freihand 4">
                    <a:extLst>
                      <a:ext uri="{FF2B5EF4-FFF2-40B4-BE49-F238E27FC236}">
                        <a16:creationId xmlns:a16="http://schemas.microsoft.com/office/drawing/2014/main" id="{0EA5EF23-BBF1-90A6-5F3E-F5C922FC5691}"/>
                      </a:ext>
                    </a:extLst>
                  </p14:cNvPr>
                  <p14:cNvContentPartPr/>
                  <p14:nvPr/>
                </p14:nvContentPartPr>
                <p14:xfrm>
                  <a:off x="1772704" y="3851005"/>
                  <a:ext cx="1971360" cy="1502280"/>
                </p14:xfrm>
              </p:contentPart>
            </mc:Choice>
            <mc:Fallback>
              <p:pic>
                <p:nvPicPr>
                  <p:cNvPr id="5" name="Freihand 4">
                    <a:extLst>
                      <a:ext uri="{FF2B5EF4-FFF2-40B4-BE49-F238E27FC236}">
                        <a16:creationId xmlns:a16="http://schemas.microsoft.com/office/drawing/2014/main" id="{0EA5EF23-BBF1-90A6-5F3E-F5C922FC5691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763704" y="3842365"/>
                    <a:ext cx="1989000" cy="1519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">
                <p14:nvContentPartPr>
                  <p14:cNvPr id="6" name="Freihand 5">
                    <a:extLst>
                      <a:ext uri="{FF2B5EF4-FFF2-40B4-BE49-F238E27FC236}">
                        <a16:creationId xmlns:a16="http://schemas.microsoft.com/office/drawing/2014/main" id="{1DD286BB-EBE3-829F-75AB-3FD27515D7AC}"/>
                      </a:ext>
                    </a:extLst>
                  </p14:cNvPr>
                  <p14:cNvContentPartPr/>
                  <p14:nvPr/>
                </p14:nvContentPartPr>
                <p14:xfrm>
                  <a:off x="2746504" y="3975205"/>
                  <a:ext cx="1654200" cy="1745640"/>
                </p14:xfrm>
              </p:contentPart>
            </mc:Choice>
            <mc:Fallback>
              <p:pic>
                <p:nvPicPr>
                  <p:cNvPr id="6" name="Freihand 5">
                    <a:extLst>
                      <a:ext uri="{FF2B5EF4-FFF2-40B4-BE49-F238E27FC236}">
                        <a16:creationId xmlns:a16="http://schemas.microsoft.com/office/drawing/2014/main" id="{1DD286BB-EBE3-829F-75AB-3FD27515D7AC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2737504" y="3966205"/>
                    <a:ext cx="1671840" cy="176328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9" name="Freihand 8">
                  <a:extLst>
                    <a:ext uri="{FF2B5EF4-FFF2-40B4-BE49-F238E27FC236}">
                      <a16:creationId xmlns:a16="http://schemas.microsoft.com/office/drawing/2014/main" id="{333E5E24-5D27-D91C-24A0-6080FDA195EA}"/>
                    </a:ext>
                  </a:extLst>
                </p14:cNvPr>
                <p14:cNvContentPartPr/>
                <p14:nvPr/>
              </p14:nvContentPartPr>
              <p14:xfrm>
                <a:off x="1908784" y="4047205"/>
                <a:ext cx="2477880" cy="1471680"/>
              </p14:xfrm>
            </p:contentPart>
          </mc:Choice>
          <mc:Fallback>
            <p:pic>
              <p:nvPicPr>
                <p:cNvPr id="9" name="Freihand 8">
                  <a:extLst>
                    <a:ext uri="{FF2B5EF4-FFF2-40B4-BE49-F238E27FC236}">
                      <a16:creationId xmlns:a16="http://schemas.microsoft.com/office/drawing/2014/main" id="{333E5E24-5D27-D91C-24A0-6080FDA195E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55144" y="3939565"/>
                  <a:ext cx="2585520" cy="1687320"/>
                </a:xfrm>
                <a:prstGeom prst="rect">
                  <a:avLst/>
                </a:prstGeom>
              </p:spPr>
            </p:pic>
          </mc:Fallback>
        </mc:AlternateContent>
        <p:pic>
          <p:nvPicPr>
            <p:cNvPr id="11" name="Grafik 10" descr="Tanne mit einfarbiger Füllung">
              <a:extLst>
                <a:ext uri="{FF2B5EF4-FFF2-40B4-BE49-F238E27FC236}">
                  <a16:creationId xmlns:a16="http://schemas.microsoft.com/office/drawing/2014/main" id="{69CD688A-BB18-7F1E-75C6-9D188856C2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746504" y="3154129"/>
              <a:ext cx="914400" cy="914400"/>
            </a:xfrm>
            <a:prstGeom prst="rect">
              <a:avLst/>
            </a:prstGeom>
          </p:spPr>
        </p:pic>
        <p:pic>
          <p:nvPicPr>
            <p:cNvPr id="13" name="Grafik 12" descr="Laubbaum mit einfarbiger Füllung">
              <a:extLst>
                <a:ext uri="{FF2B5EF4-FFF2-40B4-BE49-F238E27FC236}">
                  <a16:creationId xmlns:a16="http://schemas.microsoft.com/office/drawing/2014/main" id="{702A925E-5D6B-DE63-8948-07708F9582E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357448" y="3491905"/>
              <a:ext cx="914400" cy="914400"/>
            </a:xfrm>
            <a:prstGeom prst="rect">
              <a:avLst/>
            </a:prstGeom>
          </p:spPr>
        </p:pic>
        <p:pic>
          <p:nvPicPr>
            <p:cNvPr id="15" name="Grafik 14" descr="Laubbaum mit einfarbiger Füllung">
              <a:extLst>
                <a:ext uri="{FF2B5EF4-FFF2-40B4-BE49-F238E27FC236}">
                  <a16:creationId xmlns:a16="http://schemas.microsoft.com/office/drawing/2014/main" id="{69451A38-CB9E-231B-C146-1AA7AB562C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049152" y="4205466"/>
              <a:ext cx="914400" cy="914400"/>
            </a:xfrm>
            <a:prstGeom prst="rect">
              <a:avLst/>
            </a:prstGeom>
          </p:spPr>
        </p:pic>
        <p:pic>
          <p:nvPicPr>
            <p:cNvPr id="16" name="Grafik 15" descr="Laubbaum mit einfarbiger Füllung">
              <a:extLst>
                <a:ext uri="{FF2B5EF4-FFF2-40B4-BE49-F238E27FC236}">
                  <a16:creationId xmlns:a16="http://schemas.microsoft.com/office/drawing/2014/main" id="{90DFFFB8-4B3F-69ED-774A-4ABA5BBA44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232889" y="4690084"/>
              <a:ext cx="914400" cy="914400"/>
            </a:xfrm>
            <a:prstGeom prst="rect">
              <a:avLst/>
            </a:prstGeom>
          </p:spPr>
        </p:pic>
        <p:pic>
          <p:nvPicPr>
            <p:cNvPr id="17" name="Grafik 16" descr="Tanne mit einfarbiger Füllung">
              <a:extLst>
                <a:ext uri="{FF2B5EF4-FFF2-40B4-BE49-F238E27FC236}">
                  <a16:creationId xmlns:a16="http://schemas.microsoft.com/office/drawing/2014/main" id="{B1B8BC34-4E9C-DBA8-B563-F93B235883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313208" y="3642575"/>
              <a:ext cx="914400" cy="914400"/>
            </a:xfrm>
            <a:prstGeom prst="rect">
              <a:avLst/>
            </a:prstGeom>
          </p:spPr>
        </p:pic>
        <p:pic>
          <p:nvPicPr>
            <p:cNvPr id="18" name="Grafik 17" descr="Tanne mit einfarbiger Füllung">
              <a:extLst>
                <a:ext uri="{FF2B5EF4-FFF2-40B4-BE49-F238E27FC236}">
                  <a16:creationId xmlns:a16="http://schemas.microsoft.com/office/drawing/2014/main" id="{E82EEC23-3529-501F-5F41-87659435B9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43432" y="4140529"/>
              <a:ext cx="914400" cy="914400"/>
            </a:xfrm>
            <a:prstGeom prst="rect">
              <a:avLst/>
            </a:prstGeom>
          </p:spPr>
        </p:pic>
        <p:pic>
          <p:nvPicPr>
            <p:cNvPr id="19" name="Grafik 18" descr="Tanne mit einfarbiger Füllung">
              <a:extLst>
                <a:ext uri="{FF2B5EF4-FFF2-40B4-BE49-F238E27FC236}">
                  <a16:creationId xmlns:a16="http://schemas.microsoft.com/office/drawing/2014/main" id="{DC5A49A4-E98D-E06F-9C31-26D57E5883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703464" y="3611329"/>
              <a:ext cx="914400" cy="914400"/>
            </a:xfrm>
            <a:prstGeom prst="rect">
              <a:avLst/>
            </a:prstGeom>
          </p:spPr>
        </p:pic>
      </p:grpSp>
      <p:sp>
        <p:nvSpPr>
          <p:cNvPr id="20" name="Textfeld 19">
            <a:extLst>
              <a:ext uri="{FF2B5EF4-FFF2-40B4-BE49-F238E27FC236}">
                <a16:creationId xmlns:a16="http://schemas.microsoft.com/office/drawing/2014/main" id="{1AEC3BE0-529F-3D8F-A273-ECB8675EBA2F}"/>
              </a:ext>
            </a:extLst>
          </p:cNvPr>
          <p:cNvSpPr txBox="1"/>
          <p:nvPr/>
        </p:nvSpPr>
        <p:spPr>
          <a:xfrm>
            <a:off x="2517245" y="2621025"/>
            <a:ext cx="3260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Observation</a:t>
            </a:r>
          </a:p>
        </p:txBody>
      </p:sp>
      <p:pic>
        <p:nvPicPr>
          <p:cNvPr id="22" name="Grafik 21" descr="Gedanken mit einfarbiger Füllung">
            <a:extLst>
              <a:ext uri="{FF2B5EF4-FFF2-40B4-BE49-F238E27FC236}">
                <a16:creationId xmlns:a16="http://schemas.microsoft.com/office/drawing/2014/main" id="{331AE519-39BA-48D1-BD22-41BCC514A4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12344" y="3290243"/>
            <a:ext cx="1979071" cy="1979071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5C559B33-AB9B-800B-62E4-8808ECC1228E}"/>
              </a:ext>
            </a:extLst>
          </p:cNvPr>
          <p:cNvSpPr txBox="1"/>
          <p:nvPr/>
        </p:nvSpPr>
        <p:spPr>
          <a:xfrm>
            <a:off x="5889811" y="2621025"/>
            <a:ext cx="2143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Question + Theory</a:t>
            </a:r>
          </a:p>
        </p:txBody>
      </p:sp>
      <p:pic>
        <p:nvPicPr>
          <p:cNvPr id="25" name="Grafik 24" descr="Abzeichen Tick1 mit einfarbiger Füllung">
            <a:extLst>
              <a:ext uri="{FF2B5EF4-FFF2-40B4-BE49-F238E27FC236}">
                <a16:creationId xmlns:a16="http://schemas.microsoft.com/office/drawing/2014/main" id="{5F22D657-C8F7-F0EB-7464-94714382D7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85655" y="3933625"/>
            <a:ext cx="914400" cy="914400"/>
          </a:xfrm>
          <a:prstGeom prst="rect">
            <a:avLst/>
          </a:prstGeom>
        </p:spPr>
      </p:pic>
      <p:pic>
        <p:nvPicPr>
          <p:cNvPr id="27" name="Grafik 26" descr="Marke Kreuz mit einfarbiger Füllung">
            <a:extLst>
              <a:ext uri="{FF2B5EF4-FFF2-40B4-BE49-F238E27FC236}">
                <a16:creationId xmlns:a16="http://schemas.microsoft.com/office/drawing/2014/main" id="{9AFC1E5A-A554-621F-EFF7-48EDFE5477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376536" y="3933625"/>
            <a:ext cx="914400" cy="914400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F6FA247E-A247-E379-0183-A2ECE336B193}"/>
              </a:ext>
            </a:extLst>
          </p:cNvPr>
          <p:cNvSpPr txBox="1"/>
          <p:nvPr/>
        </p:nvSpPr>
        <p:spPr>
          <a:xfrm>
            <a:off x="9510000" y="2670069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Hypothesis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FD360ABA-65FC-95A7-9E69-9668DF799327}"/>
              </a:ext>
            </a:extLst>
          </p:cNvPr>
          <p:cNvCxnSpPr/>
          <p:nvPr/>
        </p:nvCxnSpPr>
        <p:spPr>
          <a:xfrm>
            <a:off x="5271848" y="4406305"/>
            <a:ext cx="824152" cy="0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BAF0F93C-275A-AA1C-8BEC-7D474C78E6FC}"/>
              </a:ext>
            </a:extLst>
          </p:cNvPr>
          <p:cNvCxnSpPr/>
          <p:nvPr/>
        </p:nvCxnSpPr>
        <p:spPr>
          <a:xfrm>
            <a:off x="8033345" y="4413974"/>
            <a:ext cx="824152" cy="0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feld 32">
            <a:extLst>
              <a:ext uri="{FF2B5EF4-FFF2-40B4-BE49-F238E27FC236}">
                <a16:creationId xmlns:a16="http://schemas.microsoft.com/office/drawing/2014/main" id="{7E65AFF6-3713-D9F5-B211-F48AF831B8CB}"/>
              </a:ext>
            </a:extLst>
          </p:cNvPr>
          <p:cNvSpPr txBox="1"/>
          <p:nvPr/>
        </p:nvSpPr>
        <p:spPr>
          <a:xfrm>
            <a:off x="4918480" y="5536179"/>
            <a:ext cx="39390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Why are the trees distributed like this?</a:t>
            </a:r>
          </a:p>
          <a:p>
            <a:r>
              <a:rPr lang="en-GB" dirty="0"/>
              <a:t>Are all acorns on the right and all pines on the left?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EB0853C3-CC1B-24F4-3DD3-0FC7AD1E0648}"/>
              </a:ext>
            </a:extLst>
          </p:cNvPr>
          <p:cNvSpPr txBox="1"/>
          <p:nvPr/>
        </p:nvSpPr>
        <p:spPr>
          <a:xfrm>
            <a:off x="8972938" y="5536179"/>
            <a:ext cx="3219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All acorns are on the right side of the river.</a:t>
            </a:r>
          </a:p>
        </p:txBody>
      </p:sp>
    </p:spTree>
    <p:extLst>
      <p:ext uri="{BB962C8B-B14F-4D97-AF65-F5344CB8AC3E}">
        <p14:creationId xmlns:p14="http://schemas.microsoft.com/office/powerpoint/2010/main" val="501334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0" grpId="0"/>
      <p:bldP spid="23" grpId="0"/>
      <p:bldP spid="28" grpId="0"/>
      <p:bldP spid="33" grpId="0"/>
      <p:bldP spid="3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A0206C-88BA-E2A0-E2D2-DA9A350DF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questions to hypotheses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A456A3-B3A9-A75A-7305-432ABBA84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Are all orcas black and white?</a:t>
            </a:r>
          </a:p>
          <a:p>
            <a:pPr lvl="1"/>
            <a:r>
              <a:rPr lang="en-GB" dirty="0"/>
              <a:t>All Orcas are black and white.  </a:t>
            </a:r>
          </a:p>
          <a:p>
            <a:r>
              <a:rPr lang="en-GB" dirty="0"/>
              <a:t>Does the stock-recruitment-relationship of cod follow the </a:t>
            </a:r>
            <a:r>
              <a:rPr lang="en-GB" dirty="0" err="1"/>
              <a:t>Beverton</a:t>
            </a:r>
            <a:r>
              <a:rPr lang="en-GB" dirty="0"/>
              <a:t>-Holt model?</a:t>
            </a:r>
          </a:p>
          <a:p>
            <a:pPr lvl="1"/>
            <a:r>
              <a:rPr lang="en-GB" dirty="0"/>
              <a:t>The SRR of cod follows the </a:t>
            </a:r>
            <a:r>
              <a:rPr lang="en-GB" dirty="0" err="1"/>
              <a:t>Beverton</a:t>
            </a:r>
            <a:r>
              <a:rPr lang="en-GB" dirty="0"/>
              <a:t>-Holt model.</a:t>
            </a:r>
          </a:p>
          <a:p>
            <a:r>
              <a:rPr lang="en-GB" dirty="0"/>
              <a:t>Are tunas bigger than dolphins?</a:t>
            </a:r>
          </a:p>
          <a:p>
            <a:pPr lvl="1"/>
            <a:r>
              <a:rPr lang="en-GB" dirty="0"/>
              <a:t>Tunas are bigger than dolphins.</a:t>
            </a:r>
          </a:p>
          <a:p>
            <a:pPr lvl="1"/>
            <a:endParaRPr lang="en-GB" dirty="0"/>
          </a:p>
          <a:p>
            <a:r>
              <a:rPr lang="en-GB" dirty="0"/>
              <a:t>How do we verify this? Can we verify this?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759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08FA35-0C27-5BCC-E500-C7BC8F78C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null hypothesis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48416-18A3-4589-3751-B84A29DE6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8440"/>
          </a:xfrm>
        </p:spPr>
        <p:txBody>
          <a:bodyPr>
            <a:normAutofit/>
          </a:bodyPr>
          <a:lstStyle/>
          <a:p>
            <a:r>
              <a:rPr lang="en-GB" dirty="0"/>
              <a:t>Every working hypothesis (H</a:t>
            </a:r>
            <a:r>
              <a:rPr lang="en-GB" baseline="-25000" dirty="0"/>
              <a:t>1</a:t>
            </a:r>
            <a:r>
              <a:rPr lang="en-GB" dirty="0"/>
              <a:t>) gets a complementary null hypothesis (H</a:t>
            </a:r>
            <a:r>
              <a:rPr lang="en-GB" baseline="-25000" dirty="0"/>
              <a:t>0</a:t>
            </a:r>
            <a:r>
              <a:rPr lang="en-GB" dirty="0"/>
              <a:t>)</a:t>
            </a:r>
          </a:p>
          <a:p>
            <a:r>
              <a:rPr lang="en-GB" dirty="0"/>
              <a:t>H</a:t>
            </a:r>
            <a:r>
              <a:rPr lang="en-GB" baseline="-25000" dirty="0"/>
              <a:t>0</a:t>
            </a:r>
            <a:r>
              <a:rPr lang="en-GB" dirty="0"/>
              <a:t> is the testable negation of H</a:t>
            </a:r>
            <a:r>
              <a:rPr lang="en-GB" baseline="-25000" dirty="0"/>
              <a:t>1</a:t>
            </a:r>
          </a:p>
          <a:p>
            <a:r>
              <a:rPr lang="en-GB" dirty="0"/>
              <a:t>H</a:t>
            </a:r>
            <a:r>
              <a:rPr lang="en-GB" baseline="-25000" dirty="0"/>
              <a:t>1</a:t>
            </a:r>
            <a:r>
              <a:rPr lang="en-GB" dirty="0"/>
              <a:t> = All Orcas are black and white.  </a:t>
            </a:r>
          </a:p>
          <a:p>
            <a:pPr marL="0" indent="0">
              <a:buNone/>
            </a:pPr>
            <a:r>
              <a:rPr lang="en-GB" dirty="0"/>
              <a:t>   H</a:t>
            </a:r>
            <a:r>
              <a:rPr lang="en-GB" baseline="-25000" dirty="0"/>
              <a:t>0</a:t>
            </a:r>
            <a:r>
              <a:rPr lang="en-GB" dirty="0"/>
              <a:t> = There are non black-white Orcas.</a:t>
            </a:r>
          </a:p>
          <a:p>
            <a:r>
              <a:rPr lang="en-GB" dirty="0"/>
              <a:t>H</a:t>
            </a:r>
            <a:r>
              <a:rPr lang="en-GB" baseline="-25000" dirty="0"/>
              <a:t>1</a:t>
            </a:r>
            <a:r>
              <a:rPr lang="en-GB" dirty="0"/>
              <a:t> = The SRR of cod follows the </a:t>
            </a:r>
            <a:r>
              <a:rPr lang="en-GB" dirty="0" err="1"/>
              <a:t>Beverton</a:t>
            </a:r>
            <a:r>
              <a:rPr lang="en-GB" dirty="0"/>
              <a:t>-Holt model.</a:t>
            </a:r>
          </a:p>
          <a:p>
            <a:pPr marL="0" indent="0">
              <a:buNone/>
            </a:pPr>
            <a:r>
              <a:rPr lang="en-GB" dirty="0"/>
              <a:t>   H</a:t>
            </a:r>
            <a:r>
              <a:rPr lang="en-GB" baseline="-25000" dirty="0"/>
              <a:t>0</a:t>
            </a:r>
            <a:r>
              <a:rPr lang="en-GB" dirty="0"/>
              <a:t> = ?</a:t>
            </a:r>
          </a:p>
          <a:p>
            <a:r>
              <a:rPr lang="en-GB" dirty="0"/>
              <a:t>H</a:t>
            </a:r>
            <a:r>
              <a:rPr lang="en-GB" baseline="-25000" dirty="0"/>
              <a:t>1</a:t>
            </a:r>
            <a:r>
              <a:rPr lang="en-GB" dirty="0"/>
              <a:t> = Tunas are bigger than dolphins.</a:t>
            </a:r>
          </a:p>
          <a:p>
            <a:pPr marL="0" indent="0">
              <a:buNone/>
            </a:pPr>
            <a:r>
              <a:rPr lang="en-GB" dirty="0"/>
              <a:t>   H</a:t>
            </a:r>
            <a:r>
              <a:rPr lang="en-GB" baseline="-25000" dirty="0"/>
              <a:t>0</a:t>
            </a:r>
            <a:r>
              <a:rPr lang="en-GB" dirty="0"/>
              <a:t> = ?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6336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C831EC-18F4-4CAE-9462-D7B84F094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And then?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CBD21F-D31C-92C8-4E2A-DBB63E144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Test the null hypothesis with statistics</a:t>
            </a:r>
          </a:p>
          <a:p>
            <a:r>
              <a:rPr lang="en-GB" dirty="0"/>
              <a:t>If the null hypothesis can be rejected the working hypothesis is supported.</a:t>
            </a:r>
          </a:p>
          <a:p>
            <a:r>
              <a:rPr lang="en-GB" dirty="0"/>
              <a:t>Observe 100 Orcas, if all are black and white we have to reject H</a:t>
            </a:r>
            <a:r>
              <a:rPr lang="en-GB" baseline="-25000" dirty="0"/>
              <a:t>0</a:t>
            </a:r>
            <a:r>
              <a:rPr lang="en-GB" dirty="0"/>
              <a:t>, thus H</a:t>
            </a:r>
            <a:r>
              <a:rPr lang="en-GB" baseline="-25000" dirty="0"/>
              <a:t>1</a:t>
            </a:r>
            <a:r>
              <a:rPr lang="en-GB" dirty="0"/>
              <a:t> is supported.</a:t>
            </a:r>
          </a:p>
        </p:txBody>
      </p:sp>
    </p:spTree>
    <p:extLst>
      <p:ext uri="{BB962C8B-B14F-4D97-AF65-F5344CB8AC3E}">
        <p14:creationId xmlns:p14="http://schemas.microsoft.com/office/powerpoint/2010/main" val="38106288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E7AC7F-BAC9-BD0D-B9DD-0999F7930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P-value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DAF98B-7B82-1F5A-CF45-CB8F4BC5A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5180"/>
          </a:xfrm>
        </p:spPr>
        <p:txBody>
          <a:bodyPr>
            <a:normAutofit/>
          </a:bodyPr>
          <a:lstStyle/>
          <a:p>
            <a:r>
              <a:rPr lang="en-GB" dirty="0"/>
              <a:t>Significance level</a:t>
            </a:r>
          </a:p>
          <a:p>
            <a:r>
              <a:rPr lang="en-GB" dirty="0"/>
              <a:t>Rejection of H</a:t>
            </a:r>
            <a:r>
              <a:rPr lang="en-GB" baseline="-25000" dirty="0"/>
              <a:t>1 </a:t>
            </a:r>
            <a:r>
              <a:rPr lang="en-GB" dirty="0"/>
              <a:t>if p &gt; 0.05</a:t>
            </a:r>
          </a:p>
          <a:p>
            <a:r>
              <a:rPr lang="en-GB" dirty="0"/>
              <a:t>Support for H</a:t>
            </a:r>
            <a:r>
              <a:rPr lang="en-GB" baseline="-25000" dirty="0"/>
              <a:t>1 </a:t>
            </a:r>
            <a:r>
              <a:rPr lang="en-GB" dirty="0"/>
              <a:t>if p &lt; 0.05</a:t>
            </a:r>
          </a:p>
          <a:p>
            <a:r>
              <a:rPr lang="en-GB" dirty="0"/>
              <a:t>Be careful with the interpretation</a:t>
            </a:r>
          </a:p>
          <a:p>
            <a:r>
              <a:rPr lang="en-GB" dirty="0"/>
              <a:t>If we cannot find a significant effect given our data, it does not mean that there is no effect at all</a:t>
            </a:r>
          </a:p>
          <a:p>
            <a:r>
              <a:rPr lang="en-GB" dirty="0"/>
              <a:t>Rather it means we do not have enough support to reject H</a:t>
            </a:r>
            <a:r>
              <a:rPr lang="en-GB" baseline="-25000" dirty="0"/>
              <a:t>0</a:t>
            </a:r>
          </a:p>
          <a:p>
            <a:r>
              <a:rPr lang="en-GB" dirty="0"/>
              <a:t>The value of 0.05 is an arbitrary convention</a:t>
            </a:r>
          </a:p>
          <a:p>
            <a:r>
              <a:rPr lang="en-GB" dirty="0"/>
              <a:t>It does not measure the strength of an effect (!)</a:t>
            </a:r>
          </a:p>
        </p:txBody>
      </p:sp>
    </p:spTree>
    <p:extLst>
      <p:ext uri="{BB962C8B-B14F-4D97-AF65-F5344CB8AC3E}">
        <p14:creationId xmlns:p14="http://schemas.microsoft.com/office/powerpoint/2010/main" val="1529857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912196-CFB4-B8CB-022C-79634DC62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errors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50E711-2404-A92F-4E8D-73E462F15C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Type 1 error = falsely reject the null hypothesis (false positive)</a:t>
            </a:r>
          </a:p>
          <a:p>
            <a:r>
              <a:rPr lang="en-GB" dirty="0"/>
              <a:t>Type 2 error = falsely accept the null hypothesis (false negative)</a:t>
            </a:r>
          </a:p>
          <a:p>
            <a:r>
              <a:rPr lang="en-GB" dirty="0"/>
              <a:t>The p-value determines the probability for making a type I error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29C401C-5510-B5FF-1E2F-AAC83C966F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173" t="51799" r="1" b="1"/>
          <a:stretch>
            <a:fillRect/>
          </a:stretch>
        </p:blipFill>
        <p:spPr>
          <a:xfrm>
            <a:off x="9336390" y="2813707"/>
            <a:ext cx="2855610" cy="188847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CE97765-A348-A14F-F233-8CFB6ABC7CD9}"/>
              </a:ext>
            </a:extLst>
          </p:cNvPr>
          <p:cNvSpPr txBox="1"/>
          <p:nvPr/>
        </p:nvSpPr>
        <p:spPr>
          <a:xfrm>
            <a:off x="7024594" y="2336667"/>
            <a:ext cx="2214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</a:t>
            </a:r>
            <a:r>
              <a:rPr lang="en-GB" baseline="-25000" dirty="0"/>
              <a:t>0</a:t>
            </a:r>
            <a:r>
              <a:rPr lang="en-GB" dirty="0"/>
              <a:t> is true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DDD7D58-998D-2E94-7DB3-078C8F0049F2}"/>
              </a:ext>
            </a:extLst>
          </p:cNvPr>
          <p:cNvSpPr txBox="1"/>
          <p:nvPr/>
        </p:nvSpPr>
        <p:spPr>
          <a:xfrm>
            <a:off x="4718898" y="3571895"/>
            <a:ext cx="2214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</a:t>
            </a:r>
            <a:r>
              <a:rPr lang="en-GB" baseline="-25000" dirty="0"/>
              <a:t>0</a:t>
            </a:r>
            <a:r>
              <a:rPr lang="en-GB" dirty="0"/>
              <a:t> is accepted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2ED2E1E-6ED6-767A-2CCC-26BA0DF4A221}"/>
              </a:ext>
            </a:extLst>
          </p:cNvPr>
          <p:cNvSpPr txBox="1"/>
          <p:nvPr/>
        </p:nvSpPr>
        <p:spPr>
          <a:xfrm>
            <a:off x="4718898" y="5635379"/>
            <a:ext cx="2214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</a:t>
            </a:r>
            <a:r>
              <a:rPr lang="en-GB" baseline="-25000" dirty="0"/>
              <a:t>1</a:t>
            </a:r>
            <a:r>
              <a:rPr lang="en-GB" dirty="0"/>
              <a:t> is accepted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499459B-875F-D0D5-FC99-6881B9316F82}"/>
              </a:ext>
            </a:extLst>
          </p:cNvPr>
          <p:cNvSpPr txBox="1"/>
          <p:nvPr/>
        </p:nvSpPr>
        <p:spPr>
          <a:xfrm>
            <a:off x="9977437" y="2336667"/>
            <a:ext cx="2214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</a:t>
            </a:r>
            <a:r>
              <a:rPr lang="en-GB" baseline="-25000" dirty="0"/>
              <a:t>1 </a:t>
            </a:r>
            <a:r>
              <a:rPr lang="en-GB" dirty="0"/>
              <a:t>is true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1FF0CDF-6DC5-8ABD-977D-190B13E5EA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651" r="51174"/>
          <a:stretch>
            <a:fillRect/>
          </a:stretch>
        </p:blipFill>
        <p:spPr>
          <a:xfrm>
            <a:off x="6383547" y="4877041"/>
            <a:ext cx="2855610" cy="189430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FDE8CC7A-E420-4B44-E471-C642104E4D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173" t="1" b="51799"/>
          <a:stretch>
            <a:fillRect/>
          </a:stretch>
        </p:blipFill>
        <p:spPr>
          <a:xfrm>
            <a:off x="6383547" y="2813707"/>
            <a:ext cx="2855610" cy="188847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23FEF81C-380F-8C0A-4B9D-451B040306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1" r="51173" b="51799"/>
          <a:stretch>
            <a:fillRect/>
          </a:stretch>
        </p:blipFill>
        <p:spPr>
          <a:xfrm>
            <a:off x="9336390" y="4882876"/>
            <a:ext cx="2855610" cy="188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86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B10E03-DBEC-37B0-AE7B-070C67D42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Tests for normality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A2A6BF-A672-3C90-3243-3A9A040E8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Many statistical methods rely on normally distributed data</a:t>
            </a:r>
          </a:p>
          <a:p>
            <a:r>
              <a:rPr lang="en-GB" dirty="0"/>
              <a:t>Shapiro-Wilks Test, Anderson-Darling, </a:t>
            </a:r>
            <a:r>
              <a:rPr lang="en-GB" dirty="0" err="1"/>
              <a:t>Lillefors</a:t>
            </a:r>
            <a:endParaRPr lang="en-GB" dirty="0"/>
          </a:p>
          <a:p>
            <a:r>
              <a:rPr lang="en-GB" dirty="0"/>
              <a:t>H</a:t>
            </a:r>
            <a:r>
              <a:rPr lang="en-GB" baseline="-25000" dirty="0"/>
              <a:t>1</a:t>
            </a:r>
            <a:r>
              <a:rPr lang="en-GB" dirty="0"/>
              <a:t> = The data is different from a normal distribution</a:t>
            </a:r>
          </a:p>
          <a:p>
            <a:r>
              <a:rPr lang="en-GB" dirty="0"/>
              <a:t>H</a:t>
            </a:r>
            <a:r>
              <a:rPr lang="en-GB" baseline="-25000" dirty="0"/>
              <a:t>0</a:t>
            </a:r>
            <a:r>
              <a:rPr lang="en-GB" dirty="0"/>
              <a:t> = the data is not different from a normal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2642995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34BC7C4-1426-ABB6-CE2F-157452DB0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Github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53D12C8-CD0E-F348-6F92-628CABD16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683B831-551C-EE3B-A588-A96BA18ED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468" y="965591"/>
            <a:ext cx="5314462" cy="531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8243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BCDEDC-8FB7-09E1-4E42-AE8BE23B4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Github</a:t>
            </a:r>
            <a:r>
              <a:rPr lang="en-GB" dirty="0"/>
              <a:t> – What and why?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98D994-60C4-180A-46F8-8BE871F8F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</p:txBody>
      </p:sp>
      <p:pic>
        <p:nvPicPr>
          <p:cNvPr id="4" name="Onlinemedien 3" descr="How To Use GitHub For Beginners">
            <a:hlinkClick r:id="" action="ppaction://media"/>
            <a:extLst>
              <a:ext uri="{FF2B5EF4-FFF2-40B4-BE49-F238E27FC236}">
                <a16:creationId xmlns:a16="http://schemas.microsoft.com/office/drawing/2014/main" id="{06280E8C-EE2A-8E4E-E0D6-E507EA7ABBD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38200" y="1474128"/>
            <a:ext cx="8882739" cy="5018747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734D9B4D-49AB-8AA4-FFFE-F528665B032E}"/>
              </a:ext>
            </a:extLst>
          </p:cNvPr>
          <p:cNvSpPr txBox="1"/>
          <p:nvPr/>
        </p:nvSpPr>
        <p:spPr>
          <a:xfrm>
            <a:off x="3046828" y="6466165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https://www.youtube.com/watch?v=a9u2yZvsqHA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408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7FFFC6-BE8D-2488-935C-FC04A2E3F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Github</a:t>
            </a:r>
            <a:r>
              <a:rPr lang="en-GB" dirty="0"/>
              <a:t> – in Science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A752B7-1659-0517-B454-CF08927D9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Share code and data associated with articles</a:t>
            </a:r>
          </a:p>
          <a:p>
            <a:pPr lvl="1"/>
            <a:r>
              <a:rPr lang="en-GB" dirty="0"/>
              <a:t>Reproducibility</a:t>
            </a:r>
          </a:p>
          <a:p>
            <a:pPr lvl="1"/>
            <a:r>
              <a:rPr lang="en-GB" dirty="0"/>
              <a:t>Transparency</a:t>
            </a:r>
          </a:p>
          <a:p>
            <a:pPr lvl="1"/>
            <a:r>
              <a:rPr lang="en-GB" dirty="0"/>
              <a:t>Knowledge sharing</a:t>
            </a:r>
          </a:p>
          <a:p>
            <a:r>
              <a:rPr lang="en-GB" dirty="0"/>
              <a:t>Host R packages, as a second platform next to CRAN</a:t>
            </a:r>
          </a:p>
          <a:p>
            <a:r>
              <a:rPr lang="en-GB" dirty="0"/>
              <a:t>And more…</a:t>
            </a:r>
          </a:p>
        </p:txBody>
      </p:sp>
    </p:spTree>
    <p:extLst>
      <p:ext uri="{BB962C8B-B14F-4D97-AF65-F5344CB8AC3E}">
        <p14:creationId xmlns:p14="http://schemas.microsoft.com/office/powerpoint/2010/main" val="3911991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F7C2FF-1607-FB85-289B-F49FF76FF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Connect </a:t>
            </a:r>
            <a:r>
              <a:rPr lang="en-GB" dirty="0" err="1"/>
              <a:t>Github</a:t>
            </a:r>
            <a:r>
              <a:rPr lang="en-GB" dirty="0"/>
              <a:t> and your local R Studio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FE5A96-88BC-555F-179A-AB03AA29C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Directly from R Studio you can control repos</a:t>
            </a:r>
          </a:p>
          <a:p>
            <a:pPr lvl="1"/>
            <a:r>
              <a:rPr lang="en-GB" dirty="0"/>
              <a:t>Writing commit messages</a:t>
            </a:r>
          </a:p>
          <a:p>
            <a:pPr lvl="1"/>
            <a:r>
              <a:rPr lang="en-GB" dirty="0"/>
              <a:t>Push &amp; Pull</a:t>
            </a:r>
          </a:p>
          <a:p>
            <a:pPr lvl="1"/>
            <a:r>
              <a:rPr lang="en-GB" dirty="0"/>
              <a:t>Stashing 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55233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3C45D4-29AB-6492-F71A-96D1E6843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466874-CEDD-D934-7EAD-7A609B0BA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652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Get Git and </a:t>
            </a:r>
            <a:r>
              <a:rPr lang="en-GB" dirty="0" err="1"/>
              <a:t>Github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Connect </a:t>
            </a:r>
            <a:r>
              <a:rPr lang="en-GB" dirty="0" err="1"/>
              <a:t>Github</a:t>
            </a:r>
            <a:r>
              <a:rPr lang="en-GB" dirty="0"/>
              <a:t> to your local R Studio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Connect to the course repository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Open the folder with today's script and find in there further exercises.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Play the game “Oh my git”</a:t>
            </a:r>
          </a:p>
          <a:p>
            <a:pPr marL="514350" lvl="0" indent="-514350">
              <a:buFont typeface="+mj-lt"/>
              <a:buAutoNum type="arabicPeriod"/>
            </a:pPr>
            <a:endParaRPr lang="en-GB" dirty="0"/>
          </a:p>
          <a:p>
            <a:pPr marL="0" lvl="0" indent="0">
              <a:buNone/>
            </a:pPr>
            <a:r>
              <a:rPr lang="en-GB" dirty="0"/>
              <a:t>Follow the guidelines on: </a:t>
            </a:r>
            <a:r>
              <a:rPr lang="en-GB" dirty="0">
                <a:hlinkClick r:id="rId2"/>
              </a:rPr>
              <a:t>https://happygitwithr.com</a:t>
            </a:r>
            <a:endParaRPr lang="en-GB" dirty="0"/>
          </a:p>
          <a:p>
            <a:pPr marL="0" lvl="0" indent="0">
              <a:buNone/>
            </a:pPr>
            <a:r>
              <a:rPr lang="de-DE" dirty="0"/>
              <a:t>Find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task</a:t>
            </a:r>
            <a:r>
              <a:rPr lang="de-DE" dirty="0"/>
              <a:t> </a:t>
            </a:r>
            <a:r>
              <a:rPr lang="de-DE" dirty="0" err="1"/>
              <a:t>list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links on Teams :)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4680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1279</Words>
  <Application>Microsoft Macintosh PowerPoint</Application>
  <PresentationFormat>Breitbild</PresentationFormat>
  <Paragraphs>216</Paragraphs>
  <Slides>31</Slides>
  <Notes>3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31</vt:i4>
      </vt:variant>
    </vt:vector>
  </HeadingPairs>
  <TitlesOfParts>
    <vt:vector size="37" baseType="lpstr">
      <vt:lpstr>Aptos</vt:lpstr>
      <vt:lpstr>Aptos Display</vt:lpstr>
      <vt:lpstr>Arial</vt:lpstr>
      <vt:lpstr>Cambria Math</vt:lpstr>
      <vt:lpstr>Wingdings</vt:lpstr>
      <vt:lpstr>Office</vt:lpstr>
      <vt:lpstr>Data Analysis and Modelling</vt:lpstr>
      <vt:lpstr>Plan for this semester</vt:lpstr>
      <vt:lpstr>PowerPoint-Präsentation</vt:lpstr>
      <vt:lpstr>PowerPoint-Präsentation</vt:lpstr>
      <vt:lpstr>Recap descriptive stats</vt:lpstr>
      <vt:lpstr>Location</vt:lpstr>
      <vt:lpstr>Scale</vt:lpstr>
      <vt:lpstr>Scale</vt:lpstr>
      <vt:lpstr>Shape</vt:lpstr>
      <vt:lpstr>Distributions</vt:lpstr>
      <vt:lpstr>Distributions</vt:lpstr>
      <vt:lpstr>Normal distribution</vt:lpstr>
      <vt:lpstr>Poisson</vt:lpstr>
      <vt:lpstr>Binomial (red) / negative binomial (blue)</vt:lpstr>
      <vt:lpstr>Uniform</vt:lpstr>
      <vt:lpstr>More useful distributions</vt:lpstr>
      <vt:lpstr>Fit a distribution</vt:lpstr>
      <vt:lpstr>15 minutes</vt:lpstr>
      <vt:lpstr>Hypothesis building, significance testing, p-values</vt:lpstr>
      <vt:lpstr>Why a hypothesis?</vt:lpstr>
      <vt:lpstr>From questions to hypotheses</vt:lpstr>
      <vt:lpstr>The null hypothesis</vt:lpstr>
      <vt:lpstr>And then?</vt:lpstr>
      <vt:lpstr>P-value</vt:lpstr>
      <vt:lpstr>Types of errors</vt:lpstr>
      <vt:lpstr>Tests for normality</vt:lpstr>
      <vt:lpstr>Github</vt:lpstr>
      <vt:lpstr>Github – What and why?</vt:lpstr>
      <vt:lpstr>Github – in Science</vt:lpstr>
      <vt:lpstr>Connect Github and your local R Studio</vt:lpstr>
      <vt:lpstr>Exercises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Helene Gutte</dc:creator>
  <cp:lastModifiedBy>Helene Gutte</cp:lastModifiedBy>
  <cp:revision>37</cp:revision>
  <dcterms:created xsi:type="dcterms:W3CDTF">2026-04-02T14:44:10Z</dcterms:created>
  <dcterms:modified xsi:type="dcterms:W3CDTF">2026-04-14T10:45:08Z</dcterms:modified>
</cp:coreProperties>
</file>