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2" r:id="rId5"/>
    <p:sldId id="263" r:id="rId6"/>
    <p:sldId id="274" r:id="rId7"/>
    <p:sldId id="275" r:id="rId8"/>
    <p:sldId id="264" r:id="rId9"/>
    <p:sldId id="269" r:id="rId10"/>
    <p:sldId id="260" r:id="rId11"/>
    <p:sldId id="265" r:id="rId12"/>
    <p:sldId id="266" r:id="rId13"/>
    <p:sldId id="267" r:id="rId14"/>
    <p:sldId id="271" r:id="rId15"/>
    <p:sldId id="268" r:id="rId16"/>
    <p:sldId id="270" r:id="rId17"/>
    <p:sldId id="277" r:id="rId18"/>
    <p:sldId id="273" r:id="rId19"/>
    <p:sldId id="272" r:id="rId20"/>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11"/>
    <p:restoredTop sz="94780"/>
  </p:normalViewPr>
  <p:slideViewPr>
    <p:cSldViewPr snapToGrid="0">
      <p:cViewPr varScale="1">
        <p:scale>
          <a:sx n="125" d="100"/>
          <a:sy n="125" d="100"/>
        </p:scale>
        <p:origin x="16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747B-CB3A-2599-F9E3-E4C8805225B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DE"/>
          </a:p>
        </p:txBody>
      </p:sp>
      <p:sp>
        <p:nvSpPr>
          <p:cNvPr id="3" name="Subtitle 2">
            <a:extLst>
              <a:ext uri="{FF2B5EF4-FFF2-40B4-BE49-F238E27FC236}">
                <a16:creationId xmlns:a16="http://schemas.microsoft.com/office/drawing/2014/main" id="{B417B895-E9C5-4223-5100-CBAD6770BF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DE"/>
          </a:p>
        </p:txBody>
      </p:sp>
      <p:sp>
        <p:nvSpPr>
          <p:cNvPr id="4" name="Date Placeholder 3">
            <a:extLst>
              <a:ext uri="{FF2B5EF4-FFF2-40B4-BE49-F238E27FC236}">
                <a16:creationId xmlns:a16="http://schemas.microsoft.com/office/drawing/2014/main" id="{0D0D183B-4628-5E84-D90E-D0D5E7290341}"/>
              </a:ext>
            </a:extLst>
          </p:cNvPr>
          <p:cNvSpPr>
            <a:spLocks noGrp="1"/>
          </p:cNvSpPr>
          <p:nvPr>
            <p:ph type="dt" sz="half" idx="10"/>
          </p:nvPr>
        </p:nvSpPr>
        <p:spPr/>
        <p:txBody>
          <a:bodyPr/>
          <a:lstStyle/>
          <a:p>
            <a:fld id="{3659716C-C4BA-4B4A-98D6-47B080273085}" type="datetimeFigureOut">
              <a:rPr lang="en-DE" smtClean="0"/>
              <a:t>18.05.26</a:t>
            </a:fld>
            <a:endParaRPr lang="en-DE"/>
          </a:p>
        </p:txBody>
      </p:sp>
      <p:sp>
        <p:nvSpPr>
          <p:cNvPr id="5" name="Footer Placeholder 4">
            <a:extLst>
              <a:ext uri="{FF2B5EF4-FFF2-40B4-BE49-F238E27FC236}">
                <a16:creationId xmlns:a16="http://schemas.microsoft.com/office/drawing/2014/main" id="{A6EBE5E1-38B0-847B-41FF-D8D0E29CF305}"/>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BF6C9A72-23F9-75C9-F122-9B9D4FC1A9A5}"/>
              </a:ext>
            </a:extLst>
          </p:cNvPr>
          <p:cNvSpPr>
            <a:spLocks noGrp="1"/>
          </p:cNvSpPr>
          <p:nvPr>
            <p:ph type="sldNum" sz="quarter" idx="12"/>
          </p:nvPr>
        </p:nvSpPr>
        <p:spPr/>
        <p:txBody>
          <a:bodyPr/>
          <a:lstStyle/>
          <a:p>
            <a:fld id="{872FA98C-EABB-104D-B9EC-3624D5746030}" type="slidenum">
              <a:rPr lang="en-DE" smtClean="0"/>
              <a:t>‹#›</a:t>
            </a:fld>
            <a:endParaRPr lang="en-DE"/>
          </a:p>
        </p:txBody>
      </p:sp>
    </p:spTree>
    <p:extLst>
      <p:ext uri="{BB962C8B-B14F-4D97-AF65-F5344CB8AC3E}">
        <p14:creationId xmlns:p14="http://schemas.microsoft.com/office/powerpoint/2010/main" val="58118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2209-7C6B-F146-2C64-40B9D16059BC}"/>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00452067-0BA9-2528-B6F2-6D2AE27735F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F9E57556-BB8B-A47B-DEC9-63B2215A879D}"/>
              </a:ext>
            </a:extLst>
          </p:cNvPr>
          <p:cNvSpPr>
            <a:spLocks noGrp="1"/>
          </p:cNvSpPr>
          <p:nvPr>
            <p:ph type="dt" sz="half" idx="10"/>
          </p:nvPr>
        </p:nvSpPr>
        <p:spPr/>
        <p:txBody>
          <a:bodyPr/>
          <a:lstStyle/>
          <a:p>
            <a:fld id="{3659716C-C4BA-4B4A-98D6-47B080273085}" type="datetimeFigureOut">
              <a:rPr lang="en-DE" smtClean="0"/>
              <a:t>18.05.26</a:t>
            </a:fld>
            <a:endParaRPr lang="en-DE"/>
          </a:p>
        </p:txBody>
      </p:sp>
      <p:sp>
        <p:nvSpPr>
          <p:cNvPr id="5" name="Footer Placeholder 4">
            <a:extLst>
              <a:ext uri="{FF2B5EF4-FFF2-40B4-BE49-F238E27FC236}">
                <a16:creationId xmlns:a16="http://schemas.microsoft.com/office/drawing/2014/main" id="{4B9F9BA8-CCA3-AF6F-B895-6891A09227B2}"/>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3C1D3AA4-55B2-C2C5-9339-28E76112B16D}"/>
              </a:ext>
            </a:extLst>
          </p:cNvPr>
          <p:cNvSpPr>
            <a:spLocks noGrp="1"/>
          </p:cNvSpPr>
          <p:nvPr>
            <p:ph type="sldNum" sz="quarter" idx="12"/>
          </p:nvPr>
        </p:nvSpPr>
        <p:spPr/>
        <p:txBody>
          <a:bodyPr/>
          <a:lstStyle/>
          <a:p>
            <a:fld id="{872FA98C-EABB-104D-B9EC-3624D5746030}" type="slidenum">
              <a:rPr lang="en-DE" smtClean="0"/>
              <a:t>‹#›</a:t>
            </a:fld>
            <a:endParaRPr lang="en-DE"/>
          </a:p>
        </p:txBody>
      </p:sp>
    </p:spTree>
    <p:extLst>
      <p:ext uri="{BB962C8B-B14F-4D97-AF65-F5344CB8AC3E}">
        <p14:creationId xmlns:p14="http://schemas.microsoft.com/office/powerpoint/2010/main" val="818936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5DD01-41A3-97DA-C8AC-0883228CF9D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DE"/>
          </a:p>
        </p:txBody>
      </p:sp>
      <p:sp>
        <p:nvSpPr>
          <p:cNvPr id="3" name="Text Placeholder 2">
            <a:extLst>
              <a:ext uri="{FF2B5EF4-FFF2-40B4-BE49-F238E27FC236}">
                <a16:creationId xmlns:a16="http://schemas.microsoft.com/office/drawing/2014/main" id="{C9F128C6-10DE-370D-B3BF-5A94E8BA33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E19DBFE-24CF-066B-4932-F6CDC1F04498}"/>
              </a:ext>
            </a:extLst>
          </p:cNvPr>
          <p:cNvSpPr>
            <a:spLocks noGrp="1"/>
          </p:cNvSpPr>
          <p:nvPr>
            <p:ph type="dt" sz="half" idx="10"/>
          </p:nvPr>
        </p:nvSpPr>
        <p:spPr/>
        <p:txBody>
          <a:bodyPr/>
          <a:lstStyle/>
          <a:p>
            <a:fld id="{3659716C-C4BA-4B4A-98D6-47B080273085}" type="datetimeFigureOut">
              <a:rPr lang="en-DE" smtClean="0"/>
              <a:t>18.05.26</a:t>
            </a:fld>
            <a:endParaRPr lang="en-DE"/>
          </a:p>
        </p:txBody>
      </p:sp>
      <p:sp>
        <p:nvSpPr>
          <p:cNvPr id="5" name="Footer Placeholder 4">
            <a:extLst>
              <a:ext uri="{FF2B5EF4-FFF2-40B4-BE49-F238E27FC236}">
                <a16:creationId xmlns:a16="http://schemas.microsoft.com/office/drawing/2014/main" id="{B3233012-A0B6-506D-469A-79BFCD2407C7}"/>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8D679D48-C471-DAB8-6827-CD3708CDC93D}"/>
              </a:ext>
            </a:extLst>
          </p:cNvPr>
          <p:cNvSpPr>
            <a:spLocks noGrp="1"/>
          </p:cNvSpPr>
          <p:nvPr>
            <p:ph type="sldNum" sz="quarter" idx="12"/>
          </p:nvPr>
        </p:nvSpPr>
        <p:spPr/>
        <p:txBody>
          <a:bodyPr/>
          <a:lstStyle/>
          <a:p>
            <a:fld id="{872FA98C-EABB-104D-B9EC-3624D5746030}" type="slidenum">
              <a:rPr lang="en-DE" smtClean="0"/>
              <a:t>‹#›</a:t>
            </a:fld>
            <a:endParaRPr lang="en-DE"/>
          </a:p>
        </p:txBody>
      </p:sp>
    </p:spTree>
    <p:extLst>
      <p:ext uri="{BB962C8B-B14F-4D97-AF65-F5344CB8AC3E}">
        <p14:creationId xmlns:p14="http://schemas.microsoft.com/office/powerpoint/2010/main" val="3080524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870B6-473A-DD27-00B6-79E3513B1FBE}"/>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519DA4A7-7E21-2B56-5582-813235C1E45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Content Placeholder 3">
            <a:extLst>
              <a:ext uri="{FF2B5EF4-FFF2-40B4-BE49-F238E27FC236}">
                <a16:creationId xmlns:a16="http://schemas.microsoft.com/office/drawing/2014/main" id="{DCFEB64D-7426-5939-0C2F-0697E811106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Date Placeholder 4">
            <a:extLst>
              <a:ext uri="{FF2B5EF4-FFF2-40B4-BE49-F238E27FC236}">
                <a16:creationId xmlns:a16="http://schemas.microsoft.com/office/drawing/2014/main" id="{51CFDE2C-93C1-A5E8-4559-A61E6015F4B0}"/>
              </a:ext>
            </a:extLst>
          </p:cNvPr>
          <p:cNvSpPr>
            <a:spLocks noGrp="1"/>
          </p:cNvSpPr>
          <p:nvPr>
            <p:ph type="dt" sz="half" idx="10"/>
          </p:nvPr>
        </p:nvSpPr>
        <p:spPr/>
        <p:txBody>
          <a:bodyPr/>
          <a:lstStyle/>
          <a:p>
            <a:fld id="{3659716C-C4BA-4B4A-98D6-47B080273085}" type="datetimeFigureOut">
              <a:rPr lang="en-DE" smtClean="0"/>
              <a:t>18.05.26</a:t>
            </a:fld>
            <a:endParaRPr lang="en-DE"/>
          </a:p>
        </p:txBody>
      </p:sp>
      <p:sp>
        <p:nvSpPr>
          <p:cNvPr id="6" name="Footer Placeholder 5">
            <a:extLst>
              <a:ext uri="{FF2B5EF4-FFF2-40B4-BE49-F238E27FC236}">
                <a16:creationId xmlns:a16="http://schemas.microsoft.com/office/drawing/2014/main" id="{8718C309-DE35-8C54-7B4D-5EB4D8E2EDBE}"/>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6749DAB0-FD01-B149-C46C-CD117CA6759C}"/>
              </a:ext>
            </a:extLst>
          </p:cNvPr>
          <p:cNvSpPr>
            <a:spLocks noGrp="1"/>
          </p:cNvSpPr>
          <p:nvPr>
            <p:ph type="sldNum" sz="quarter" idx="12"/>
          </p:nvPr>
        </p:nvSpPr>
        <p:spPr/>
        <p:txBody>
          <a:bodyPr/>
          <a:lstStyle/>
          <a:p>
            <a:fld id="{872FA98C-EABB-104D-B9EC-3624D5746030}" type="slidenum">
              <a:rPr lang="en-DE" smtClean="0"/>
              <a:t>‹#›</a:t>
            </a:fld>
            <a:endParaRPr lang="en-DE"/>
          </a:p>
        </p:txBody>
      </p:sp>
    </p:spTree>
    <p:extLst>
      <p:ext uri="{BB962C8B-B14F-4D97-AF65-F5344CB8AC3E}">
        <p14:creationId xmlns:p14="http://schemas.microsoft.com/office/powerpoint/2010/main" val="1420661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9E6EB-0A42-7D98-51EC-58B3A7329154}"/>
              </a:ext>
            </a:extLst>
          </p:cNvPr>
          <p:cNvSpPr>
            <a:spLocks noGrp="1"/>
          </p:cNvSpPr>
          <p:nvPr>
            <p:ph type="title"/>
          </p:nvPr>
        </p:nvSpPr>
        <p:spPr>
          <a:xfrm>
            <a:off x="839788" y="365125"/>
            <a:ext cx="10515600" cy="1325563"/>
          </a:xfrm>
        </p:spPr>
        <p:txBody>
          <a:bodyPr/>
          <a:lstStyle/>
          <a:p>
            <a:r>
              <a:rPr lang="en-GB"/>
              <a:t>Click to edit Master title style</a:t>
            </a:r>
            <a:endParaRPr lang="en-DE"/>
          </a:p>
        </p:txBody>
      </p:sp>
      <p:sp>
        <p:nvSpPr>
          <p:cNvPr id="3" name="Text Placeholder 2">
            <a:extLst>
              <a:ext uri="{FF2B5EF4-FFF2-40B4-BE49-F238E27FC236}">
                <a16:creationId xmlns:a16="http://schemas.microsoft.com/office/drawing/2014/main" id="{F808682A-C86D-9075-2B45-87FCCB7438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18D7021-660D-2825-FC1C-35839639D81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Text Placeholder 4">
            <a:extLst>
              <a:ext uri="{FF2B5EF4-FFF2-40B4-BE49-F238E27FC236}">
                <a16:creationId xmlns:a16="http://schemas.microsoft.com/office/drawing/2014/main" id="{9FB109B0-7D30-EA75-AA21-D2EA0CEAA1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2B345B2-96A1-EAAA-1AC3-4B03D24E722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7" name="Date Placeholder 6">
            <a:extLst>
              <a:ext uri="{FF2B5EF4-FFF2-40B4-BE49-F238E27FC236}">
                <a16:creationId xmlns:a16="http://schemas.microsoft.com/office/drawing/2014/main" id="{431BA150-5C9A-DA2C-735D-77BBACD98826}"/>
              </a:ext>
            </a:extLst>
          </p:cNvPr>
          <p:cNvSpPr>
            <a:spLocks noGrp="1"/>
          </p:cNvSpPr>
          <p:nvPr>
            <p:ph type="dt" sz="half" idx="10"/>
          </p:nvPr>
        </p:nvSpPr>
        <p:spPr/>
        <p:txBody>
          <a:bodyPr/>
          <a:lstStyle/>
          <a:p>
            <a:fld id="{3659716C-C4BA-4B4A-98D6-47B080273085}" type="datetimeFigureOut">
              <a:rPr lang="en-DE" smtClean="0"/>
              <a:t>18.05.26</a:t>
            </a:fld>
            <a:endParaRPr lang="en-DE"/>
          </a:p>
        </p:txBody>
      </p:sp>
      <p:sp>
        <p:nvSpPr>
          <p:cNvPr id="8" name="Footer Placeholder 7">
            <a:extLst>
              <a:ext uri="{FF2B5EF4-FFF2-40B4-BE49-F238E27FC236}">
                <a16:creationId xmlns:a16="http://schemas.microsoft.com/office/drawing/2014/main" id="{8148CC00-E658-072C-10F1-C4BE3F1FA0BD}"/>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A82BA0C8-415D-443C-D481-705B8D3B27FE}"/>
              </a:ext>
            </a:extLst>
          </p:cNvPr>
          <p:cNvSpPr>
            <a:spLocks noGrp="1"/>
          </p:cNvSpPr>
          <p:nvPr>
            <p:ph type="sldNum" sz="quarter" idx="12"/>
          </p:nvPr>
        </p:nvSpPr>
        <p:spPr/>
        <p:txBody>
          <a:bodyPr/>
          <a:lstStyle/>
          <a:p>
            <a:fld id="{872FA98C-EABB-104D-B9EC-3624D5746030}" type="slidenum">
              <a:rPr lang="en-DE" smtClean="0"/>
              <a:t>‹#›</a:t>
            </a:fld>
            <a:endParaRPr lang="en-DE"/>
          </a:p>
        </p:txBody>
      </p:sp>
    </p:spTree>
    <p:extLst>
      <p:ext uri="{BB962C8B-B14F-4D97-AF65-F5344CB8AC3E}">
        <p14:creationId xmlns:p14="http://schemas.microsoft.com/office/powerpoint/2010/main" val="4201595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CD2DB-2304-E812-1E3F-6859C2186414}"/>
              </a:ext>
            </a:extLst>
          </p:cNvPr>
          <p:cNvSpPr>
            <a:spLocks noGrp="1"/>
          </p:cNvSpPr>
          <p:nvPr>
            <p:ph type="title"/>
          </p:nvPr>
        </p:nvSpPr>
        <p:spPr/>
        <p:txBody>
          <a:bodyPr/>
          <a:lstStyle/>
          <a:p>
            <a:r>
              <a:rPr lang="en-GB"/>
              <a:t>Click to edit Master title style</a:t>
            </a:r>
            <a:endParaRPr lang="en-DE"/>
          </a:p>
        </p:txBody>
      </p:sp>
      <p:sp>
        <p:nvSpPr>
          <p:cNvPr id="3" name="Date Placeholder 2">
            <a:extLst>
              <a:ext uri="{FF2B5EF4-FFF2-40B4-BE49-F238E27FC236}">
                <a16:creationId xmlns:a16="http://schemas.microsoft.com/office/drawing/2014/main" id="{E5133616-C251-9F6B-B89E-07BE88E01649}"/>
              </a:ext>
            </a:extLst>
          </p:cNvPr>
          <p:cNvSpPr>
            <a:spLocks noGrp="1"/>
          </p:cNvSpPr>
          <p:nvPr>
            <p:ph type="dt" sz="half" idx="10"/>
          </p:nvPr>
        </p:nvSpPr>
        <p:spPr/>
        <p:txBody>
          <a:bodyPr/>
          <a:lstStyle/>
          <a:p>
            <a:fld id="{3659716C-C4BA-4B4A-98D6-47B080273085}" type="datetimeFigureOut">
              <a:rPr lang="en-DE" smtClean="0"/>
              <a:t>18.05.26</a:t>
            </a:fld>
            <a:endParaRPr lang="en-DE"/>
          </a:p>
        </p:txBody>
      </p:sp>
      <p:sp>
        <p:nvSpPr>
          <p:cNvPr id="4" name="Footer Placeholder 3">
            <a:extLst>
              <a:ext uri="{FF2B5EF4-FFF2-40B4-BE49-F238E27FC236}">
                <a16:creationId xmlns:a16="http://schemas.microsoft.com/office/drawing/2014/main" id="{BD28119A-9838-BA66-28C0-82A375B7E0B1}"/>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86FD608C-E542-BBAE-7351-731B81BF163D}"/>
              </a:ext>
            </a:extLst>
          </p:cNvPr>
          <p:cNvSpPr>
            <a:spLocks noGrp="1"/>
          </p:cNvSpPr>
          <p:nvPr>
            <p:ph type="sldNum" sz="quarter" idx="12"/>
          </p:nvPr>
        </p:nvSpPr>
        <p:spPr/>
        <p:txBody>
          <a:bodyPr/>
          <a:lstStyle/>
          <a:p>
            <a:fld id="{872FA98C-EABB-104D-B9EC-3624D5746030}" type="slidenum">
              <a:rPr lang="en-DE" smtClean="0"/>
              <a:t>‹#›</a:t>
            </a:fld>
            <a:endParaRPr lang="en-DE"/>
          </a:p>
        </p:txBody>
      </p:sp>
    </p:spTree>
    <p:extLst>
      <p:ext uri="{BB962C8B-B14F-4D97-AF65-F5344CB8AC3E}">
        <p14:creationId xmlns:p14="http://schemas.microsoft.com/office/powerpoint/2010/main" val="970873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F93AF7-BBDB-346B-E4E7-4DBC5E515476}"/>
              </a:ext>
            </a:extLst>
          </p:cNvPr>
          <p:cNvSpPr>
            <a:spLocks noGrp="1"/>
          </p:cNvSpPr>
          <p:nvPr>
            <p:ph type="dt" sz="half" idx="10"/>
          </p:nvPr>
        </p:nvSpPr>
        <p:spPr/>
        <p:txBody>
          <a:bodyPr/>
          <a:lstStyle/>
          <a:p>
            <a:fld id="{3659716C-C4BA-4B4A-98D6-47B080273085}" type="datetimeFigureOut">
              <a:rPr lang="en-DE" smtClean="0"/>
              <a:t>18.05.26</a:t>
            </a:fld>
            <a:endParaRPr lang="en-DE"/>
          </a:p>
        </p:txBody>
      </p:sp>
      <p:sp>
        <p:nvSpPr>
          <p:cNvPr id="3" name="Footer Placeholder 2">
            <a:extLst>
              <a:ext uri="{FF2B5EF4-FFF2-40B4-BE49-F238E27FC236}">
                <a16:creationId xmlns:a16="http://schemas.microsoft.com/office/drawing/2014/main" id="{2F9E62ED-57D1-7133-F41F-6EC2B359ABCC}"/>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40681BE7-67CF-2416-01EF-6C8E2BD4449E}"/>
              </a:ext>
            </a:extLst>
          </p:cNvPr>
          <p:cNvSpPr>
            <a:spLocks noGrp="1"/>
          </p:cNvSpPr>
          <p:nvPr>
            <p:ph type="sldNum" sz="quarter" idx="12"/>
          </p:nvPr>
        </p:nvSpPr>
        <p:spPr/>
        <p:txBody>
          <a:bodyPr/>
          <a:lstStyle/>
          <a:p>
            <a:fld id="{872FA98C-EABB-104D-B9EC-3624D5746030}" type="slidenum">
              <a:rPr lang="en-DE" smtClean="0"/>
              <a:t>‹#›</a:t>
            </a:fld>
            <a:endParaRPr lang="en-DE"/>
          </a:p>
        </p:txBody>
      </p:sp>
    </p:spTree>
    <p:extLst>
      <p:ext uri="{BB962C8B-B14F-4D97-AF65-F5344CB8AC3E}">
        <p14:creationId xmlns:p14="http://schemas.microsoft.com/office/powerpoint/2010/main" val="2414277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DBDF1-F654-D8C1-1C90-38A69CACF9A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Content Placeholder 2">
            <a:extLst>
              <a:ext uri="{FF2B5EF4-FFF2-40B4-BE49-F238E27FC236}">
                <a16:creationId xmlns:a16="http://schemas.microsoft.com/office/drawing/2014/main" id="{8937D94C-1CE8-AB0C-4419-F2BA69CAA9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Text Placeholder 3">
            <a:extLst>
              <a:ext uri="{FF2B5EF4-FFF2-40B4-BE49-F238E27FC236}">
                <a16:creationId xmlns:a16="http://schemas.microsoft.com/office/drawing/2014/main" id="{56E3F012-8D20-990A-9137-4DC70B9DD9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8E69E06-D3CF-6E11-DDDD-84A9025AF3B8}"/>
              </a:ext>
            </a:extLst>
          </p:cNvPr>
          <p:cNvSpPr>
            <a:spLocks noGrp="1"/>
          </p:cNvSpPr>
          <p:nvPr>
            <p:ph type="dt" sz="half" idx="10"/>
          </p:nvPr>
        </p:nvSpPr>
        <p:spPr/>
        <p:txBody>
          <a:bodyPr/>
          <a:lstStyle/>
          <a:p>
            <a:fld id="{3659716C-C4BA-4B4A-98D6-47B080273085}" type="datetimeFigureOut">
              <a:rPr lang="en-DE" smtClean="0"/>
              <a:t>18.05.26</a:t>
            </a:fld>
            <a:endParaRPr lang="en-DE"/>
          </a:p>
        </p:txBody>
      </p:sp>
      <p:sp>
        <p:nvSpPr>
          <p:cNvPr id="6" name="Footer Placeholder 5">
            <a:extLst>
              <a:ext uri="{FF2B5EF4-FFF2-40B4-BE49-F238E27FC236}">
                <a16:creationId xmlns:a16="http://schemas.microsoft.com/office/drawing/2014/main" id="{BBF10540-DC2E-2077-D8BC-191FCBE17CF9}"/>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1E812A32-3738-3CF2-3FC7-CF9FC959F5DF}"/>
              </a:ext>
            </a:extLst>
          </p:cNvPr>
          <p:cNvSpPr>
            <a:spLocks noGrp="1"/>
          </p:cNvSpPr>
          <p:nvPr>
            <p:ph type="sldNum" sz="quarter" idx="12"/>
          </p:nvPr>
        </p:nvSpPr>
        <p:spPr/>
        <p:txBody>
          <a:bodyPr/>
          <a:lstStyle/>
          <a:p>
            <a:fld id="{872FA98C-EABB-104D-B9EC-3624D5746030}" type="slidenum">
              <a:rPr lang="en-DE" smtClean="0"/>
              <a:t>‹#›</a:t>
            </a:fld>
            <a:endParaRPr lang="en-DE"/>
          </a:p>
        </p:txBody>
      </p:sp>
    </p:spTree>
    <p:extLst>
      <p:ext uri="{BB962C8B-B14F-4D97-AF65-F5344CB8AC3E}">
        <p14:creationId xmlns:p14="http://schemas.microsoft.com/office/powerpoint/2010/main" val="4071233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4FAC6-DD61-A5C1-875B-D85CEACD473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Picture Placeholder 2">
            <a:extLst>
              <a:ext uri="{FF2B5EF4-FFF2-40B4-BE49-F238E27FC236}">
                <a16:creationId xmlns:a16="http://schemas.microsoft.com/office/drawing/2014/main" id="{6E63A919-B663-9850-0B9B-9ED0E31832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240D57FF-5BAB-7135-4732-5850A3EAED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D2B6801-9465-801D-CC8A-8AC0C0F600D3}"/>
              </a:ext>
            </a:extLst>
          </p:cNvPr>
          <p:cNvSpPr>
            <a:spLocks noGrp="1"/>
          </p:cNvSpPr>
          <p:nvPr>
            <p:ph type="dt" sz="half" idx="10"/>
          </p:nvPr>
        </p:nvSpPr>
        <p:spPr/>
        <p:txBody>
          <a:bodyPr/>
          <a:lstStyle/>
          <a:p>
            <a:fld id="{3659716C-C4BA-4B4A-98D6-47B080273085}" type="datetimeFigureOut">
              <a:rPr lang="en-DE" smtClean="0"/>
              <a:t>18.05.26</a:t>
            </a:fld>
            <a:endParaRPr lang="en-DE"/>
          </a:p>
        </p:txBody>
      </p:sp>
      <p:sp>
        <p:nvSpPr>
          <p:cNvPr id="6" name="Footer Placeholder 5">
            <a:extLst>
              <a:ext uri="{FF2B5EF4-FFF2-40B4-BE49-F238E27FC236}">
                <a16:creationId xmlns:a16="http://schemas.microsoft.com/office/drawing/2014/main" id="{597C5BFA-1433-510B-4EDC-0F3CCD43C78C}"/>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6ABA57AB-4866-6369-408F-18CAE9B868BE}"/>
              </a:ext>
            </a:extLst>
          </p:cNvPr>
          <p:cNvSpPr>
            <a:spLocks noGrp="1"/>
          </p:cNvSpPr>
          <p:nvPr>
            <p:ph type="sldNum" sz="quarter" idx="12"/>
          </p:nvPr>
        </p:nvSpPr>
        <p:spPr/>
        <p:txBody>
          <a:bodyPr/>
          <a:lstStyle/>
          <a:p>
            <a:fld id="{872FA98C-EABB-104D-B9EC-3624D5746030}" type="slidenum">
              <a:rPr lang="en-DE" smtClean="0"/>
              <a:t>‹#›</a:t>
            </a:fld>
            <a:endParaRPr lang="en-DE"/>
          </a:p>
        </p:txBody>
      </p:sp>
    </p:spTree>
    <p:extLst>
      <p:ext uri="{BB962C8B-B14F-4D97-AF65-F5344CB8AC3E}">
        <p14:creationId xmlns:p14="http://schemas.microsoft.com/office/powerpoint/2010/main" val="812597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D3BEB-FA69-5942-53AC-450519E8F26C}"/>
              </a:ext>
            </a:extLst>
          </p:cNvPr>
          <p:cNvSpPr>
            <a:spLocks noGrp="1"/>
          </p:cNvSpPr>
          <p:nvPr>
            <p:ph type="title"/>
          </p:nvPr>
        </p:nvSpPr>
        <p:spPr/>
        <p:txBody>
          <a:bodyPr/>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3997A654-868E-33E4-CB04-13AF46BDF33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48FE3EAD-97BE-3B11-46C8-FCF0BF5E417E}"/>
              </a:ext>
            </a:extLst>
          </p:cNvPr>
          <p:cNvSpPr>
            <a:spLocks noGrp="1"/>
          </p:cNvSpPr>
          <p:nvPr>
            <p:ph type="dt" sz="half" idx="10"/>
          </p:nvPr>
        </p:nvSpPr>
        <p:spPr/>
        <p:txBody>
          <a:bodyPr/>
          <a:lstStyle/>
          <a:p>
            <a:fld id="{3659716C-C4BA-4B4A-98D6-47B080273085}" type="datetimeFigureOut">
              <a:rPr lang="en-DE" smtClean="0"/>
              <a:t>18.05.26</a:t>
            </a:fld>
            <a:endParaRPr lang="en-DE"/>
          </a:p>
        </p:txBody>
      </p:sp>
      <p:sp>
        <p:nvSpPr>
          <p:cNvPr id="5" name="Footer Placeholder 4">
            <a:extLst>
              <a:ext uri="{FF2B5EF4-FFF2-40B4-BE49-F238E27FC236}">
                <a16:creationId xmlns:a16="http://schemas.microsoft.com/office/drawing/2014/main" id="{2A6B73D2-0491-CBD0-B45C-747C340051E0}"/>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C5551580-8D61-40B7-B5EC-CE0DE9666258}"/>
              </a:ext>
            </a:extLst>
          </p:cNvPr>
          <p:cNvSpPr>
            <a:spLocks noGrp="1"/>
          </p:cNvSpPr>
          <p:nvPr>
            <p:ph type="sldNum" sz="quarter" idx="12"/>
          </p:nvPr>
        </p:nvSpPr>
        <p:spPr/>
        <p:txBody>
          <a:bodyPr/>
          <a:lstStyle/>
          <a:p>
            <a:fld id="{872FA98C-EABB-104D-B9EC-3624D5746030}" type="slidenum">
              <a:rPr lang="en-DE" smtClean="0"/>
              <a:t>‹#›</a:t>
            </a:fld>
            <a:endParaRPr lang="en-DE"/>
          </a:p>
        </p:txBody>
      </p:sp>
    </p:spTree>
    <p:extLst>
      <p:ext uri="{BB962C8B-B14F-4D97-AF65-F5344CB8AC3E}">
        <p14:creationId xmlns:p14="http://schemas.microsoft.com/office/powerpoint/2010/main" val="3465601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6F7740-A486-8324-D748-7DBFDC14101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28BAFFC9-E249-780A-227B-5646AF009D9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9F79F2A8-FAED-2DFA-9884-C639896017BC}"/>
              </a:ext>
            </a:extLst>
          </p:cNvPr>
          <p:cNvSpPr>
            <a:spLocks noGrp="1"/>
          </p:cNvSpPr>
          <p:nvPr>
            <p:ph type="dt" sz="half" idx="10"/>
          </p:nvPr>
        </p:nvSpPr>
        <p:spPr/>
        <p:txBody>
          <a:bodyPr/>
          <a:lstStyle/>
          <a:p>
            <a:fld id="{3659716C-C4BA-4B4A-98D6-47B080273085}" type="datetimeFigureOut">
              <a:rPr lang="en-DE" smtClean="0"/>
              <a:t>18.05.26</a:t>
            </a:fld>
            <a:endParaRPr lang="en-DE"/>
          </a:p>
        </p:txBody>
      </p:sp>
      <p:sp>
        <p:nvSpPr>
          <p:cNvPr id="5" name="Footer Placeholder 4">
            <a:extLst>
              <a:ext uri="{FF2B5EF4-FFF2-40B4-BE49-F238E27FC236}">
                <a16:creationId xmlns:a16="http://schemas.microsoft.com/office/drawing/2014/main" id="{5C5EEEA1-E81E-AC64-A1AF-60B8DFF72537}"/>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263F8F89-6321-3AC5-D8FF-85F5F08CC5B5}"/>
              </a:ext>
            </a:extLst>
          </p:cNvPr>
          <p:cNvSpPr>
            <a:spLocks noGrp="1"/>
          </p:cNvSpPr>
          <p:nvPr>
            <p:ph type="sldNum" sz="quarter" idx="12"/>
          </p:nvPr>
        </p:nvSpPr>
        <p:spPr/>
        <p:txBody>
          <a:bodyPr/>
          <a:lstStyle/>
          <a:p>
            <a:fld id="{872FA98C-EABB-104D-B9EC-3624D5746030}" type="slidenum">
              <a:rPr lang="en-DE" smtClean="0"/>
              <a:t>‹#›</a:t>
            </a:fld>
            <a:endParaRPr lang="en-DE"/>
          </a:p>
        </p:txBody>
      </p:sp>
    </p:spTree>
    <p:extLst>
      <p:ext uri="{BB962C8B-B14F-4D97-AF65-F5344CB8AC3E}">
        <p14:creationId xmlns:p14="http://schemas.microsoft.com/office/powerpoint/2010/main" val="4246302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4CEA52-0993-8D00-8E4E-5B3383E6F3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DE"/>
          </a:p>
        </p:txBody>
      </p:sp>
      <p:sp>
        <p:nvSpPr>
          <p:cNvPr id="3" name="Text Placeholder 2">
            <a:extLst>
              <a:ext uri="{FF2B5EF4-FFF2-40B4-BE49-F238E27FC236}">
                <a16:creationId xmlns:a16="http://schemas.microsoft.com/office/drawing/2014/main" id="{7C3DAFF6-E906-5F1E-7007-B9241CF1BC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D49239EA-56B8-335E-CF7F-F110AC03BF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59716C-C4BA-4B4A-98D6-47B080273085}" type="datetimeFigureOut">
              <a:rPr lang="en-DE" smtClean="0"/>
              <a:t>18.05.26</a:t>
            </a:fld>
            <a:endParaRPr lang="en-DE"/>
          </a:p>
        </p:txBody>
      </p:sp>
      <p:sp>
        <p:nvSpPr>
          <p:cNvPr id="5" name="Footer Placeholder 4">
            <a:extLst>
              <a:ext uri="{FF2B5EF4-FFF2-40B4-BE49-F238E27FC236}">
                <a16:creationId xmlns:a16="http://schemas.microsoft.com/office/drawing/2014/main" id="{30BF4E09-9242-2D21-372C-B6677FD1FF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DE"/>
          </a:p>
        </p:txBody>
      </p:sp>
      <p:sp>
        <p:nvSpPr>
          <p:cNvPr id="6" name="Slide Number Placeholder 5">
            <a:extLst>
              <a:ext uri="{FF2B5EF4-FFF2-40B4-BE49-F238E27FC236}">
                <a16:creationId xmlns:a16="http://schemas.microsoft.com/office/drawing/2014/main" id="{6AD43B29-05B1-565F-D42D-9AD1427DD9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FA98C-EABB-104D-B9EC-3624D5746030}" type="slidenum">
              <a:rPr lang="en-DE" smtClean="0"/>
              <a:t>‹#›</a:t>
            </a:fld>
            <a:endParaRPr lang="en-DE"/>
          </a:p>
        </p:txBody>
      </p:sp>
    </p:spTree>
    <p:extLst>
      <p:ext uri="{BB962C8B-B14F-4D97-AF65-F5344CB8AC3E}">
        <p14:creationId xmlns:p14="http://schemas.microsoft.com/office/powerpoint/2010/main" val="765045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atatab.net/tutorial/dependent-and-independent-samples" TargetMode="External"/><Relationship Id="rId2" Type="http://schemas.openxmlformats.org/officeDocument/2006/relationships/hyperlink" Target="https://datatab.net/tutorial/kruskal-wallis-test" TargetMode="External"/><Relationship Id="rId1" Type="http://schemas.openxmlformats.org/officeDocument/2006/relationships/slideLayout" Target="../slideLayouts/slideLayout2.xml"/><Relationship Id="rId4" Type="http://schemas.openxmlformats.org/officeDocument/2006/relationships/hyperlink" Target="https://datatab.net/tutorial/anova-with-repeated-measure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datacamp.com/tutorial/anova-test" TargetMode="External"/><Relationship Id="rId2" Type="http://schemas.openxmlformats.org/officeDocument/2006/relationships/hyperlink" Target="https://datatab.net/tutorial/anova" TargetMode="External"/><Relationship Id="rId1" Type="http://schemas.openxmlformats.org/officeDocument/2006/relationships/slideLayout" Target="../slideLayouts/slideLayout2.xml"/><Relationship Id="rId4" Type="http://schemas.openxmlformats.org/officeDocument/2006/relationships/hyperlink" Target="https://bio.libretexts.org/Bookshelves/Agriculture_and_Horticulture/Quantitative_Methods_for_Plant_Breeding_(Suza_and_Lamkey)/01%3A_Chapters/1.08%3A_The_Analysis_of_Variance_(ANOV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38E9-C48C-D34B-07F3-6DDF2EAB7BCB}"/>
              </a:ext>
            </a:extLst>
          </p:cNvPr>
          <p:cNvSpPr>
            <a:spLocks noGrp="1"/>
          </p:cNvSpPr>
          <p:nvPr>
            <p:ph type="ctrTitle"/>
          </p:nvPr>
        </p:nvSpPr>
        <p:spPr/>
        <p:txBody>
          <a:bodyPr/>
          <a:lstStyle/>
          <a:p>
            <a:r>
              <a:rPr lang="en-DE" dirty="0"/>
              <a:t>ANOVA</a:t>
            </a:r>
          </a:p>
        </p:txBody>
      </p:sp>
      <p:sp>
        <p:nvSpPr>
          <p:cNvPr id="3" name="Subtitle 2">
            <a:extLst>
              <a:ext uri="{FF2B5EF4-FFF2-40B4-BE49-F238E27FC236}">
                <a16:creationId xmlns:a16="http://schemas.microsoft.com/office/drawing/2014/main" id="{63C7D6DA-E3B4-403A-1796-4024890FFCA7}"/>
              </a:ext>
            </a:extLst>
          </p:cNvPr>
          <p:cNvSpPr>
            <a:spLocks noGrp="1"/>
          </p:cNvSpPr>
          <p:nvPr>
            <p:ph type="subTitle" idx="1"/>
          </p:nvPr>
        </p:nvSpPr>
        <p:spPr/>
        <p:txBody>
          <a:bodyPr/>
          <a:lstStyle/>
          <a:p>
            <a:r>
              <a:rPr lang="en-DE" dirty="0"/>
              <a:t>Analysis of Variance</a:t>
            </a:r>
          </a:p>
          <a:p>
            <a:endParaRPr lang="en-DE" dirty="0"/>
          </a:p>
          <a:p>
            <a:r>
              <a:rPr lang="en-DE" dirty="0"/>
              <a:t>Chhaya Chaudhary</a:t>
            </a:r>
          </a:p>
        </p:txBody>
      </p:sp>
    </p:spTree>
    <p:extLst>
      <p:ext uri="{BB962C8B-B14F-4D97-AF65-F5344CB8AC3E}">
        <p14:creationId xmlns:p14="http://schemas.microsoft.com/office/powerpoint/2010/main" val="2147065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4F992-A5A7-75C5-51F4-5EF132601BA3}"/>
              </a:ext>
            </a:extLst>
          </p:cNvPr>
          <p:cNvSpPr>
            <a:spLocks noGrp="1"/>
          </p:cNvSpPr>
          <p:nvPr>
            <p:ph type="title"/>
          </p:nvPr>
        </p:nvSpPr>
        <p:spPr/>
        <p:txBody>
          <a:bodyPr/>
          <a:lstStyle/>
          <a:p>
            <a:r>
              <a:rPr lang="en-DE" dirty="0">
                <a:latin typeface="+mn-lt"/>
              </a:rPr>
              <a:t>Need for ANOVA</a:t>
            </a:r>
          </a:p>
        </p:txBody>
      </p:sp>
      <p:sp>
        <p:nvSpPr>
          <p:cNvPr id="3" name="Content Placeholder 2">
            <a:extLst>
              <a:ext uri="{FF2B5EF4-FFF2-40B4-BE49-F238E27FC236}">
                <a16:creationId xmlns:a16="http://schemas.microsoft.com/office/drawing/2014/main" id="{064A43A7-A851-B333-D30B-03A97C88F5BA}"/>
              </a:ext>
            </a:extLst>
          </p:cNvPr>
          <p:cNvSpPr>
            <a:spLocks noGrp="1"/>
          </p:cNvSpPr>
          <p:nvPr>
            <p:ph idx="1"/>
          </p:nvPr>
        </p:nvSpPr>
        <p:spPr/>
        <p:txBody>
          <a:bodyPr>
            <a:normAutofit fontScale="92500" lnSpcReduction="10000"/>
          </a:bodyPr>
          <a:lstStyle/>
          <a:p>
            <a:r>
              <a:rPr lang="en-GB" dirty="0">
                <a:solidFill>
                  <a:srgbClr val="000000"/>
                </a:solidFill>
              </a:rPr>
              <a:t>A t</a:t>
            </a:r>
            <a:r>
              <a:rPr lang="en-GB" b="0" i="0" u="none" strike="noStrike" dirty="0">
                <a:solidFill>
                  <a:srgbClr val="000000"/>
                </a:solidFill>
                <a:effectLst/>
              </a:rPr>
              <a:t>-test is appropriate for comparing mean values of two treatments.</a:t>
            </a:r>
          </a:p>
          <a:p>
            <a:endParaRPr lang="en-DE" dirty="0"/>
          </a:p>
          <a:p>
            <a:r>
              <a:rPr lang="en-DE" dirty="0"/>
              <a:t>When we want to compare several treatments.</a:t>
            </a:r>
          </a:p>
          <a:p>
            <a:endParaRPr lang="en-DE" dirty="0"/>
          </a:p>
          <a:p>
            <a:r>
              <a:rPr lang="en-GB" dirty="0"/>
              <a:t>ANOVA helps determine if treatments are different.</a:t>
            </a:r>
          </a:p>
          <a:p>
            <a:endParaRPr lang="en-GB" dirty="0"/>
          </a:p>
          <a:p>
            <a:pPr algn="l"/>
            <a:r>
              <a:rPr lang="en-GB" b="0" i="0" u="none" strike="noStrike" dirty="0">
                <a:solidFill>
                  <a:srgbClr val="3E3E3E"/>
                </a:solidFill>
                <a:effectLst/>
              </a:rPr>
              <a:t>The ANOVA test is a statistical test that can be done in place of multiple T-tests when </a:t>
            </a:r>
            <a:r>
              <a:rPr lang="en-GB" b="1" i="0" u="none" strike="noStrike" dirty="0">
                <a:solidFill>
                  <a:srgbClr val="3E3E3E"/>
                </a:solidFill>
                <a:effectLst/>
              </a:rPr>
              <a:t>comparing the means of more than two groups at a time.  </a:t>
            </a:r>
            <a:r>
              <a:rPr lang="en-GB" b="0" i="0" u="none" strike="noStrike" dirty="0">
                <a:solidFill>
                  <a:srgbClr val="3E3E3E"/>
                </a:solidFill>
                <a:effectLst/>
              </a:rPr>
              <a:t>​</a:t>
            </a:r>
          </a:p>
          <a:p>
            <a:pPr marL="0" indent="0">
              <a:buNone/>
            </a:pPr>
            <a:br>
              <a:rPr lang="en-GB" dirty="0"/>
            </a:br>
            <a:endParaRPr lang="en-DE" dirty="0"/>
          </a:p>
          <a:p>
            <a:endParaRPr lang="en-DE" dirty="0"/>
          </a:p>
          <a:p>
            <a:endParaRPr lang="en-DE" dirty="0"/>
          </a:p>
        </p:txBody>
      </p:sp>
    </p:spTree>
    <p:extLst>
      <p:ext uri="{BB962C8B-B14F-4D97-AF65-F5344CB8AC3E}">
        <p14:creationId xmlns:p14="http://schemas.microsoft.com/office/powerpoint/2010/main" val="1790518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A4BC6-ADC3-3978-8E15-60575AA3433F}"/>
              </a:ext>
            </a:extLst>
          </p:cNvPr>
          <p:cNvSpPr>
            <a:spLocks noGrp="1"/>
          </p:cNvSpPr>
          <p:nvPr>
            <p:ph type="title"/>
          </p:nvPr>
        </p:nvSpPr>
        <p:spPr/>
        <p:txBody>
          <a:bodyPr/>
          <a:lstStyle/>
          <a:p>
            <a:r>
              <a:rPr lang="en-DE" dirty="0">
                <a:latin typeface="+mn-lt"/>
              </a:rPr>
              <a:t>ANOVA</a:t>
            </a:r>
          </a:p>
        </p:txBody>
      </p:sp>
      <p:sp>
        <p:nvSpPr>
          <p:cNvPr id="3" name="Content Placeholder 2">
            <a:extLst>
              <a:ext uri="{FF2B5EF4-FFF2-40B4-BE49-F238E27FC236}">
                <a16:creationId xmlns:a16="http://schemas.microsoft.com/office/drawing/2014/main" id="{485F7630-0107-D2B1-0D4B-E66C1D03EC09}"/>
              </a:ext>
            </a:extLst>
          </p:cNvPr>
          <p:cNvSpPr>
            <a:spLocks noGrp="1"/>
          </p:cNvSpPr>
          <p:nvPr>
            <p:ph idx="1"/>
          </p:nvPr>
        </p:nvSpPr>
        <p:spPr/>
        <p:txBody>
          <a:bodyPr>
            <a:normAutofit lnSpcReduction="10000"/>
          </a:bodyPr>
          <a:lstStyle/>
          <a:p>
            <a:r>
              <a:rPr lang="en-GB" dirty="0">
                <a:solidFill>
                  <a:srgbClr val="000000"/>
                </a:solidFill>
              </a:rPr>
              <a:t>A</a:t>
            </a:r>
            <a:r>
              <a:rPr lang="en-GB" b="0" i="0" u="none" strike="noStrike" dirty="0">
                <a:solidFill>
                  <a:srgbClr val="000000"/>
                </a:solidFill>
                <a:effectLst/>
              </a:rPr>
              <a:t>n analysis of variance (ANOVA) compares the variance associated with treatments to that variance which occurs naturally between experimental units (usually plots). </a:t>
            </a:r>
          </a:p>
          <a:p>
            <a:endParaRPr lang="en-GB" dirty="0">
              <a:solidFill>
                <a:srgbClr val="000000"/>
              </a:solidFill>
            </a:endParaRPr>
          </a:p>
          <a:p>
            <a:r>
              <a:rPr lang="en-GB" dirty="0">
                <a:solidFill>
                  <a:srgbClr val="000000"/>
                </a:solidFill>
              </a:rPr>
              <a:t>Can solve deciphering of variance </a:t>
            </a:r>
            <a:r>
              <a:rPr lang="en-GB" b="0" i="0" u="none" strike="noStrike" dirty="0">
                <a:solidFill>
                  <a:srgbClr val="000000"/>
                </a:solidFill>
                <a:effectLst/>
              </a:rPr>
              <a:t>by partitioning the total variance into discrete variances associated with our treatments and by lumping all the unexplained variance into a single term we call error. </a:t>
            </a:r>
          </a:p>
          <a:p>
            <a:endParaRPr lang="en-GB" dirty="0">
              <a:solidFill>
                <a:srgbClr val="000000"/>
              </a:solidFill>
            </a:endParaRPr>
          </a:p>
          <a:p>
            <a:r>
              <a:rPr lang="en-GB" b="0" i="0" u="none" strike="noStrike" dirty="0">
                <a:solidFill>
                  <a:srgbClr val="000000"/>
                </a:solidFill>
                <a:effectLst/>
              </a:rPr>
              <a:t>The error mean square actually describes the natural and unexplained variation among our experimental units</a:t>
            </a:r>
          </a:p>
          <a:p>
            <a:endParaRPr lang="en-GB" dirty="0">
              <a:solidFill>
                <a:srgbClr val="000000"/>
              </a:solidFill>
            </a:endParaRPr>
          </a:p>
          <a:p>
            <a:endParaRPr lang="en-DE" dirty="0"/>
          </a:p>
        </p:txBody>
      </p:sp>
    </p:spTree>
    <p:extLst>
      <p:ext uri="{BB962C8B-B14F-4D97-AF65-F5344CB8AC3E}">
        <p14:creationId xmlns:p14="http://schemas.microsoft.com/office/powerpoint/2010/main" val="323759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0C537-517D-58C4-9583-8CF7835D735F}"/>
              </a:ext>
            </a:extLst>
          </p:cNvPr>
          <p:cNvSpPr>
            <a:spLocks noGrp="1"/>
          </p:cNvSpPr>
          <p:nvPr>
            <p:ph type="title"/>
          </p:nvPr>
        </p:nvSpPr>
        <p:spPr/>
        <p:txBody>
          <a:bodyPr/>
          <a:lstStyle/>
          <a:p>
            <a:r>
              <a:rPr lang="en-DE" dirty="0">
                <a:latin typeface="+mn-lt"/>
              </a:rPr>
              <a:t>Types of ANOVA</a:t>
            </a:r>
          </a:p>
        </p:txBody>
      </p:sp>
      <p:sp>
        <p:nvSpPr>
          <p:cNvPr id="3" name="Content Placeholder 2">
            <a:extLst>
              <a:ext uri="{FF2B5EF4-FFF2-40B4-BE49-F238E27FC236}">
                <a16:creationId xmlns:a16="http://schemas.microsoft.com/office/drawing/2014/main" id="{D20DB40C-F146-AB90-0967-3DF097D217A3}"/>
              </a:ext>
            </a:extLst>
          </p:cNvPr>
          <p:cNvSpPr>
            <a:spLocks noGrp="1"/>
          </p:cNvSpPr>
          <p:nvPr>
            <p:ph idx="1"/>
          </p:nvPr>
        </p:nvSpPr>
        <p:spPr>
          <a:xfrm>
            <a:off x="76200" y="2141537"/>
            <a:ext cx="5562599" cy="4351338"/>
          </a:xfrm>
        </p:spPr>
        <p:txBody>
          <a:bodyPr>
            <a:normAutofit/>
          </a:bodyPr>
          <a:lstStyle/>
          <a:p>
            <a:r>
              <a:rPr lang="en-GB" dirty="0"/>
              <a:t>One-factor (or one-way) ANOVA</a:t>
            </a:r>
          </a:p>
          <a:p>
            <a:r>
              <a:rPr lang="en-GB" dirty="0"/>
              <a:t>Two-factors (or two-way) ANOVA</a:t>
            </a:r>
          </a:p>
          <a:p>
            <a:r>
              <a:rPr lang="en-GB" dirty="0"/>
              <a:t>One-factor ANOVA with repeated measurements</a:t>
            </a:r>
          </a:p>
          <a:p>
            <a:r>
              <a:rPr lang="en-GB" dirty="0"/>
              <a:t>Two-factors ANOVA with repeated measurements</a:t>
            </a:r>
          </a:p>
          <a:p>
            <a:br>
              <a:rPr lang="en-GB" dirty="0"/>
            </a:br>
            <a:endParaRPr lang="en-DE" dirty="0"/>
          </a:p>
        </p:txBody>
      </p:sp>
      <p:pic>
        <p:nvPicPr>
          <p:cNvPr id="3076" name="Picture 4" descr="ANOVA">
            <a:extLst>
              <a:ext uri="{FF2B5EF4-FFF2-40B4-BE49-F238E27FC236}">
                <a16:creationId xmlns:a16="http://schemas.microsoft.com/office/drawing/2014/main" id="{15A66DB4-AF51-6017-7025-0A3BCAD151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8429" y="1491157"/>
            <a:ext cx="6400799" cy="4045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066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2A798-B58D-8050-6253-74D37DB6912F}"/>
              </a:ext>
            </a:extLst>
          </p:cNvPr>
          <p:cNvSpPr>
            <a:spLocks noGrp="1"/>
          </p:cNvSpPr>
          <p:nvPr>
            <p:ph type="title"/>
          </p:nvPr>
        </p:nvSpPr>
        <p:spPr>
          <a:xfrm>
            <a:off x="1028394" y="-250372"/>
            <a:ext cx="10515600" cy="1325563"/>
          </a:xfrm>
        </p:spPr>
        <p:txBody>
          <a:bodyPr>
            <a:normAutofit/>
          </a:bodyPr>
          <a:lstStyle/>
          <a:p>
            <a:r>
              <a:rPr lang="en-DE" sz="3600" dirty="0">
                <a:latin typeface="+mn-lt"/>
              </a:rPr>
              <a:t>Types of ANOVA</a:t>
            </a:r>
          </a:p>
        </p:txBody>
      </p:sp>
      <p:graphicFrame>
        <p:nvGraphicFramePr>
          <p:cNvPr id="8" name="Content Placeholder 7">
            <a:extLst>
              <a:ext uri="{FF2B5EF4-FFF2-40B4-BE49-F238E27FC236}">
                <a16:creationId xmlns:a16="http://schemas.microsoft.com/office/drawing/2014/main" id="{7A315F5F-43E8-D646-B1F2-D1B6BB4472D9}"/>
              </a:ext>
            </a:extLst>
          </p:cNvPr>
          <p:cNvGraphicFramePr>
            <a:graphicFrameLocks noGrp="1"/>
          </p:cNvGraphicFramePr>
          <p:nvPr>
            <p:ph idx="1"/>
            <p:extLst>
              <p:ext uri="{D42A27DB-BD31-4B8C-83A1-F6EECF244321}">
                <p14:modId xmlns:p14="http://schemas.microsoft.com/office/powerpoint/2010/main" val="3664446375"/>
              </p:ext>
            </p:extLst>
          </p:nvPr>
        </p:nvGraphicFramePr>
        <p:xfrm>
          <a:off x="1028394" y="892630"/>
          <a:ext cx="10135212" cy="2536370"/>
        </p:xfrm>
        <a:graphic>
          <a:graphicData uri="http://schemas.openxmlformats.org/drawingml/2006/table">
            <a:tbl>
              <a:tblPr/>
              <a:tblGrid>
                <a:gridCol w="5067606">
                  <a:extLst>
                    <a:ext uri="{9D8B030D-6E8A-4147-A177-3AD203B41FA5}">
                      <a16:colId xmlns:a16="http://schemas.microsoft.com/office/drawing/2014/main" val="3222383215"/>
                    </a:ext>
                  </a:extLst>
                </a:gridCol>
                <a:gridCol w="5067606">
                  <a:extLst>
                    <a:ext uri="{9D8B030D-6E8A-4147-A177-3AD203B41FA5}">
                      <a16:colId xmlns:a16="http://schemas.microsoft.com/office/drawing/2014/main" val="1774469998"/>
                    </a:ext>
                  </a:extLst>
                </a:gridCol>
              </a:tblGrid>
              <a:tr h="466422">
                <a:tc>
                  <a:txBody>
                    <a:bodyPr/>
                    <a:lstStyle/>
                    <a:p>
                      <a:pPr algn="l" fontAlgn="b"/>
                      <a:r>
                        <a:rPr lang="en-GB" sz="2400" dirty="0">
                          <a:effectLst/>
                        </a:rPr>
                        <a:t>One-way ANOVA</a:t>
                      </a:r>
                    </a:p>
                  </a:txBody>
                  <a:tcPr anchor="b">
                    <a:lnL>
                      <a:noFill/>
                    </a:lnL>
                    <a:lnR>
                      <a:noFill/>
                    </a:lnR>
                    <a:lnT>
                      <a:noFill/>
                    </a:lnT>
                    <a:lnB w="9525" cap="flat" cmpd="sng" algn="ctr">
                      <a:solidFill>
                        <a:srgbClr val="DEE2E6"/>
                      </a:solidFill>
                      <a:prstDash val="solid"/>
                      <a:round/>
                      <a:headEnd type="none" w="med" len="med"/>
                      <a:tailEnd type="none" w="med" len="med"/>
                    </a:lnB>
                    <a:solidFill>
                      <a:srgbClr val="FFFFFF"/>
                    </a:solidFill>
                  </a:tcPr>
                </a:tc>
                <a:tc>
                  <a:txBody>
                    <a:bodyPr/>
                    <a:lstStyle/>
                    <a:p>
                      <a:pPr algn="l" fontAlgn="b"/>
                      <a:r>
                        <a:rPr lang="en-GB" sz="2400" dirty="0">
                          <a:effectLst/>
                        </a:rPr>
                        <a:t>Two-way ANOVA</a:t>
                      </a:r>
                    </a:p>
                  </a:txBody>
                  <a:tcPr anchor="b">
                    <a:lnL>
                      <a:noFill/>
                    </a:lnL>
                    <a:lnR>
                      <a:noFill/>
                    </a:lnR>
                    <a:lnT>
                      <a:noFill/>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664055901"/>
                  </a:ext>
                </a:extLst>
              </a:tr>
              <a:tr h="2069948">
                <a:tc>
                  <a:txBody>
                    <a:bodyPr/>
                    <a:lstStyle/>
                    <a:p>
                      <a:pPr fontAlgn="t"/>
                      <a:r>
                        <a:rPr lang="en-GB" sz="2400" dirty="0">
                          <a:effectLst/>
                        </a:rPr>
                        <a:t>Does a person's place of residence (independent variable) influence his or her salary?</a:t>
                      </a:r>
                    </a:p>
                  </a:txBody>
                  <a:tcPr>
                    <a:lnL>
                      <a:noFill/>
                    </a:lnL>
                    <a:lnR>
                      <a:noFill/>
                    </a:lnR>
                    <a:lnT w="9525" cap="flat" cmpd="sng" algn="ctr">
                      <a:solidFill>
                        <a:srgbClr val="DEE2E6"/>
                      </a:solidFill>
                      <a:prstDash val="solid"/>
                      <a:round/>
                      <a:headEnd type="none" w="med" len="med"/>
                      <a:tailEnd type="none" w="med" len="med"/>
                    </a:lnT>
                    <a:lnB>
                      <a:noFill/>
                    </a:lnB>
                    <a:solidFill>
                      <a:srgbClr val="FFFFFF"/>
                    </a:solidFill>
                  </a:tcPr>
                </a:tc>
                <a:tc>
                  <a:txBody>
                    <a:bodyPr/>
                    <a:lstStyle/>
                    <a:p>
                      <a:pPr fontAlgn="t"/>
                      <a:r>
                        <a:rPr lang="en-GB" sz="2400" dirty="0">
                          <a:effectLst/>
                        </a:rPr>
                        <a:t>Does a person's place of residence (1st independent variable) and gender (2nd independent variable) affect his or her salary?</a:t>
                      </a:r>
                    </a:p>
                  </a:txBody>
                  <a:tcPr>
                    <a:lnL>
                      <a:noFill/>
                    </a:lnL>
                    <a:lnR>
                      <a:noFill/>
                    </a:lnR>
                    <a:lnT w="9525" cap="flat" cmpd="sng" algn="ctr">
                      <a:solidFill>
                        <a:srgbClr val="DEE2E6"/>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464220399"/>
                  </a:ext>
                </a:extLst>
              </a:tr>
            </a:tbl>
          </a:graphicData>
        </a:graphic>
      </p:graphicFrame>
      <p:pic>
        <p:nvPicPr>
          <p:cNvPr id="4100" name="Picture 4" descr="Factors in the analysis of variance">
            <a:extLst>
              <a:ext uri="{FF2B5EF4-FFF2-40B4-BE49-F238E27FC236}">
                <a16:creationId xmlns:a16="http://schemas.microsoft.com/office/drawing/2014/main" id="{33D78189-33C9-FE17-48F3-D103312E72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6521" y="2946400"/>
            <a:ext cx="6032500" cy="39116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CD2B5DD-6F9E-964B-DD02-F36ECF5B248F}"/>
              </a:ext>
            </a:extLst>
          </p:cNvPr>
          <p:cNvSpPr txBox="1"/>
          <p:nvPr/>
        </p:nvSpPr>
        <p:spPr>
          <a:xfrm>
            <a:off x="6096000" y="3678676"/>
            <a:ext cx="6096000" cy="923330"/>
          </a:xfrm>
          <a:prstGeom prst="rect">
            <a:avLst/>
          </a:prstGeom>
          <a:noFill/>
        </p:spPr>
        <p:txBody>
          <a:bodyPr wrap="square">
            <a:spAutoFit/>
          </a:bodyPr>
          <a:lstStyle/>
          <a:p>
            <a:r>
              <a:rPr lang="en-GB" b="0" i="0" dirty="0">
                <a:solidFill>
                  <a:srgbClr val="212529"/>
                </a:solidFill>
                <a:effectLst/>
              </a:rPr>
              <a:t>Two-way analysis of variance tests whether there is a difference between more than two independent samples that are split between two variables or factors.</a:t>
            </a:r>
            <a:endParaRPr lang="en-DE" dirty="0"/>
          </a:p>
        </p:txBody>
      </p:sp>
    </p:spTree>
    <p:extLst>
      <p:ext uri="{BB962C8B-B14F-4D97-AF65-F5344CB8AC3E}">
        <p14:creationId xmlns:p14="http://schemas.microsoft.com/office/powerpoint/2010/main" val="3835604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FBA4F-706D-2B7C-4C14-D3D350EA16AA}"/>
              </a:ext>
            </a:extLst>
          </p:cNvPr>
          <p:cNvSpPr>
            <a:spLocks noGrp="1"/>
          </p:cNvSpPr>
          <p:nvPr>
            <p:ph type="title"/>
          </p:nvPr>
        </p:nvSpPr>
        <p:spPr>
          <a:xfrm>
            <a:off x="838200" y="0"/>
            <a:ext cx="10515600" cy="1325563"/>
          </a:xfrm>
        </p:spPr>
        <p:txBody>
          <a:bodyPr/>
          <a:lstStyle/>
          <a:p>
            <a:r>
              <a:rPr lang="en-GB" b="0" i="0" dirty="0">
                <a:solidFill>
                  <a:srgbClr val="212529"/>
                </a:solidFill>
                <a:effectLst/>
                <a:latin typeface="+mn-lt"/>
              </a:rPr>
              <a:t>What is a factor?</a:t>
            </a:r>
            <a:endParaRPr lang="en-DE" dirty="0">
              <a:latin typeface="+mn-lt"/>
            </a:endParaRPr>
          </a:p>
        </p:txBody>
      </p:sp>
      <p:sp>
        <p:nvSpPr>
          <p:cNvPr id="3" name="Content Placeholder 2">
            <a:extLst>
              <a:ext uri="{FF2B5EF4-FFF2-40B4-BE49-F238E27FC236}">
                <a16:creationId xmlns:a16="http://schemas.microsoft.com/office/drawing/2014/main" id="{230E1FBD-59A8-8775-22CB-8FD187E697A7}"/>
              </a:ext>
            </a:extLst>
          </p:cNvPr>
          <p:cNvSpPr>
            <a:spLocks noGrp="1"/>
          </p:cNvSpPr>
          <p:nvPr>
            <p:ph idx="1"/>
          </p:nvPr>
        </p:nvSpPr>
        <p:spPr>
          <a:xfrm>
            <a:off x="838200" y="1161596"/>
            <a:ext cx="10515600" cy="4351338"/>
          </a:xfrm>
        </p:spPr>
        <p:txBody>
          <a:bodyPr/>
          <a:lstStyle/>
          <a:p>
            <a:pPr algn="l"/>
            <a:r>
              <a:rPr lang="en-GB" b="0" i="0" dirty="0">
                <a:solidFill>
                  <a:srgbClr val="212529"/>
                </a:solidFill>
                <a:effectLst/>
              </a:rPr>
              <a:t>A factor is, for example, the gender of a person with the characteristics male and female, the form of therapy used for a disease with therapy A, B and C or the field of study with, for example, medicine, business administration, psychology and math.</a:t>
            </a:r>
          </a:p>
          <a:p>
            <a:pPr marL="0" indent="0">
              <a:buNone/>
            </a:pPr>
            <a:br>
              <a:rPr lang="en-GB" dirty="0"/>
            </a:br>
            <a:endParaRPr lang="en-DE" dirty="0"/>
          </a:p>
        </p:txBody>
      </p:sp>
      <p:pic>
        <p:nvPicPr>
          <p:cNvPr id="12290" name="Picture 2" descr="One Factorial vs Two Factor ANOVA">
            <a:extLst>
              <a:ext uri="{FF2B5EF4-FFF2-40B4-BE49-F238E27FC236}">
                <a16:creationId xmlns:a16="http://schemas.microsoft.com/office/drawing/2014/main" id="{F405E76C-F1A0-65B1-2F69-034354E16F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300" y="3126921"/>
            <a:ext cx="11823700" cy="2933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177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44DDF-6C15-2264-DBA9-23DE036156F0}"/>
              </a:ext>
            </a:extLst>
          </p:cNvPr>
          <p:cNvSpPr>
            <a:spLocks noGrp="1"/>
          </p:cNvSpPr>
          <p:nvPr>
            <p:ph type="title"/>
          </p:nvPr>
        </p:nvSpPr>
        <p:spPr/>
        <p:txBody>
          <a:bodyPr/>
          <a:lstStyle/>
          <a:p>
            <a:endParaRPr lang="en-DE"/>
          </a:p>
        </p:txBody>
      </p:sp>
      <p:pic>
        <p:nvPicPr>
          <p:cNvPr id="13314" name="Picture 2" descr="One factor vs. two factors">
            <a:extLst>
              <a:ext uri="{FF2B5EF4-FFF2-40B4-BE49-F238E27FC236}">
                <a16:creationId xmlns:a16="http://schemas.microsoft.com/office/drawing/2014/main" id="{F2A8639B-765F-F624-D9FA-1D42A30754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7535" y="2062842"/>
            <a:ext cx="10073331" cy="3510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9086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82C48-1D67-2641-CBA2-FCA28B5B35C7}"/>
              </a:ext>
            </a:extLst>
          </p:cNvPr>
          <p:cNvSpPr>
            <a:spLocks noGrp="1"/>
          </p:cNvSpPr>
          <p:nvPr>
            <p:ph type="title"/>
          </p:nvPr>
        </p:nvSpPr>
        <p:spPr/>
        <p:txBody>
          <a:bodyPr/>
          <a:lstStyle/>
          <a:p>
            <a:r>
              <a:rPr lang="en-GB" sz="4400" dirty="0">
                <a:effectLst/>
              </a:rPr>
              <a:t>One-way ANOVA</a:t>
            </a:r>
            <a:br>
              <a:rPr lang="en-GB" sz="4400" dirty="0">
                <a:effectLst/>
              </a:rPr>
            </a:br>
            <a:endParaRPr lang="en-DE" dirty="0"/>
          </a:p>
        </p:txBody>
      </p:sp>
      <p:pic>
        <p:nvPicPr>
          <p:cNvPr id="5122" name="Picture 2" descr="analysis of variance">
            <a:extLst>
              <a:ext uri="{FF2B5EF4-FFF2-40B4-BE49-F238E27FC236}">
                <a16:creationId xmlns:a16="http://schemas.microsoft.com/office/drawing/2014/main" id="{CC13ED1C-146A-CB48-5D87-771B29E2D91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26029" y="1737066"/>
            <a:ext cx="8556171" cy="4148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7798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F914D-C710-53AA-7E09-11EF42428D85}"/>
              </a:ext>
            </a:extLst>
          </p:cNvPr>
          <p:cNvSpPr>
            <a:spLocks noGrp="1"/>
          </p:cNvSpPr>
          <p:nvPr>
            <p:ph type="title"/>
          </p:nvPr>
        </p:nvSpPr>
        <p:spPr/>
        <p:txBody>
          <a:bodyPr>
            <a:normAutofit fontScale="90000"/>
          </a:bodyPr>
          <a:lstStyle/>
          <a:p>
            <a:r>
              <a:rPr lang="en-GB" b="0" i="0" dirty="0">
                <a:solidFill>
                  <a:srgbClr val="212529"/>
                </a:solidFill>
                <a:effectLst/>
                <a:latin typeface="Roboto" panose="02000000000000000000" pitchFamily="2" charset="0"/>
              </a:rPr>
              <a:t>Assumptions of the one-way analysis of variance</a:t>
            </a:r>
            <a:br>
              <a:rPr lang="en-GB" b="0" i="0" dirty="0">
                <a:solidFill>
                  <a:srgbClr val="212529"/>
                </a:solidFill>
                <a:effectLst/>
                <a:latin typeface="Roboto" panose="02000000000000000000" pitchFamily="2" charset="0"/>
              </a:rPr>
            </a:br>
            <a:endParaRPr lang="en-DE" dirty="0"/>
          </a:p>
        </p:txBody>
      </p:sp>
      <p:sp>
        <p:nvSpPr>
          <p:cNvPr id="3" name="Content Placeholder 2">
            <a:extLst>
              <a:ext uri="{FF2B5EF4-FFF2-40B4-BE49-F238E27FC236}">
                <a16:creationId xmlns:a16="http://schemas.microsoft.com/office/drawing/2014/main" id="{E4071415-6BE1-4DB9-9CF0-DC81A4E66929}"/>
              </a:ext>
            </a:extLst>
          </p:cNvPr>
          <p:cNvSpPr>
            <a:spLocks noGrp="1"/>
          </p:cNvSpPr>
          <p:nvPr>
            <p:ph idx="1"/>
          </p:nvPr>
        </p:nvSpPr>
        <p:spPr/>
        <p:txBody>
          <a:bodyPr>
            <a:normAutofit fontScale="70000" lnSpcReduction="20000"/>
          </a:bodyPr>
          <a:lstStyle/>
          <a:p>
            <a:pPr marL="0" indent="0">
              <a:buNone/>
            </a:pPr>
            <a:r>
              <a:rPr lang="en-GB" b="0" dirty="0">
                <a:effectLst/>
              </a:rPr>
              <a:t>1. Level of scale</a:t>
            </a:r>
          </a:p>
          <a:p>
            <a:pPr marL="0" indent="0">
              <a:buNone/>
            </a:pPr>
            <a:r>
              <a:rPr lang="en-GB" dirty="0">
                <a:effectLst/>
              </a:rPr>
              <a:t>The scale level of the dependent variable should be metric; that of the independent variable nominally scaled.</a:t>
            </a:r>
          </a:p>
          <a:p>
            <a:pPr marL="0" indent="0">
              <a:buNone/>
            </a:pPr>
            <a:r>
              <a:rPr lang="en-GB" b="0" dirty="0">
                <a:effectLst/>
              </a:rPr>
              <a:t>2. Independence</a:t>
            </a:r>
          </a:p>
          <a:p>
            <a:pPr marL="0" indent="0">
              <a:buNone/>
            </a:pPr>
            <a:r>
              <a:rPr lang="en-GB" dirty="0">
                <a:effectLst/>
              </a:rPr>
              <a:t>The measurements should be independent, i.e. the measured value of one group should not be influenced by the measured value of another group.</a:t>
            </a:r>
          </a:p>
          <a:p>
            <a:pPr marL="0" indent="0">
              <a:buNone/>
            </a:pPr>
            <a:r>
              <a:rPr lang="en-GB" b="0" dirty="0">
                <a:effectLst/>
              </a:rPr>
              <a:t>3. Homogeneity</a:t>
            </a:r>
          </a:p>
          <a:p>
            <a:pPr marL="0" indent="0">
              <a:buNone/>
            </a:pPr>
            <a:r>
              <a:rPr lang="en-GB" dirty="0">
                <a:effectLst/>
              </a:rPr>
              <a:t>The variances in each group should be approximately equal. This can be checked with the </a:t>
            </a:r>
            <a:r>
              <a:rPr lang="en-GB" dirty="0" err="1">
                <a:effectLst/>
              </a:rPr>
              <a:t>Levene</a:t>
            </a:r>
            <a:r>
              <a:rPr lang="en-GB" dirty="0">
                <a:effectLst/>
              </a:rPr>
              <a:t> test.</a:t>
            </a:r>
          </a:p>
          <a:p>
            <a:pPr marL="0" indent="0">
              <a:buNone/>
            </a:pPr>
            <a:r>
              <a:rPr lang="en-GB" b="0" dirty="0">
                <a:effectLst/>
              </a:rPr>
              <a:t>4. Normal distribution</a:t>
            </a:r>
          </a:p>
          <a:p>
            <a:pPr marL="0" indent="0">
              <a:buNone/>
            </a:pPr>
            <a:r>
              <a:rPr lang="en-GB" dirty="0">
                <a:effectLst/>
              </a:rPr>
              <a:t>The data within the groups should be normally distributed.</a:t>
            </a:r>
          </a:p>
          <a:p>
            <a:pPr marL="0" indent="0" algn="l">
              <a:buNone/>
            </a:pPr>
            <a:r>
              <a:rPr lang="en-GB" b="0" i="0" dirty="0">
                <a:solidFill>
                  <a:srgbClr val="212529"/>
                </a:solidFill>
                <a:effectLst/>
              </a:rPr>
              <a:t>What if the prerequisites are not met? If the scale level of the dependent variable is not metric and not normally distributed, then the </a:t>
            </a:r>
            <a:r>
              <a:rPr lang="en-GB" b="0" i="0" u="none" strike="noStrike" dirty="0">
                <a:solidFill>
                  <a:srgbClr val="018786"/>
                </a:solidFill>
                <a:effectLst/>
                <a:hlinkClick r:id="rId2"/>
              </a:rPr>
              <a:t>Kruskal-Wallis test</a:t>
            </a:r>
            <a:r>
              <a:rPr lang="en-GB" b="0" i="0" dirty="0">
                <a:solidFill>
                  <a:srgbClr val="212529"/>
                </a:solidFill>
                <a:effectLst/>
              </a:rPr>
              <a:t> can be used. If the data is a </a:t>
            </a:r>
            <a:r>
              <a:rPr lang="en-GB" b="0" i="0" u="none" strike="noStrike" dirty="0">
                <a:solidFill>
                  <a:srgbClr val="018786"/>
                </a:solidFill>
                <a:effectLst/>
                <a:hlinkClick r:id="rId3"/>
              </a:rPr>
              <a:t>dependent sample</a:t>
            </a:r>
            <a:r>
              <a:rPr lang="en-GB" b="0" i="0" dirty="0">
                <a:solidFill>
                  <a:srgbClr val="212529"/>
                </a:solidFill>
                <a:effectLst/>
              </a:rPr>
              <a:t>, then </a:t>
            </a:r>
            <a:r>
              <a:rPr lang="en-GB" b="0" i="0" u="none" strike="noStrike" dirty="0">
                <a:solidFill>
                  <a:srgbClr val="018786"/>
                </a:solidFill>
                <a:effectLst/>
                <a:hlinkClick r:id="rId4"/>
              </a:rPr>
              <a:t>analysis of variance with repeated measures</a:t>
            </a:r>
            <a:r>
              <a:rPr lang="en-GB" b="0" i="0" dirty="0">
                <a:solidFill>
                  <a:srgbClr val="212529"/>
                </a:solidFill>
                <a:effectLst/>
              </a:rPr>
              <a:t> must be used.</a:t>
            </a:r>
          </a:p>
          <a:p>
            <a:endParaRPr lang="en-DE" dirty="0"/>
          </a:p>
        </p:txBody>
      </p:sp>
    </p:spTree>
    <p:extLst>
      <p:ext uri="{BB962C8B-B14F-4D97-AF65-F5344CB8AC3E}">
        <p14:creationId xmlns:p14="http://schemas.microsoft.com/office/powerpoint/2010/main" val="1445634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F8139-E44F-9887-A377-1CA26EB05CB0}"/>
              </a:ext>
            </a:extLst>
          </p:cNvPr>
          <p:cNvSpPr>
            <a:spLocks noGrp="1"/>
          </p:cNvSpPr>
          <p:nvPr>
            <p:ph type="title"/>
          </p:nvPr>
        </p:nvSpPr>
        <p:spPr/>
        <p:txBody>
          <a:bodyPr/>
          <a:lstStyle/>
          <a:p>
            <a:r>
              <a:rPr lang="en-GB" sz="4400" b="0" i="0" dirty="0">
                <a:solidFill>
                  <a:srgbClr val="212529"/>
                </a:solidFill>
                <a:effectLst/>
                <a:latin typeface="+mn-lt"/>
              </a:rPr>
              <a:t>Analysis of variance hypotheses</a:t>
            </a:r>
            <a:endParaRPr lang="en-DE" dirty="0"/>
          </a:p>
        </p:txBody>
      </p:sp>
      <p:graphicFrame>
        <p:nvGraphicFramePr>
          <p:cNvPr id="6" name="Content Placeholder 5">
            <a:extLst>
              <a:ext uri="{FF2B5EF4-FFF2-40B4-BE49-F238E27FC236}">
                <a16:creationId xmlns:a16="http://schemas.microsoft.com/office/drawing/2014/main" id="{9A2390CA-CFF3-2B8B-BDE5-7A254CD1FDDA}"/>
              </a:ext>
            </a:extLst>
          </p:cNvPr>
          <p:cNvGraphicFramePr>
            <a:graphicFrameLocks noGrp="1"/>
          </p:cNvGraphicFramePr>
          <p:nvPr>
            <p:ph idx="1"/>
            <p:extLst>
              <p:ext uri="{D42A27DB-BD31-4B8C-83A1-F6EECF244321}">
                <p14:modId xmlns:p14="http://schemas.microsoft.com/office/powerpoint/2010/main" val="2948047319"/>
              </p:ext>
            </p:extLst>
          </p:nvPr>
        </p:nvGraphicFramePr>
        <p:xfrm>
          <a:off x="675063" y="1690688"/>
          <a:ext cx="10718346" cy="4046061"/>
        </p:xfrm>
        <a:graphic>
          <a:graphicData uri="http://schemas.openxmlformats.org/drawingml/2006/table">
            <a:tbl>
              <a:tblPr/>
              <a:tblGrid>
                <a:gridCol w="5197344">
                  <a:extLst>
                    <a:ext uri="{9D8B030D-6E8A-4147-A177-3AD203B41FA5}">
                      <a16:colId xmlns:a16="http://schemas.microsoft.com/office/drawing/2014/main" val="1399956010"/>
                    </a:ext>
                  </a:extLst>
                </a:gridCol>
                <a:gridCol w="5521002">
                  <a:extLst>
                    <a:ext uri="{9D8B030D-6E8A-4147-A177-3AD203B41FA5}">
                      <a16:colId xmlns:a16="http://schemas.microsoft.com/office/drawing/2014/main" val="451473783"/>
                    </a:ext>
                  </a:extLst>
                </a:gridCol>
              </a:tblGrid>
              <a:tr h="4046061">
                <a:tc>
                  <a:txBody>
                    <a:bodyPr/>
                    <a:lstStyle/>
                    <a:p>
                      <a:pPr fontAlgn="t">
                        <a:buFont typeface="Arial" panose="020B0604020202020204" pitchFamily="34" charset="0"/>
                        <a:buChar char="•"/>
                      </a:pPr>
                      <a:r>
                        <a:rPr lang="en-GB" b="1" dirty="0">
                          <a:effectLst/>
                          <a:latin typeface="+mn-lt"/>
                        </a:rPr>
                        <a:t>Null Hypothesis:</a:t>
                      </a:r>
                      <a:br>
                        <a:rPr lang="en-GB" dirty="0">
                          <a:effectLst/>
                          <a:latin typeface="+mn-lt"/>
                        </a:rPr>
                      </a:br>
                      <a:r>
                        <a:rPr lang="en-GB" dirty="0">
                          <a:effectLst/>
                          <a:latin typeface="+mn-lt"/>
                        </a:rPr>
                        <a:t>"There is not a significant difference between the groups; any observed differences may be due to chance and sampling error."</a:t>
                      </a:r>
                      <a:br>
                        <a:rPr lang="en-GB" dirty="0">
                          <a:effectLst/>
                          <a:latin typeface="+mn-lt"/>
                        </a:rPr>
                      </a:br>
                      <a:br>
                        <a:rPr lang="en-GB" dirty="0">
                          <a:effectLst/>
                          <a:latin typeface="+mn-lt"/>
                        </a:rPr>
                      </a:br>
                      <a:r>
                        <a:rPr lang="en-GB" dirty="0">
                          <a:effectLst/>
                          <a:latin typeface="+mn-lt"/>
                        </a:rPr>
                        <a:t>For example:  There is no significant difference between the number of birds at the different locations; the differences we see in the means of the groups may be due to chance and sampling error.</a:t>
                      </a:r>
                    </a:p>
                  </a:txBody>
                  <a:tcPr marL="142875" marR="142875">
                    <a:lnL>
                      <a:noFill/>
                    </a:lnL>
                    <a:lnR>
                      <a:noFill/>
                    </a:lnR>
                    <a:lnT>
                      <a:noFill/>
                    </a:lnT>
                    <a:lnB>
                      <a:noFill/>
                    </a:lnB>
                  </a:tcPr>
                </a:tc>
                <a:tc>
                  <a:txBody>
                    <a:bodyPr/>
                    <a:lstStyle/>
                    <a:p>
                      <a:pPr fontAlgn="t">
                        <a:buFont typeface="Arial" panose="020B0604020202020204" pitchFamily="34" charset="0"/>
                        <a:buChar char="•"/>
                      </a:pPr>
                      <a:r>
                        <a:rPr lang="en-GB" b="1" dirty="0">
                          <a:effectLst/>
                          <a:latin typeface="+mn-lt"/>
                        </a:rPr>
                        <a:t>Alternative Hypothesis:</a:t>
                      </a:r>
                      <a:br>
                        <a:rPr lang="en-GB" dirty="0">
                          <a:effectLst/>
                          <a:latin typeface="+mn-lt"/>
                        </a:rPr>
                      </a:br>
                      <a:r>
                        <a:rPr lang="en-GB" dirty="0">
                          <a:effectLst/>
                          <a:latin typeface="+mn-lt"/>
                        </a:rPr>
                        <a:t>"There is a significant difference between the groups; the observed differences are most likely not due to chance or sampling error."</a:t>
                      </a:r>
                      <a:br>
                        <a:rPr lang="en-GB" dirty="0">
                          <a:effectLst/>
                          <a:latin typeface="+mn-lt"/>
                        </a:rPr>
                      </a:br>
                      <a:br>
                        <a:rPr lang="en-GB" dirty="0">
                          <a:effectLst/>
                          <a:latin typeface="+mn-lt"/>
                        </a:rPr>
                      </a:br>
                      <a:r>
                        <a:rPr lang="en-GB" dirty="0">
                          <a:effectLst/>
                          <a:latin typeface="+mn-lt"/>
                        </a:rPr>
                        <a:t>For example:  There is a significant difference between the number of birds at the different locations; the difference we see in the means of the groups is mostly likely not due to chance or sampling error.</a:t>
                      </a:r>
                    </a:p>
                  </a:txBody>
                  <a:tcPr marL="142875" marR="142875">
                    <a:lnL>
                      <a:noFill/>
                    </a:lnL>
                    <a:lnR>
                      <a:noFill/>
                    </a:lnR>
                    <a:lnT>
                      <a:noFill/>
                    </a:lnT>
                    <a:lnB>
                      <a:noFill/>
                    </a:lnB>
                  </a:tcPr>
                </a:tc>
                <a:extLst>
                  <a:ext uri="{0D108BD9-81ED-4DB2-BD59-A6C34878D82A}">
                    <a16:rowId xmlns:a16="http://schemas.microsoft.com/office/drawing/2014/main" val="3888832101"/>
                  </a:ext>
                </a:extLst>
              </a:tr>
            </a:tbl>
          </a:graphicData>
        </a:graphic>
      </p:graphicFrame>
      <p:sp>
        <p:nvSpPr>
          <p:cNvPr id="7" name="Rectangle 2">
            <a:extLst>
              <a:ext uri="{FF2B5EF4-FFF2-40B4-BE49-F238E27FC236}">
                <a16:creationId xmlns:a16="http://schemas.microsoft.com/office/drawing/2014/main" id="{E5F612EC-A808-C6C2-FCB4-A10D3F871F66}"/>
              </a:ext>
            </a:extLst>
          </p:cNvPr>
          <p:cNvSpPr>
            <a:spLocks noChangeArrowheads="1"/>
          </p:cNvSpPr>
          <p:nvPr/>
        </p:nvSpPr>
        <p:spPr bwMode="auto">
          <a:xfrm>
            <a:off x="-1186544" y="-258616"/>
            <a:ext cx="14441561" cy="562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4914" rIns="0" bIns="34914"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DE" altLang="en-DE" sz="1400" b="0" i="0" u="none" strike="noStrike" cap="none" normalizeH="0" baseline="0">
                <a:ln>
                  <a:noFill/>
                </a:ln>
                <a:solidFill>
                  <a:srgbClr val="3E3E3E"/>
                </a:solidFill>
                <a:effectLst/>
                <a:latin typeface="Catamaran"/>
              </a:rPr>
              <a:t>Just like the T-test, the ANOVA tests the null and alternative hypothesis:</a:t>
            </a:r>
            <a:endParaRPr kumimoji="0" lang="en-DE" altLang="en-DE" sz="1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DE" altLang="en-DE"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30018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2A365-D334-FA7C-4256-04A5B24DC5BD}"/>
              </a:ext>
            </a:extLst>
          </p:cNvPr>
          <p:cNvSpPr>
            <a:spLocks noGrp="1"/>
          </p:cNvSpPr>
          <p:nvPr>
            <p:ph type="title"/>
          </p:nvPr>
        </p:nvSpPr>
        <p:spPr/>
        <p:txBody>
          <a:bodyPr/>
          <a:lstStyle/>
          <a:p>
            <a:r>
              <a:rPr lang="en-GB" sz="4400" b="0" i="0" dirty="0">
                <a:solidFill>
                  <a:srgbClr val="212529"/>
                </a:solidFill>
                <a:effectLst/>
                <a:latin typeface="+mn-lt"/>
              </a:rPr>
              <a:t>Analysis of variance hypotheses</a:t>
            </a:r>
            <a:br>
              <a:rPr lang="en-GB" sz="4400" b="0" i="0" dirty="0">
                <a:solidFill>
                  <a:srgbClr val="212529"/>
                </a:solidFill>
                <a:effectLst/>
                <a:latin typeface="+mn-lt"/>
              </a:rPr>
            </a:br>
            <a:endParaRPr lang="en-DE" dirty="0">
              <a:latin typeface="+mn-lt"/>
            </a:endParaRPr>
          </a:p>
        </p:txBody>
      </p:sp>
      <p:graphicFrame>
        <p:nvGraphicFramePr>
          <p:cNvPr id="4" name="Content Placeholder 3">
            <a:extLst>
              <a:ext uri="{FF2B5EF4-FFF2-40B4-BE49-F238E27FC236}">
                <a16:creationId xmlns:a16="http://schemas.microsoft.com/office/drawing/2014/main" id="{AF0FB1CD-88F0-7BC6-08C8-1CA14F140998}"/>
              </a:ext>
            </a:extLst>
          </p:cNvPr>
          <p:cNvGraphicFramePr>
            <a:graphicFrameLocks noGrp="1"/>
          </p:cNvGraphicFramePr>
          <p:nvPr>
            <p:ph idx="1"/>
            <p:extLst>
              <p:ext uri="{D42A27DB-BD31-4B8C-83A1-F6EECF244321}">
                <p14:modId xmlns:p14="http://schemas.microsoft.com/office/powerpoint/2010/main" val="1323310821"/>
              </p:ext>
            </p:extLst>
          </p:nvPr>
        </p:nvGraphicFramePr>
        <p:xfrm>
          <a:off x="740228" y="4561205"/>
          <a:ext cx="10515600" cy="1931670"/>
        </p:xfrm>
        <a:graphic>
          <a:graphicData uri="http://schemas.openxmlformats.org/drawingml/2006/table">
            <a:tbl>
              <a:tblPr>
                <a:tableStyleId>{08FB837D-C827-4EFA-A057-4D05807E0F7C}</a:tableStyleId>
              </a:tblPr>
              <a:tblGrid>
                <a:gridCol w="3505200">
                  <a:extLst>
                    <a:ext uri="{9D8B030D-6E8A-4147-A177-3AD203B41FA5}">
                      <a16:colId xmlns:a16="http://schemas.microsoft.com/office/drawing/2014/main" val="1312182724"/>
                    </a:ext>
                  </a:extLst>
                </a:gridCol>
                <a:gridCol w="3505200">
                  <a:extLst>
                    <a:ext uri="{9D8B030D-6E8A-4147-A177-3AD203B41FA5}">
                      <a16:colId xmlns:a16="http://schemas.microsoft.com/office/drawing/2014/main" val="3741121884"/>
                    </a:ext>
                  </a:extLst>
                </a:gridCol>
                <a:gridCol w="3505200">
                  <a:extLst>
                    <a:ext uri="{9D8B030D-6E8A-4147-A177-3AD203B41FA5}">
                      <a16:colId xmlns:a16="http://schemas.microsoft.com/office/drawing/2014/main" val="3411600868"/>
                    </a:ext>
                  </a:extLst>
                </a:gridCol>
              </a:tblGrid>
              <a:tr h="0">
                <a:tc>
                  <a:txBody>
                    <a:bodyPr/>
                    <a:lstStyle/>
                    <a:p>
                      <a:pPr algn="l" fontAlgn="b"/>
                      <a:endParaRPr lang="en-GB" dirty="0">
                        <a:effectLst/>
                      </a:endParaRPr>
                    </a:p>
                  </a:txBody>
                  <a:tcPr marL="95250" marR="95250" marT="47625" marB="47625" anchor="b"/>
                </a:tc>
                <a:tc>
                  <a:txBody>
                    <a:bodyPr/>
                    <a:lstStyle/>
                    <a:p>
                      <a:pPr algn="l" fontAlgn="b"/>
                      <a:br>
                        <a:rPr lang="en-GB" dirty="0">
                          <a:effectLst/>
                        </a:rPr>
                      </a:br>
                      <a:r>
                        <a:rPr lang="en-GB" dirty="0">
                          <a:effectLst/>
                        </a:rPr>
                        <a:t>Dependent variable</a:t>
                      </a:r>
                    </a:p>
                  </a:txBody>
                  <a:tcPr marL="95250" marR="95250" marT="47625" marB="47625" anchor="b"/>
                </a:tc>
                <a:tc>
                  <a:txBody>
                    <a:bodyPr/>
                    <a:lstStyle/>
                    <a:p>
                      <a:pPr algn="l" fontAlgn="b"/>
                      <a:r>
                        <a:rPr lang="en-GB" dirty="0">
                          <a:effectLst/>
                        </a:rPr>
                        <a:t>Independent variable</a:t>
                      </a:r>
                    </a:p>
                  </a:txBody>
                  <a:tcPr marL="95250" marR="95250" marT="47625" marB="47625" anchor="b"/>
                </a:tc>
                <a:extLst>
                  <a:ext uri="{0D108BD9-81ED-4DB2-BD59-A6C34878D82A}">
                    <a16:rowId xmlns:a16="http://schemas.microsoft.com/office/drawing/2014/main" val="2622234343"/>
                  </a:ext>
                </a:extLst>
              </a:tr>
              <a:tr h="0">
                <a:tc>
                  <a:txBody>
                    <a:bodyPr/>
                    <a:lstStyle/>
                    <a:p>
                      <a:pPr algn="l" fontAlgn="t"/>
                      <a:r>
                        <a:rPr lang="en-GB" dirty="0">
                          <a:effectLst/>
                        </a:rPr>
                        <a:t>Level of measurement</a:t>
                      </a:r>
                    </a:p>
                  </a:txBody>
                  <a:tcPr marL="95250" marR="95250" marT="47625" marB="47625"/>
                </a:tc>
                <a:tc>
                  <a:txBody>
                    <a:bodyPr/>
                    <a:lstStyle/>
                    <a:p>
                      <a:pPr fontAlgn="t"/>
                      <a:r>
                        <a:rPr lang="en-GB" dirty="0">
                          <a:effectLst/>
                        </a:rPr>
                        <a:t>An metric-scaled variable</a:t>
                      </a:r>
                    </a:p>
                  </a:txBody>
                  <a:tcPr marL="95250" marR="95250" marT="47625" marB="47625"/>
                </a:tc>
                <a:tc>
                  <a:txBody>
                    <a:bodyPr/>
                    <a:lstStyle/>
                    <a:p>
                      <a:pPr fontAlgn="t"/>
                      <a:r>
                        <a:rPr lang="en-GB" dirty="0">
                          <a:effectLst/>
                        </a:rPr>
                        <a:t>A nominally scaled variable with</a:t>
                      </a:r>
                      <a:br>
                        <a:rPr lang="en-GB" dirty="0">
                          <a:effectLst/>
                        </a:rPr>
                      </a:br>
                      <a:r>
                        <a:rPr lang="en-GB" dirty="0">
                          <a:effectLst/>
                        </a:rPr>
                        <a:t>more than two levels</a:t>
                      </a:r>
                    </a:p>
                  </a:txBody>
                  <a:tcPr marL="95250" marR="95250" marT="47625" marB="47625"/>
                </a:tc>
                <a:extLst>
                  <a:ext uri="{0D108BD9-81ED-4DB2-BD59-A6C34878D82A}">
                    <a16:rowId xmlns:a16="http://schemas.microsoft.com/office/drawing/2014/main" val="856958777"/>
                  </a:ext>
                </a:extLst>
              </a:tr>
              <a:tr h="0">
                <a:tc>
                  <a:txBody>
                    <a:bodyPr/>
                    <a:lstStyle/>
                    <a:p>
                      <a:pPr algn="l" fontAlgn="t"/>
                      <a:r>
                        <a:rPr lang="en-GB" dirty="0">
                          <a:effectLst/>
                        </a:rPr>
                        <a:t>Example</a:t>
                      </a:r>
                    </a:p>
                  </a:txBody>
                  <a:tcPr marL="95250" marR="95250" marT="47625" marB="47625"/>
                </a:tc>
                <a:tc>
                  <a:txBody>
                    <a:bodyPr/>
                    <a:lstStyle/>
                    <a:p>
                      <a:pPr fontAlgn="t"/>
                      <a:r>
                        <a:rPr lang="en-GB">
                          <a:effectLst/>
                        </a:rPr>
                        <a:t>Weekly coffee consumption</a:t>
                      </a:r>
                    </a:p>
                  </a:txBody>
                  <a:tcPr marL="95250" marR="95250" marT="47625" marB="47625"/>
                </a:tc>
                <a:tc>
                  <a:txBody>
                    <a:bodyPr/>
                    <a:lstStyle/>
                    <a:p>
                      <a:pPr fontAlgn="t"/>
                      <a:r>
                        <a:rPr lang="en-GB" dirty="0">
                          <a:effectLst/>
                        </a:rPr>
                        <a:t>Subject (math, psychology, economics)</a:t>
                      </a:r>
                    </a:p>
                  </a:txBody>
                  <a:tcPr marL="95250" marR="95250" marT="47625" marB="47625"/>
                </a:tc>
                <a:extLst>
                  <a:ext uri="{0D108BD9-81ED-4DB2-BD59-A6C34878D82A}">
                    <a16:rowId xmlns:a16="http://schemas.microsoft.com/office/drawing/2014/main" val="4015383951"/>
                  </a:ext>
                </a:extLst>
              </a:tr>
            </a:tbl>
          </a:graphicData>
        </a:graphic>
      </p:graphicFrame>
      <p:sp>
        <p:nvSpPr>
          <p:cNvPr id="6" name="TextBox 5">
            <a:extLst>
              <a:ext uri="{FF2B5EF4-FFF2-40B4-BE49-F238E27FC236}">
                <a16:creationId xmlns:a16="http://schemas.microsoft.com/office/drawing/2014/main" id="{B81C524C-5AE4-CBE0-FB05-5A2C419B9E55}"/>
              </a:ext>
            </a:extLst>
          </p:cNvPr>
          <p:cNvSpPr txBox="1"/>
          <p:nvPr/>
        </p:nvSpPr>
        <p:spPr>
          <a:xfrm>
            <a:off x="1034143" y="2002971"/>
            <a:ext cx="9818914" cy="1938992"/>
          </a:xfrm>
          <a:prstGeom prst="rect">
            <a:avLst/>
          </a:prstGeom>
          <a:noFill/>
        </p:spPr>
        <p:txBody>
          <a:bodyPr wrap="square">
            <a:spAutoFit/>
          </a:bodyPr>
          <a:lstStyle/>
          <a:p>
            <a:pPr algn="l"/>
            <a:r>
              <a:rPr lang="en-GB" sz="2400" b="0" i="0" dirty="0">
                <a:solidFill>
                  <a:srgbClr val="212529"/>
                </a:solidFill>
                <a:effectLst/>
              </a:rPr>
              <a:t>The null hypothesis and the alternative hypothesis result from a one-way analysis of variance as follows:</a:t>
            </a:r>
          </a:p>
          <a:p>
            <a:pPr algn="l">
              <a:buFont typeface="Arial" panose="020B0604020202020204" pitchFamily="34" charset="0"/>
              <a:buChar char="•"/>
            </a:pPr>
            <a:r>
              <a:rPr lang="en-GB" sz="2400" b="0" i="0" dirty="0">
                <a:solidFill>
                  <a:srgbClr val="212529"/>
                </a:solidFill>
                <a:effectLst/>
              </a:rPr>
              <a:t>Null hypothesis H</a:t>
            </a:r>
            <a:r>
              <a:rPr lang="en-GB" sz="2400" b="0" i="0" baseline="-25000" dirty="0">
                <a:solidFill>
                  <a:srgbClr val="212529"/>
                </a:solidFill>
                <a:effectLst/>
              </a:rPr>
              <a:t>0</a:t>
            </a:r>
            <a:r>
              <a:rPr lang="en-GB" sz="2400" b="0" i="0" dirty="0">
                <a:solidFill>
                  <a:srgbClr val="212529"/>
                </a:solidFill>
                <a:effectLst/>
              </a:rPr>
              <a:t>: The mean value of all groups is the same.</a:t>
            </a:r>
          </a:p>
          <a:p>
            <a:pPr algn="l">
              <a:buFont typeface="Arial" panose="020B0604020202020204" pitchFamily="34" charset="0"/>
              <a:buChar char="•"/>
            </a:pPr>
            <a:r>
              <a:rPr lang="en-GB" sz="2400" b="0" i="0" dirty="0">
                <a:solidFill>
                  <a:srgbClr val="212529"/>
                </a:solidFill>
                <a:effectLst/>
              </a:rPr>
              <a:t>Alternative hypothesis H</a:t>
            </a:r>
            <a:r>
              <a:rPr lang="en-GB" sz="2400" b="0" i="0" baseline="-25000" dirty="0">
                <a:solidFill>
                  <a:srgbClr val="212529"/>
                </a:solidFill>
                <a:effectLst/>
              </a:rPr>
              <a:t>1</a:t>
            </a:r>
            <a:r>
              <a:rPr lang="en-GB" sz="2400" b="0" i="0" dirty="0">
                <a:solidFill>
                  <a:srgbClr val="212529"/>
                </a:solidFill>
                <a:effectLst/>
              </a:rPr>
              <a:t>: There are differences in the mean values of the groups.</a:t>
            </a:r>
          </a:p>
        </p:txBody>
      </p:sp>
    </p:spTree>
    <p:extLst>
      <p:ext uri="{BB962C8B-B14F-4D97-AF65-F5344CB8AC3E}">
        <p14:creationId xmlns:p14="http://schemas.microsoft.com/office/powerpoint/2010/main" val="2229692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alculate one factor analysis of variance">
            <a:extLst>
              <a:ext uri="{FF2B5EF4-FFF2-40B4-BE49-F238E27FC236}">
                <a16:creationId xmlns:a16="http://schemas.microsoft.com/office/drawing/2014/main" id="{11FE80DF-F8F6-8FF8-2086-96DD35EC8A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760" y="0"/>
            <a:ext cx="6881811" cy="683592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41EB5D3-D299-FA0A-0C8F-A776F243D9D0}"/>
              </a:ext>
            </a:extLst>
          </p:cNvPr>
          <p:cNvSpPr txBox="1"/>
          <p:nvPr/>
        </p:nvSpPr>
        <p:spPr>
          <a:xfrm>
            <a:off x="7883297" y="1155803"/>
            <a:ext cx="4005943" cy="4524315"/>
          </a:xfrm>
          <a:prstGeom prst="rect">
            <a:avLst/>
          </a:prstGeom>
          <a:noFill/>
        </p:spPr>
        <p:txBody>
          <a:bodyPr wrap="square">
            <a:spAutoFit/>
          </a:bodyPr>
          <a:lstStyle/>
          <a:p>
            <a:pPr algn="l"/>
            <a:r>
              <a:rPr lang="en-GB" sz="2400" b="0" i="0" dirty="0">
                <a:solidFill>
                  <a:srgbClr val="212529"/>
                </a:solidFill>
                <a:effectLst/>
              </a:rPr>
              <a:t>The p-value can then be calculated from the F-value and the degrees of freedom using the F-distribution.</a:t>
            </a:r>
          </a:p>
          <a:p>
            <a:pPr algn="l"/>
            <a:endParaRPr lang="en-GB" sz="2400" dirty="0">
              <a:solidFill>
                <a:srgbClr val="212529"/>
              </a:solidFill>
            </a:endParaRPr>
          </a:p>
          <a:p>
            <a:pPr algn="l"/>
            <a:r>
              <a:rPr lang="en-GB" sz="2400" b="0" i="0" dirty="0">
                <a:solidFill>
                  <a:srgbClr val="212529"/>
                </a:solidFill>
                <a:effectLst/>
              </a:rPr>
              <a:t>p-value &gt;0.05 (null hypothesis accepted)</a:t>
            </a:r>
          </a:p>
          <a:p>
            <a:pPr algn="l"/>
            <a:endParaRPr lang="en-GB" sz="2400" dirty="0">
              <a:solidFill>
                <a:srgbClr val="212529"/>
              </a:solidFill>
            </a:endParaRPr>
          </a:p>
          <a:p>
            <a:pPr algn="l"/>
            <a:r>
              <a:rPr lang="en-GB" sz="2400" b="0" i="0" dirty="0">
                <a:solidFill>
                  <a:srgbClr val="212529"/>
                </a:solidFill>
                <a:effectLst/>
              </a:rPr>
              <a:t>p-value &lt;0.05 (null hypothesis rejected)</a:t>
            </a:r>
          </a:p>
          <a:p>
            <a:br>
              <a:rPr lang="en-GB" sz="2400" dirty="0"/>
            </a:br>
            <a:endParaRPr lang="en-DE" sz="2400" dirty="0"/>
          </a:p>
        </p:txBody>
      </p:sp>
    </p:spTree>
    <p:extLst>
      <p:ext uri="{BB962C8B-B14F-4D97-AF65-F5344CB8AC3E}">
        <p14:creationId xmlns:p14="http://schemas.microsoft.com/office/powerpoint/2010/main" val="4292423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6DF63-FFD1-A94E-2468-7A2DCCA96A73}"/>
              </a:ext>
            </a:extLst>
          </p:cNvPr>
          <p:cNvSpPr>
            <a:spLocks noGrp="1"/>
          </p:cNvSpPr>
          <p:nvPr>
            <p:ph type="title"/>
          </p:nvPr>
        </p:nvSpPr>
        <p:spPr/>
        <p:txBody>
          <a:bodyPr/>
          <a:lstStyle/>
          <a:p>
            <a:endParaRPr lang="en-DE"/>
          </a:p>
        </p:txBody>
      </p:sp>
      <p:sp>
        <p:nvSpPr>
          <p:cNvPr id="3" name="Content Placeholder 2">
            <a:extLst>
              <a:ext uri="{FF2B5EF4-FFF2-40B4-BE49-F238E27FC236}">
                <a16:creationId xmlns:a16="http://schemas.microsoft.com/office/drawing/2014/main" id="{F60795B6-C7F6-3B02-ABE9-866A547CA239}"/>
              </a:ext>
            </a:extLst>
          </p:cNvPr>
          <p:cNvSpPr>
            <a:spLocks noGrp="1"/>
          </p:cNvSpPr>
          <p:nvPr>
            <p:ph idx="1"/>
          </p:nvPr>
        </p:nvSpPr>
        <p:spPr/>
        <p:txBody>
          <a:bodyPr/>
          <a:lstStyle/>
          <a:p>
            <a:pPr algn="l">
              <a:buFont typeface="Arial" panose="020B0604020202020204" pitchFamily="34" charset="0"/>
              <a:buChar char="•"/>
            </a:pPr>
            <a:r>
              <a:rPr lang="en-GB" b="1" i="0" u="none" strike="noStrike" dirty="0">
                <a:solidFill>
                  <a:srgbClr val="05192D"/>
                </a:solidFill>
                <a:effectLst/>
                <a:latin typeface="Studio-Feixen-Sans"/>
              </a:rPr>
              <a:t>F-statistic</a:t>
            </a:r>
            <a:r>
              <a:rPr lang="en-GB" b="0" i="0" u="none" strike="noStrike" dirty="0">
                <a:solidFill>
                  <a:srgbClr val="05192D"/>
                </a:solidFill>
                <a:effectLst/>
                <a:latin typeface="Studio-Feixen-Sans"/>
              </a:rPr>
              <a:t>: The F-statistic measures the ratio of between-group variation to within-group variation. A higher F-statistic indicates a more significant difference between group means relative to random variation.</a:t>
            </a:r>
          </a:p>
          <a:p>
            <a:pPr algn="l">
              <a:buFont typeface="Arial" panose="020B0604020202020204" pitchFamily="34" charset="0"/>
              <a:buChar char="•"/>
            </a:pPr>
            <a:r>
              <a:rPr lang="en-GB" b="1" i="0" u="none" strike="noStrike" dirty="0">
                <a:solidFill>
                  <a:srgbClr val="05192D"/>
                </a:solidFill>
                <a:effectLst/>
                <a:latin typeface="Studio-Feixen-Sans"/>
              </a:rPr>
              <a:t>P-value</a:t>
            </a:r>
            <a:r>
              <a:rPr lang="en-GB" b="0" i="0" u="none" strike="noStrike" dirty="0">
                <a:solidFill>
                  <a:srgbClr val="05192D"/>
                </a:solidFill>
                <a:effectLst/>
                <a:latin typeface="Studio-Feixen-Sans"/>
              </a:rPr>
              <a:t>: The p-value determines whether the differences between group means are statistically significant. If the p-value is below a predefined threshold (commonly 0.05), reject the null hypothesis and conclude that at least one group has a significantly different mean.</a:t>
            </a:r>
          </a:p>
          <a:p>
            <a:endParaRPr lang="en-DE" dirty="0"/>
          </a:p>
        </p:txBody>
      </p:sp>
    </p:spTree>
    <p:extLst>
      <p:ext uri="{BB962C8B-B14F-4D97-AF65-F5344CB8AC3E}">
        <p14:creationId xmlns:p14="http://schemas.microsoft.com/office/powerpoint/2010/main" val="3261675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7F6B7-C7B3-FD75-DF51-B4ED5AD2029F}"/>
              </a:ext>
            </a:extLst>
          </p:cNvPr>
          <p:cNvSpPr>
            <a:spLocks noGrp="1"/>
          </p:cNvSpPr>
          <p:nvPr>
            <p:ph type="title"/>
          </p:nvPr>
        </p:nvSpPr>
        <p:spPr>
          <a:xfrm>
            <a:off x="642257" y="0"/>
            <a:ext cx="10515600" cy="1325563"/>
          </a:xfrm>
        </p:spPr>
        <p:txBody>
          <a:bodyPr/>
          <a:lstStyle/>
          <a:p>
            <a:r>
              <a:rPr lang="en-DE" dirty="0"/>
              <a:t>Interpreting ANOVA</a:t>
            </a:r>
          </a:p>
        </p:txBody>
      </p:sp>
      <p:pic>
        <p:nvPicPr>
          <p:cNvPr id="9218" name="Picture 2" descr="one factor analysis of variance hypotheses">
            <a:extLst>
              <a:ext uri="{FF2B5EF4-FFF2-40B4-BE49-F238E27FC236}">
                <a16:creationId xmlns:a16="http://schemas.microsoft.com/office/drawing/2014/main" id="{C48B0BFB-89B5-BFD6-03D4-A6D82BDE7A1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41172" y="0"/>
            <a:ext cx="5324800" cy="6522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6608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0105676-082E-60DC-BC35-A88878150B77}"/>
              </a:ext>
            </a:extLst>
          </p:cNvPr>
          <p:cNvSpPr>
            <a:spLocks noGrp="1"/>
          </p:cNvSpPr>
          <p:nvPr>
            <p:ph idx="1"/>
          </p:nvPr>
        </p:nvSpPr>
        <p:spPr>
          <a:xfrm>
            <a:off x="838200" y="388711"/>
            <a:ext cx="10515600" cy="4351338"/>
          </a:xfrm>
        </p:spPr>
        <p:txBody>
          <a:bodyPr/>
          <a:lstStyle/>
          <a:p>
            <a:r>
              <a:rPr lang="en-GB" b="0" i="0" dirty="0">
                <a:solidFill>
                  <a:srgbClr val="212529"/>
                </a:solidFill>
                <a:effectLst/>
              </a:rPr>
              <a:t>The </a:t>
            </a:r>
            <a:r>
              <a:rPr lang="en-GB" b="0" i="0" dirty="0" err="1">
                <a:solidFill>
                  <a:srgbClr val="212529"/>
                </a:solidFill>
                <a:effectLst/>
              </a:rPr>
              <a:t>Levene</a:t>
            </a:r>
            <a:r>
              <a:rPr lang="en-GB" b="0" i="0" dirty="0">
                <a:solidFill>
                  <a:srgbClr val="212529"/>
                </a:solidFill>
                <a:effectLst/>
              </a:rPr>
              <a:t> test yields a p-value of 0.184, which is greater than the significance level of 0.05. Thus, the null hypothesis is confirmed, which indicates that the variances of the different groups are equal and, hence, the variance homogeneity is present.</a:t>
            </a:r>
          </a:p>
          <a:p>
            <a:r>
              <a:rPr lang="en-GB" b="0" i="0" dirty="0">
                <a:solidFill>
                  <a:srgbClr val="212529"/>
                </a:solidFill>
                <a:effectLst/>
              </a:rPr>
              <a:t>If the condition of variance homogeneity is not fulfilled, Welch's ANOVA can be calculated instead of the "normal" ANOVA</a:t>
            </a:r>
            <a:endParaRPr lang="en-DE" dirty="0"/>
          </a:p>
        </p:txBody>
      </p:sp>
      <p:pic>
        <p:nvPicPr>
          <p:cNvPr id="8200" name="Picture 8" descr="Single Factor ANOVA Calculator">
            <a:extLst>
              <a:ext uri="{FF2B5EF4-FFF2-40B4-BE49-F238E27FC236}">
                <a16:creationId xmlns:a16="http://schemas.microsoft.com/office/drawing/2014/main" id="{68C355D8-E7A2-2613-D8EC-BF54FAA8D0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2593" y="2872852"/>
            <a:ext cx="6986814" cy="39851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9376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D8DA7-297A-1AB3-25C5-B69EF5FA99F3}"/>
              </a:ext>
            </a:extLst>
          </p:cNvPr>
          <p:cNvSpPr>
            <a:spLocks noGrp="1"/>
          </p:cNvSpPr>
          <p:nvPr>
            <p:ph type="title"/>
          </p:nvPr>
        </p:nvSpPr>
        <p:spPr/>
        <p:txBody>
          <a:bodyPr/>
          <a:lstStyle/>
          <a:p>
            <a:r>
              <a:rPr lang="en-GB" b="0" i="0" dirty="0">
                <a:solidFill>
                  <a:srgbClr val="212529"/>
                </a:solidFill>
                <a:effectLst/>
                <a:latin typeface="Roboto" panose="02000000000000000000" pitchFamily="2" charset="0"/>
              </a:rPr>
              <a:t>Bonferroni post-hoc tests</a:t>
            </a:r>
            <a:br>
              <a:rPr lang="en-GB" b="0" i="0" dirty="0">
                <a:solidFill>
                  <a:srgbClr val="212529"/>
                </a:solidFill>
                <a:effectLst/>
                <a:latin typeface="Roboto" panose="02000000000000000000" pitchFamily="2" charset="0"/>
              </a:rPr>
            </a:br>
            <a:endParaRPr lang="en-DE" dirty="0"/>
          </a:p>
        </p:txBody>
      </p:sp>
      <p:pic>
        <p:nvPicPr>
          <p:cNvPr id="10242" name="Picture 2" descr="Single Factor ANOVA Bonferroni Post-hoc Tests">
            <a:extLst>
              <a:ext uri="{FF2B5EF4-FFF2-40B4-BE49-F238E27FC236}">
                <a16:creationId xmlns:a16="http://schemas.microsoft.com/office/drawing/2014/main" id="{23DDF85D-ECCC-164F-A663-2E47725E0CE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1049" y="1354477"/>
            <a:ext cx="5803900" cy="1981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991C578-5D28-F0F8-E928-CF19094E3A11}"/>
              </a:ext>
            </a:extLst>
          </p:cNvPr>
          <p:cNvSpPr txBox="1"/>
          <p:nvPr/>
        </p:nvSpPr>
        <p:spPr>
          <a:xfrm>
            <a:off x="838199" y="4325029"/>
            <a:ext cx="10384971" cy="923330"/>
          </a:xfrm>
          <a:prstGeom prst="rect">
            <a:avLst/>
          </a:prstGeom>
          <a:noFill/>
        </p:spPr>
        <p:txBody>
          <a:bodyPr wrap="square">
            <a:spAutoFit/>
          </a:bodyPr>
          <a:lstStyle/>
          <a:p>
            <a:r>
              <a:rPr lang="en-GB" b="0" i="0" dirty="0">
                <a:solidFill>
                  <a:srgbClr val="212529"/>
                </a:solidFill>
                <a:effectLst/>
              </a:rPr>
              <a:t>If the p-value of the analysis of variance is less than 0.05, it can be assumed that at least two groups differ in mean value. With the help of the Bonferroni post-hoc test, it can now be checked which of the groups differed.</a:t>
            </a:r>
            <a:endParaRPr lang="en-DE" dirty="0"/>
          </a:p>
        </p:txBody>
      </p:sp>
    </p:spTree>
    <p:extLst>
      <p:ext uri="{BB962C8B-B14F-4D97-AF65-F5344CB8AC3E}">
        <p14:creationId xmlns:p14="http://schemas.microsoft.com/office/powerpoint/2010/main" val="4183062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14D3D-79D6-A57C-2AEA-58CD25E446F0}"/>
              </a:ext>
            </a:extLst>
          </p:cNvPr>
          <p:cNvSpPr>
            <a:spLocks noGrp="1"/>
          </p:cNvSpPr>
          <p:nvPr>
            <p:ph type="title"/>
          </p:nvPr>
        </p:nvSpPr>
        <p:spPr/>
        <p:txBody>
          <a:bodyPr/>
          <a:lstStyle/>
          <a:p>
            <a:r>
              <a:rPr lang="en-DE" dirty="0">
                <a:latin typeface="+mn-lt"/>
              </a:rPr>
              <a:t>Post hoc tests</a:t>
            </a:r>
          </a:p>
        </p:txBody>
      </p:sp>
      <p:sp>
        <p:nvSpPr>
          <p:cNvPr id="3" name="Content Placeholder 2">
            <a:extLst>
              <a:ext uri="{FF2B5EF4-FFF2-40B4-BE49-F238E27FC236}">
                <a16:creationId xmlns:a16="http://schemas.microsoft.com/office/drawing/2014/main" id="{A0CB6E54-EB06-13D4-07C1-A7C4E52A40E7}"/>
              </a:ext>
            </a:extLst>
          </p:cNvPr>
          <p:cNvSpPr>
            <a:spLocks noGrp="1"/>
          </p:cNvSpPr>
          <p:nvPr>
            <p:ph idx="1"/>
          </p:nvPr>
        </p:nvSpPr>
        <p:spPr/>
        <p:txBody>
          <a:bodyPr>
            <a:normAutofit fontScale="92500" lnSpcReduction="20000"/>
          </a:bodyPr>
          <a:lstStyle/>
          <a:p>
            <a:pPr fontAlgn="ctr">
              <a:buFont typeface="Arial" panose="020B0604020202020204" pitchFamily="34" charset="0"/>
              <a:buChar char="•"/>
            </a:pPr>
            <a:r>
              <a:rPr lang="en-GB" dirty="0"/>
              <a:t>Tukey's HSD (Honestly Significant Difference):</a:t>
            </a:r>
            <a:r>
              <a:rPr lang="en-GB" b="1" dirty="0">
                <a:effectLst/>
              </a:rPr>
              <a:t> </a:t>
            </a:r>
          </a:p>
          <a:p>
            <a:pPr marL="0" indent="0" fontAlgn="ctr">
              <a:buNone/>
            </a:pPr>
            <a:r>
              <a:rPr lang="en-GB" sz="1700" b="1" dirty="0">
                <a:effectLst/>
              </a:rPr>
              <a:t>Purpose:</a:t>
            </a:r>
            <a:r>
              <a:rPr lang="en-GB" sz="1700" dirty="0">
                <a:effectLst/>
              </a:rPr>
              <a:t> Compares all possible pairs of means to determine which are significantly different. </a:t>
            </a:r>
          </a:p>
          <a:p>
            <a:pPr marL="0" indent="0" fontAlgn="ctr">
              <a:buNone/>
            </a:pPr>
            <a:r>
              <a:rPr lang="en-GB" sz="1700" b="1" dirty="0">
                <a:effectLst/>
              </a:rPr>
              <a:t>Strengths:</a:t>
            </a:r>
            <a:r>
              <a:rPr lang="en-GB" sz="1700" dirty="0">
                <a:effectLst/>
              </a:rPr>
              <a:t> Powerful for pairwise comparisons, especially when sample sizes are equal. </a:t>
            </a:r>
          </a:p>
          <a:p>
            <a:pPr marL="0" indent="0" fontAlgn="ctr">
              <a:buNone/>
            </a:pPr>
            <a:r>
              <a:rPr lang="en-GB" sz="1700" b="1" dirty="0">
                <a:effectLst/>
              </a:rPr>
              <a:t>Weaknesses:</a:t>
            </a:r>
            <a:r>
              <a:rPr lang="en-GB" sz="1700" dirty="0">
                <a:effectLst/>
              </a:rPr>
              <a:t> Can be less powerful when sample sizes are unequal. </a:t>
            </a:r>
          </a:p>
          <a:p>
            <a:pPr marL="0" indent="0" fontAlgn="ctr">
              <a:buNone/>
            </a:pPr>
            <a:endParaRPr lang="en-GB" sz="1700" dirty="0">
              <a:effectLst/>
            </a:endParaRPr>
          </a:p>
          <a:p>
            <a:r>
              <a:rPr lang="en-GB" dirty="0"/>
              <a:t>Bonferroni Correction:</a:t>
            </a:r>
          </a:p>
          <a:p>
            <a:pPr marL="0" indent="0">
              <a:buNone/>
            </a:pPr>
            <a:r>
              <a:rPr lang="en-GB" sz="1900" b="1" dirty="0">
                <a:effectLst/>
              </a:rPr>
              <a:t>Purpose:</a:t>
            </a:r>
            <a:r>
              <a:rPr lang="en-GB" sz="1900" dirty="0">
                <a:effectLst/>
              </a:rPr>
              <a:t> Adjusts the significance level (alpha) to account for multiple comparisons, reducing the chance of Type I errors.</a:t>
            </a:r>
          </a:p>
          <a:p>
            <a:pPr marL="0" indent="0">
              <a:buNone/>
            </a:pPr>
            <a:r>
              <a:rPr lang="en-GB" sz="1900" b="1" dirty="0">
                <a:effectLst/>
              </a:rPr>
              <a:t>Strengths:</a:t>
            </a:r>
            <a:r>
              <a:rPr lang="en-GB" sz="1900" dirty="0">
                <a:effectLst/>
              </a:rPr>
              <a:t> Simple to implement and controls well for Type I errors.</a:t>
            </a:r>
          </a:p>
          <a:p>
            <a:pPr marL="0" indent="0" fontAlgn="ctr">
              <a:buNone/>
            </a:pPr>
            <a:r>
              <a:rPr lang="en-GB" sz="1900" b="1" dirty="0">
                <a:effectLst/>
              </a:rPr>
              <a:t>Weaknesses:</a:t>
            </a:r>
            <a:r>
              <a:rPr lang="en-GB" sz="1900" dirty="0">
                <a:effectLst/>
              </a:rPr>
              <a:t> Can be overly conservative, potentially reducing statistical power and increasing the chance of Type II errors (false negatives). </a:t>
            </a:r>
          </a:p>
          <a:p>
            <a:pPr marL="0" indent="0">
              <a:buNone/>
            </a:pPr>
            <a:br>
              <a:rPr lang="en-GB" dirty="0"/>
            </a:br>
            <a:br>
              <a:rPr lang="en-GB" dirty="0"/>
            </a:br>
            <a:endParaRPr lang="en-DE" dirty="0"/>
          </a:p>
        </p:txBody>
      </p:sp>
    </p:spTree>
    <p:extLst>
      <p:ext uri="{BB962C8B-B14F-4D97-AF65-F5344CB8AC3E}">
        <p14:creationId xmlns:p14="http://schemas.microsoft.com/office/powerpoint/2010/main" val="3693351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EE1F3-FFBA-4BFC-D6AD-89AF9DE80530}"/>
              </a:ext>
            </a:extLst>
          </p:cNvPr>
          <p:cNvSpPr>
            <a:spLocks noGrp="1"/>
          </p:cNvSpPr>
          <p:nvPr>
            <p:ph type="title"/>
          </p:nvPr>
        </p:nvSpPr>
        <p:spPr>
          <a:xfrm>
            <a:off x="729342" y="-157389"/>
            <a:ext cx="10515600" cy="1325563"/>
          </a:xfrm>
        </p:spPr>
        <p:txBody>
          <a:bodyPr/>
          <a:lstStyle/>
          <a:p>
            <a:r>
              <a:rPr lang="en-GB" b="0" i="0" dirty="0">
                <a:solidFill>
                  <a:srgbClr val="212529"/>
                </a:solidFill>
                <a:effectLst/>
                <a:latin typeface="Roboto" panose="02000000000000000000" pitchFamily="2" charset="0"/>
              </a:rPr>
              <a:t>Two-way (or two factor) ANOVA</a:t>
            </a:r>
            <a:endParaRPr lang="en-DE" dirty="0"/>
          </a:p>
        </p:txBody>
      </p:sp>
      <p:sp>
        <p:nvSpPr>
          <p:cNvPr id="3" name="Content Placeholder 2">
            <a:extLst>
              <a:ext uri="{FF2B5EF4-FFF2-40B4-BE49-F238E27FC236}">
                <a16:creationId xmlns:a16="http://schemas.microsoft.com/office/drawing/2014/main" id="{18088565-B4CF-2D36-ACE7-34B43B5E6031}"/>
              </a:ext>
            </a:extLst>
          </p:cNvPr>
          <p:cNvSpPr>
            <a:spLocks noGrp="1"/>
          </p:cNvSpPr>
          <p:nvPr>
            <p:ph idx="1"/>
          </p:nvPr>
        </p:nvSpPr>
        <p:spPr>
          <a:xfrm>
            <a:off x="838200" y="948531"/>
            <a:ext cx="10515600" cy="4351338"/>
          </a:xfrm>
        </p:spPr>
        <p:txBody>
          <a:bodyPr/>
          <a:lstStyle/>
          <a:p>
            <a:r>
              <a:rPr lang="en-GB" b="0" i="0" dirty="0">
                <a:solidFill>
                  <a:srgbClr val="212529"/>
                </a:solidFill>
                <a:effectLst/>
              </a:rPr>
              <a:t>Two-way (or two factor) analysis of variance tests whether there is a difference between more than two independent samples split between two variables or factors.</a:t>
            </a:r>
            <a:endParaRPr lang="en-DE" dirty="0"/>
          </a:p>
        </p:txBody>
      </p:sp>
      <p:pic>
        <p:nvPicPr>
          <p:cNvPr id="11270" name="Picture 6" descr="Two-way analysis of variance without repeated measures">
            <a:extLst>
              <a:ext uri="{FF2B5EF4-FFF2-40B4-BE49-F238E27FC236}">
                <a16:creationId xmlns:a16="http://schemas.microsoft.com/office/drawing/2014/main" id="{2E47987D-C8F1-A912-42AB-6DF10A43B6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4400" y="2159000"/>
            <a:ext cx="7823200" cy="469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8064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34649-12EB-C9E9-3925-550228D1732D}"/>
              </a:ext>
            </a:extLst>
          </p:cNvPr>
          <p:cNvSpPr>
            <a:spLocks noGrp="1"/>
          </p:cNvSpPr>
          <p:nvPr>
            <p:ph type="title"/>
          </p:nvPr>
        </p:nvSpPr>
        <p:spPr/>
        <p:txBody>
          <a:bodyPr/>
          <a:lstStyle/>
          <a:p>
            <a:r>
              <a:rPr lang="en-DE" dirty="0"/>
              <a:t>Sources</a:t>
            </a:r>
          </a:p>
        </p:txBody>
      </p:sp>
      <p:sp>
        <p:nvSpPr>
          <p:cNvPr id="3" name="Content Placeholder 2">
            <a:extLst>
              <a:ext uri="{FF2B5EF4-FFF2-40B4-BE49-F238E27FC236}">
                <a16:creationId xmlns:a16="http://schemas.microsoft.com/office/drawing/2014/main" id="{BD8E3720-772C-54AE-2B4D-5F68113CAFEF}"/>
              </a:ext>
            </a:extLst>
          </p:cNvPr>
          <p:cNvSpPr>
            <a:spLocks noGrp="1"/>
          </p:cNvSpPr>
          <p:nvPr>
            <p:ph idx="1"/>
          </p:nvPr>
        </p:nvSpPr>
        <p:spPr/>
        <p:txBody>
          <a:bodyPr/>
          <a:lstStyle/>
          <a:p>
            <a:r>
              <a:rPr lang="en-DE" dirty="0">
                <a:hlinkClick r:id="rId2"/>
              </a:rPr>
              <a:t>https://datatab.net/tutorial/anova</a:t>
            </a:r>
            <a:endParaRPr lang="en-DE" dirty="0"/>
          </a:p>
          <a:p>
            <a:endParaRPr lang="en-DE" dirty="0"/>
          </a:p>
          <a:p>
            <a:r>
              <a:rPr lang="en-GB" dirty="0">
                <a:hlinkClick r:id="rId3"/>
              </a:rPr>
              <a:t>https://www.datacamp.com/tutorial/anova-test</a:t>
            </a:r>
            <a:endParaRPr lang="en-DE" dirty="0"/>
          </a:p>
          <a:p>
            <a:endParaRPr lang="en-DE" dirty="0"/>
          </a:p>
          <a:p>
            <a:r>
              <a:rPr lang="en-GB" dirty="0">
                <a:hlinkClick r:id="rId4"/>
              </a:rPr>
              <a:t>https://bio.libretexts.org/Bookshelves/Agriculture_and_Horticulture/Quantitative_Methods_for_Plant_Breeding_(Suza_and_Lamkey)/01%3A_Chapters/1.08%3A_The_Analysis_of_Variance_(ANOVA)</a:t>
            </a:r>
            <a:endParaRPr lang="en-GB" dirty="0"/>
          </a:p>
          <a:p>
            <a:endParaRPr lang="en-GB" dirty="0"/>
          </a:p>
          <a:p>
            <a:endParaRPr lang="en-DE" dirty="0"/>
          </a:p>
          <a:p>
            <a:endParaRPr lang="en-DE" dirty="0"/>
          </a:p>
        </p:txBody>
      </p:sp>
    </p:spTree>
    <p:extLst>
      <p:ext uri="{BB962C8B-B14F-4D97-AF65-F5344CB8AC3E}">
        <p14:creationId xmlns:p14="http://schemas.microsoft.com/office/powerpoint/2010/main" val="40091692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5488</TotalTime>
  <Words>1139</Words>
  <Application>Microsoft Macintosh PowerPoint</Application>
  <PresentationFormat>Widescreen</PresentationFormat>
  <Paragraphs>94</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Catamaran</vt:lpstr>
      <vt:lpstr>Roboto</vt:lpstr>
      <vt:lpstr>Studio-Feixen-Sans</vt:lpstr>
      <vt:lpstr>Office Theme</vt:lpstr>
      <vt:lpstr>ANOVA</vt:lpstr>
      <vt:lpstr>Need for ANOVA</vt:lpstr>
      <vt:lpstr>ANOVA</vt:lpstr>
      <vt:lpstr>Types of ANOVA</vt:lpstr>
      <vt:lpstr>Types of ANOVA</vt:lpstr>
      <vt:lpstr>What is a factor?</vt:lpstr>
      <vt:lpstr>PowerPoint Presentation</vt:lpstr>
      <vt:lpstr>One-way ANOVA </vt:lpstr>
      <vt:lpstr>Assumptions of the one-way analysis of variance </vt:lpstr>
      <vt:lpstr>Analysis of variance hypotheses</vt:lpstr>
      <vt:lpstr>Analysis of variance hypotheses </vt:lpstr>
      <vt:lpstr>PowerPoint Presentation</vt:lpstr>
      <vt:lpstr>PowerPoint Presentation</vt:lpstr>
      <vt:lpstr>Interpreting ANOVA</vt:lpstr>
      <vt:lpstr>PowerPoint Presentation</vt:lpstr>
      <vt:lpstr>Bonferroni post-hoc tests </vt:lpstr>
      <vt:lpstr>Post hoc tests</vt:lpstr>
      <vt:lpstr>Two-way (or two factor) ANOVA</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ANOVA</dc:title>
  <dc:creator>Chhaya Chaudhary</dc:creator>
  <cp:lastModifiedBy>Chhaya Chaudhary</cp:lastModifiedBy>
  <cp:revision>13</cp:revision>
  <dcterms:created xsi:type="dcterms:W3CDTF">2025-06-16T11:05:42Z</dcterms:created>
  <dcterms:modified xsi:type="dcterms:W3CDTF">2026-05-20T09:26:12Z</dcterms:modified>
</cp:coreProperties>
</file>